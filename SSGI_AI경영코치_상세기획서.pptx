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2026 서울시 빅데이터 활용 경진대회 · 창업부문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191F28"/>
                </a:solidFill>
                <a:latin typeface="AppleGothic"/>
              </a:rPr>
              <a:t>SSGI · AI 경영코치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0">
                <a:solidFill>
                  <a:srgbClr val="4E5968"/>
                </a:solidFill>
                <a:latin typeface="AppleGothic"/>
              </a:rPr>
              <a:t>사장님이 모르고 놓치는 돈,
매일 1줄로 알려드려요.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3182F6"/>
                </a:solidFill>
                <a:latin typeface="Helvetic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91F28"/>
                </a:solidFill>
                <a:latin typeface="AppleGothic"/>
              </a:rPr>
              <a:t>라이브 핵심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937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91F28"/>
                </a:solidFill>
                <a:latin typeface="Helvetica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6235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서울 공공데이터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937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91F28"/>
                </a:solidFill>
                <a:latin typeface="Helvetica"/>
              </a:rPr>
              <a:t>100×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56235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응답 속도 (실측)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4937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91F28"/>
                </a:solidFill>
                <a:latin typeface="Helvetic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56235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결제·환각 신고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팀 SSGI    ·    제출 2026-05-13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00  ·  목차 — 평가 6항목 매칭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14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91F28"/>
                </a:solidFill>
                <a:latin typeface="AppleGothic"/>
              </a:rPr>
              <a:t>한눈에 보는 19장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왜 지금 — 사장님이 마주한 정보 비대칭 3가지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536192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공공데이터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왜 지금이 윈도우 — 5년 전엔 못 만들었어요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929384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AI 혁신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92938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408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4086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사장님 한 명의 이야기 — 시뮬 페르소나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322576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340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3405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타깃 — 300명 매트릭스 + 신뢰구간 ±5.7%p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2715768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272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출품작 한 장 — 매일 1줄 카드 + 3-tier 신뢰 계층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3108960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AI 혁신 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3108960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204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활용 공공데이터 — 서울 8종 + 결합 가점 +2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3502152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공공데이터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136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136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차별점 1 — AI 4 레이어 (거짓말 안 하게)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3895344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AI 혁신 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3895344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068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0682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차별점 2 — 폐업 매트릭스 + 6업종 분기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4288536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000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0001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메인 화면 4종 — Mock UI + 라이브 데모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4681728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93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0932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UI/UX — 시니어 친화 + 3-클릭 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5074920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1554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15544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5분 시연 — 6 STEP 데모 흐름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1320" y="1536192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1947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19476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시스템 — Phased Pattern 24s→0.25s 실측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61320" y="1929384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064239" y="1929384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AI 혁신 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23408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234086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지금까지 만든 것 — 라이브 14 기능 + 31 라우트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61320" y="2322576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064239" y="2322576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27340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273405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시장 — TAM/SAM/SOM bottom-up 2,604억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2715768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127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31272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비즈니스 모델 — Free→Pro→Enterprise (가설)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61320" y="3108960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3520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60" y="35204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1년 로드맵 — 1,000 MAU 도전 + Pre-A 검토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61320" y="350215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39136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39136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경쟁 — 우리만 가진 6가지 + 약점 1가지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61320" y="3895344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43068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430682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ESG — tCO2eq 정량 + 폐업방지 23~49명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561320" y="4288536"/>
            <a:ext cx="38862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ESG 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47000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Helvetica"/>
              </a:rPr>
              <a:t>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470001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클로징 — 한 명이라도 살리면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61320" y="4681728"/>
            <a:ext cx="457199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508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8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1차 서류 100점 (앱 60 + 기획서 40) + 가점 2  /  2차 발표 100점 = 공공25·AI20·독창15·완성15·발전20·ESG5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01  ·  왜 지금 — 정보 비대칭이 폐업을 부른다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93831" y="292608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공공데이터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AppleGothic"/>
              </a:rPr>
              <a:t>5년이면 가게 1곳이 사라져요 — 서울 평균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5A1"/>
                </a:solidFill>
                <a:latin typeface="AppleGothic"/>
              </a:rPr>
              <a:t>사장님이 매일 마주하는 비대칭 — 데이터·시점·행동 세 군데가 다 비어 있어요.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91F28"/>
                </a:solidFill>
                <a:latin typeface="Helvetica"/>
              </a:rPr>
              <a:t>4.5년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서울 폐업 가게 평균 영업기간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VwsmTrdarIxQq · 2025 Q4 · 추출일 2026-04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91F28"/>
                </a:solidFill>
                <a:latin typeface="Helvetica"/>
              </a:rPr>
              <a:t>9.8년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서울 운영중 가게 평균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37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차이 5.3년 = 분기점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91F28"/>
                </a:solidFill>
                <a:latin typeface="Helvetica"/>
              </a:rPr>
              <a:t>53.7%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서울 상권 정체+축소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37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정체 35.X% + 축소 18.X%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182F6"/>
                </a:solidFill>
                <a:latin typeface="Helvetica"/>
              </a:rPr>
              <a:t>240만원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8803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사장님 1인당 미신청 보조금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37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평균 80만 × 4 부처 × 미신청 75% (자체 추정)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3657600" cy="18288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54864" cy="182880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519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1. 지원사업이 흩어져 있어요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서울시·자치구·중기부·소진공 4곳 분산.
매일 점검 불가능 → 평균 240만원/년 미신청.
사장님은 어디서 받는지조차 몰라요.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114800"/>
            <a:ext cx="3657600" cy="18288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114800"/>
            <a:ext cx="54864" cy="182880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2519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2. 위험을 미리 못 봐요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177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매출 감소·상권 변화는
폐업이 가까워졌을 때 알아채요.
결정 시점에 데이터가 없는 거예요.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114800"/>
            <a:ext cx="3657600" cy="18288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4114800"/>
            <a:ext cx="54864" cy="182880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2519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3. 진단만 있고 행동이 없어요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6177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리포트는 정보만 주고 끝나요.
'그래서 뭐 어쩌라고'에 답이 없어요.
매일 1줄 + cta_type이 답이에요.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240만원: 평균 보조금 80만 × 4 부처 × 미신청 75% (소상공인진흥공단·중기부 보조금 미수령률 추정)  /  4.5년·9.8년·53.7% 출처: 서울 열린데이터광장 VwsmTrdarIxQq · 2025 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02  ·  왜 지금이 윈도우인가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16107" y="292608"/>
            <a:ext cx="745236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75443" y="292608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AI 혁신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F28"/>
                </a:solidFill>
                <a:latin typeface="AppleGothic"/>
              </a:rPr>
              <a:t>5년 전엔 못 만들었어요. 지금이 윈도우.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5A1"/>
                </a:solidFill>
                <a:latin typeface="AppleGothic"/>
              </a:rPr>
              <a:t>정책·기술·예산·사용자 변화가 동시에 — 6~12개월 안 잡으면 다른 팀이 가져갑니다.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788920" cy="3200400"/>
          </a:xfrm>
          <a:prstGeom prst="rect">
            <a:avLst/>
          </a:prstGeom>
          <a:solidFill>
            <a:srgbClr val="F2F4F6"/>
          </a:solidFill>
          <a:ln w="190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788920" cy="54864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Gothic"/>
              </a:rPr>
              <a:t>GPT-4o 비용 -90%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2023년 GPT-4 → 2025년 GPT-4o
동일 추론 비용 90% 인하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63440"/>
            <a:ext cx="242316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73659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→ B2C 9,900원 SaaS 가능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88920" cy="3200400"/>
          </a:xfrm>
          <a:prstGeom prst="rect">
            <a:avLst/>
          </a:prstGeom>
          <a:solidFill>
            <a:srgbClr val="F2F4F6"/>
          </a:solidFill>
          <a:ln w="190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011680"/>
            <a:ext cx="2788920" cy="54864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Gothic"/>
              </a:rPr>
              <a:t>카카오 알림톡 정책 개방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8892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2025년 카카오 비즈메시지
중소사업자 채널 인증 완화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4663440"/>
            <a:ext cx="242316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473659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→ 사장님 도달률 1순위 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011680"/>
            <a:ext cx="2788920" cy="3200400"/>
          </a:xfrm>
          <a:prstGeom prst="rect">
            <a:avLst/>
          </a:prstGeom>
          <a:solidFill>
            <a:srgbClr val="F2F4F6"/>
          </a:solidFill>
          <a:ln w="19050">
            <a:solidFill>
              <a:srgbClr val="31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011680"/>
            <a:ext cx="2788920" cy="54864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Gothic"/>
              </a:rPr>
              <a:t>정부 디지털 전환 예산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8892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2026년 소상공인 디지털 전환
정부 예산 약 1,500억원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63440"/>
            <a:ext cx="242316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31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73659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3182F6"/>
                </a:solidFill>
                <a:latin typeface="AppleGothic"/>
              </a:rPr>
              <a:t>→ 보조금 매칭 수요 폭증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2011680"/>
            <a:ext cx="2788920" cy="3200400"/>
          </a:xfrm>
          <a:prstGeom prst="rect">
            <a:avLst/>
          </a:prstGeom>
          <a:solidFill>
            <a:srgbClr val="F2F4F6"/>
          </a:solidFill>
          <a:ln w="190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011680"/>
            <a:ext cx="2788920" cy="54864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Gothic"/>
              </a:rPr>
              <a:t>60대+ 스마트폰 90%+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788920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한국 65세+ 스마트폰 보급률
90% 돌파 (KISA 2024)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4663440"/>
            <a:ext cx="242316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473659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→ 시니어 사장님이 시장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→ 2026년에 안 잡으면 — 카카오·네이버 같은 큰 회사가 자영업 채널 가져갑니다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출처: OpenAI 가격표 (2024-12) / 카카오 비즈메시지 정책 (2025) / 중기부 소상공인 예산안 (2026) / KISA 인터넷이용실태 (2024)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03  ·  사장님 한 명의 이야기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91F28"/>
                </a:solidFill>
                <a:latin typeface="AppleGothic"/>
              </a:rPr>
              <a:t>관악 한식 사장님이 7년째 못 보고 있는 신호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6858000" cy="237744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73152" cy="2377440"/>
          </a:xfrm>
          <a:prstGeom prst="rect">
            <a:avLst/>
          </a:prstGeom>
          <a:solidFill>
            <a:srgbClr val="F0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191F28"/>
                </a:solidFill>
                <a:latin typeface="AppleGothic"/>
              </a:rPr>
              <a:t>관악구에서 7년째 한식집을 운영해요.
매출이 매달 조금씩 빠지는데,
어느 정도가 진짜 위험한 건지
알 방법이 없었어요.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— 관악구 한식집 사장님 (시뮬 페르소나, 58세)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FEF7E6"/>
          </a:solidFill>
          <a:ln w="6350">
            <a:solidFill>
              <a:srgbClr val="F09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09F12"/>
                </a:solidFill>
                <a:latin typeface="AppleGothic"/>
              </a:rPr>
              <a:t>AI 추정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91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91F28"/>
                </a:solidFill>
                <a:latin typeface="AppleGothic"/>
              </a:rPr>
              <a:t>AI 코치만 알 수 있는 손실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103120"/>
            <a:ext cx="4114800" cy="6400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103120"/>
            <a:ext cx="54864" cy="64008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2402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폐업 매트릭스 신호 3건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06040"/>
            <a:ext cx="3840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같은 동네 한식 8곳이 평균 53개월에 폐업.
사장님은 84개월째 — 위험 신호 누적.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788920"/>
            <a:ext cx="4114800" cy="6400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2788920"/>
            <a:ext cx="54864" cy="64008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9260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객단가 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291840"/>
            <a:ext cx="3840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객단가 1.2만 → 평균 1.5만보다 3천원 낮음.
점심 세트 1.4만으로 끌어올릴 수 있어요.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474720"/>
            <a:ext cx="4114800" cy="6400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3474720"/>
            <a:ext cx="54864" cy="64008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6118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오늘의 1줄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977640"/>
            <a:ext cx="384048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이번 주 단골 카톡 + 재방문 쿠폰 1종.
5분이면 끝나요.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6858000" cy="164592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본 사례는 8축 매트릭스로 구성한 시뮬 페르소나입니다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8축 매트릭스 (업종·자치구·매출·운영기간·연령·디지털·가게형태·고민)로 구성한 시뮬 페르소나입니다.
실 사용자 인터뷰는 베타 출시(2026 Q3) 후 진행 예정.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베타 데이터는 같은 분기 동일 업종 10명 이상 모일 때만 노출 (개인정보 보호)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06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04  ·  타깃 사장님 — 300명 매트릭스 · 4 클러스터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F28"/>
                </a:solidFill>
                <a:latin typeface="AppleGothic"/>
              </a:rPr>
              <a:t>사장님 4 종류, 메시지도 4 종류로 — 잘못 던지면 부메랑이 와요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192024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41148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Gothic"/>
              </a:rPr>
              <a:t>디지털 절벽 노포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한식·도소매 / 50~60대 / 카톡만 / 운영 7년+
매출 감소 중 · 보조금 미신청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카피 분기 → 정중 톤 + 1393 의무 안내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5486400" cy="192024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5486400" cy="41148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190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Gothic"/>
              </a:rPr>
              <a:t>1년차 카페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마포·성동 카페 / 30~40대 / SNS 활용
신규 · 마케팅 고민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63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카피 분기 → Quick Win 액션 우선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40"/>
            <a:ext cx="5486400" cy="192024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5486400" cy="41148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221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Gothic"/>
              </a:rPr>
              <a:t>월매출 1,500만 미만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다양 업종 / 폐업 위험 신호 누적
보조금 미신청 · 단골 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182F6"/>
                </a:solidFill>
                <a:latin typeface="AppleGothic"/>
              </a:rPr>
              <a:t>카피 분기 → 지원사업 푸시 + 단골 시스템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749040"/>
            <a:ext cx="5486400" cy="192024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749040"/>
            <a:ext cx="5486400" cy="41148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8221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Gothic"/>
              </a:rPr>
              <a:t>마케팅 실험족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30~40대 / SNS·데이터 분석
캠페인 ROI 검증 욕구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166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카피 분기 → AI 추정 데이터 +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손실 프레이밍 부메랑 방지 — 클러스터별 톤 분기로 시니어·폐업 위험군은 자살예방상담 1393 의무 노출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4 메가 클러스터 · 95% 신뢰구간 ±5.7%p · 실 사용자 인터뷰는 베타 출시 후 진행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07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05  ·  출품작 한 장 — 매일 1줄 카드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292608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AI 혁신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91F28"/>
                </a:solidFill>
                <a:latin typeface="AppleGothic"/>
              </a:rPr>
              <a:t>매일 아침 7시. 사장님 카톡 1줄.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B95A1"/>
                </a:solidFill>
                <a:latin typeface="AppleGothic"/>
              </a:rPr>
              <a:t>AI가 거짓말 안 하게 3겹으로 막았어요 — 사장님이 무엇을 보고 있는지 매번 알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57600" cy="3383280"/>
          </a:xfrm>
          <a:prstGeom prst="roundRect">
            <a:avLst>
              <a:gd name="adj" fmla="val 4000"/>
            </a:avLst>
          </a:prstGeom>
          <a:solidFill>
            <a:srgbClr val="B2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solidFill>
            <a:srgbClr val="A5B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3055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AI 경영코치 · 오전 7:00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29260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안녕하세요 사장님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46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182F6"/>
                </a:solidFill>
                <a:latin typeface="AppleGothic"/>
              </a:rPr>
              <a:t>오늘의 1줄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576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91F28"/>
                </a:solidFill>
                <a:latin typeface="AppleGothic"/>
              </a:rPr>
              <a:t>단골 카톡 + 재방문 쿠폰 1종을
오늘 발행하시는 게 좋아요.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20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근거: 매출 -5.4% (서울 Q3)
동네 한식 8곳이 같은 시기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07:00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011680"/>
            <a:ext cx="2514600" cy="33832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2860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Helvetic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5603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F28"/>
                </a:solidFill>
                <a:latin typeface="AppleGothic"/>
              </a:rPr>
              <a:t>결정론 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108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AppleGothic"/>
              </a:rPr>
              <a:t>GPT 호출 0회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657600"/>
            <a:ext cx="1965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위험도·폐업 매트릭스·5신호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89204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환각 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011680"/>
            <a:ext cx="2514600" cy="3383280"/>
          </a:xfrm>
          <a:prstGeom prst="roundRect">
            <a:avLst>
              <a:gd name="adj" fmla="val 6000"/>
            </a:avLst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2860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BE0FE"/>
                </a:solidFill>
                <a:latin typeface="Helvetica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5603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Gothic"/>
              </a:rPr>
              <a:t>매칭 + 검색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108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BE0FE"/>
                </a:solidFill>
                <a:latin typeface="AppleGothic"/>
              </a:rPr>
              <a:t>SQL + 사용자 학습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657600"/>
            <a:ext cx="1965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AppleGothic"/>
              </a:rPr>
              <a:t>보조금 매칭·음성 STT 질의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89204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ppleGothic"/>
              </a:rPr>
              <a:t>검증 가능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011680"/>
            <a:ext cx="2514600" cy="33832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2860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Helvetica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5603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F28"/>
                </a:solidFill>
                <a:latin typeface="AppleGothic"/>
              </a:rPr>
              <a:t>GPT-4o 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108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AppleGothic"/>
              </a:rPr>
              <a:t>자동 '추정' 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657600"/>
            <a:ext cx="1965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오늘의 액션·SWOT·마케팅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89204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'추정' 표시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91F28"/>
                </a:solidFill>
                <a:latin typeface="AppleGothic"/>
              </a:rPr>
              <a:t>사장님이 모르는 손실을, 데이터가 매일 짚어드려요.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위 카톡 화면은 라이브 시연 가능 · 보조금 매칭·음성 검색 모두 작동 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08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06  ·  활용 공공데이터 — 서울 8종 + 결합 가점 +2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93831" y="292608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공공데이터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F28"/>
                </a:solidFill>
                <a:latin typeface="AppleGothic"/>
              </a:rPr>
              <a:t>서울시가 풀어준 8 데이터 + 다른 분야 4건을 매일 합쳐요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88920" cy="9144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상권 분기별 매출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VwsmTrdarSelngQq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QoQ + 객단가 + 시간·요일·연령·성별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554480"/>
            <a:ext cx="2788920" cy="9144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상권 점포 개폐업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745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VwsmTrdarStorQq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214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분기 개업률·폐업률·점포 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88920" cy="9144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상권 변화 지표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745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VwsmTrdarIxQq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214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확장/다이나믹/정체/축소 4단계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554480"/>
            <a:ext cx="2788920" cy="9144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상권 유동인구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VwsmTrdarFlpopQq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214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시간·요일·성별·연령 (분기 일평균)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06040"/>
            <a:ext cx="2788920" cy="9144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974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행정동 생활인구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9260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SPOP_LOCAL_RESD_DONG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17296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일별 (T-7 walk)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606040"/>
            <a:ext cx="2788920" cy="9144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6974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서울 문화행사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9260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culturalEventInfo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17296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객단가 캠페인 타이밍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606040"/>
            <a:ext cx="2788920" cy="9144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6974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상권 인프라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260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VwsmTrdarFcltyQq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17296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관공서·은행·병원·대중교통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606040"/>
            <a:ext cx="2788920" cy="9144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6974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상권 직장인구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9260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VwsmTrdarWrcPopltnQq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17296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점심 매출 잠재력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023360"/>
            <a:ext cx="11247120" cy="192024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91F28"/>
                </a:solidFill>
                <a:latin typeface="AppleGothic"/>
              </a:rPr>
              <a:t>다른 분야 결합 — 가점 +2 (공고 기준)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공고 명시: '교통+문화, 인구+환경 등 서로 다른 분야 데이터를 1건 이상 결합'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029200"/>
            <a:ext cx="2148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102352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국세청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321808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사업자번호 진위확인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53212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행정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5029200"/>
            <a:ext cx="2148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5102352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카카오 로컬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5321808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상호명·좌표 검색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553212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민간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5029200"/>
            <a:ext cx="2148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66360" y="5102352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행안부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5321808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전국 자영업 통계 (730만)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553212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행정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760" y="5029200"/>
            <a:ext cx="2148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20" y="5102352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OpenAI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5321808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GPT-4o + Embeddings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553212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0" y="5029200"/>
            <a:ext cx="2148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55480" y="5102352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기상청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5480" y="5321808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체감온도 → 메뉴 시즌 캘린더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553212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환경 (예정)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서울 열린데이터광장 8종 / 정확한 데이터셋 명: 위 코드 그대로 / 추출일 2026-04 기준 / 분기 데이터는 T-1 분기 walk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09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07  ·  차별점 1 — AI 혁신: 4 레이어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292608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AI 혁신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AppleGothic"/>
              </a:rPr>
              <a:t>AI가 거짓말 안 하게, 4겹으로 막았어요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47120" cy="96012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F28"/>
                </a:solidFill>
                <a:latin typeface="Helvetica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STT (Web Speech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음성 → 텍스트 → ChromaDB 검색 → GPT-4o 답변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사장님이 키보드 안 써도 질문 가능. 시니어 친화.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828800"/>
            <a:ext cx="3017520" cy="411480"/>
          </a:xfrm>
          <a:prstGeom prst="rect">
            <a:avLst/>
          </a:prstGeom>
          <a:solidFill>
            <a:srgbClr val="F2F4F6"/>
          </a:solidFill>
          <a:ln w="63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필수 충족: AI 기술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11247120" cy="96012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F28"/>
                </a:solidFill>
                <a:latin typeface="Helvetica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43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GPT-4o 생성형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017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오늘의 1줄 액션 / 마케팅 사설 / SWOT / 사업계획서 초안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91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노란 '추정' 표시 일관 — 사용자가 출처를 매번 알 수 있어요.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2926080"/>
            <a:ext cx="3017520" cy="411480"/>
          </a:xfrm>
          <a:prstGeom prst="rect">
            <a:avLst/>
          </a:prstGeom>
          <a:solidFill>
            <a:srgbClr val="F2F4F6"/>
          </a:solidFill>
          <a:ln w="63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9992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필수 충족: 생성형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11247120" cy="96012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F28"/>
                </a:solidFill>
                <a:latin typeface="Helvetica"/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840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RAG (text-embedding-3-small + ChromaDB)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14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보조금 22건 + 페르소나 가이드 인덱싱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389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음성 질의 ChromaDB active / 보조금 매칭은 SQL+ICP가 active.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023360"/>
            <a:ext cx="3017520" cy="411480"/>
          </a:xfrm>
          <a:prstGeom prst="rect">
            <a:avLst/>
          </a:prstGeom>
          <a:solidFill>
            <a:srgbClr val="F2F4F6"/>
          </a:solidFill>
          <a:ln w="63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096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라이브 운영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11247120" cy="96012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377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F28"/>
                </a:solidFill>
                <a:latin typeface="Helvetica"/>
              </a:rPr>
              <a:t>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사용자 학습 매칭 엔진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사장님이 본·신청한 보조금을 학습 → 다음 추천 순서 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486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처음엔 일반 추천 → 쓸수록 사장님 취향에 맞춰 순서 바뀜.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5120640"/>
            <a:ext cx="3017520" cy="411480"/>
          </a:xfrm>
          <a:prstGeom prst="rect">
            <a:avLst/>
          </a:prstGeom>
          <a:solidFill>
            <a:srgbClr val="F2F4F6"/>
          </a:solidFill>
          <a:ln w="63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51937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독창 구현 (icp_learner.py)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필수 조건 충족: 서울 열린데이터광장 8종 + AI(STT + 생성형) — 공고 창업부문 제품·서비스 트랙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10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08  ·  차별점 2 — 독창성: 폐업 매트릭스 + 6업종 분기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AppleGothic"/>
              </a:rPr>
              <a:t>다른 도구는 '추천합니다', 우리는 '놓치고 있어요'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95A1"/>
                </a:solidFill>
                <a:latin typeface="AppleGothic"/>
              </a:rPr>
              <a:t>기존 자영업 도구의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AppleGothic"/>
              </a:rPr>
              <a:t>✗  '추천합니다' 톤 — 책임 있는 행동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67127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AppleGothic"/>
              </a:rPr>
              <a:t>✗  사장님이 이미 아는 정보 (매출·재고)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973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AppleGothic"/>
              </a:rPr>
              <a:t>✗  사후적 진단 (폐업 후 보고서)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52343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AppleGothic"/>
              </a:rPr>
              <a:t>✗  일반론 카피 — 50대 시니어 거부감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4495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1"/>
                </a:solidFill>
                <a:latin typeface="AppleGothic"/>
              </a:rPr>
              <a:t>✗  치킨집·카페에 똑같은 조언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SSGI · 우리만의 차별점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✓  폐업 매트릭스 — 모르는 위험을 사전 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67127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✓  행동 1줄 + cta_type — 즉시 실행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5973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✓  6업종 분기 — 치킨↔카페↔미용 다른 진단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52343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✓  10명 이상 모일 때만 노출 (개인정보 보호)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4495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✓  모든 카드 출처 라벨 + 노란 '추정' 표시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247120" cy="2011680"/>
          </a:xfrm>
          <a:prstGeom prst="rect">
            <a:avLst/>
          </a:prstGeom>
          <a:solidFill>
            <a:srgbClr val="F2F4F6"/>
          </a:solidFill>
          <a:ln w="9525">
            <a:solidFill>
              <a:srgbClr val="F0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4452"/>
                </a:solidFill>
                <a:latin typeface="AppleGothic"/>
              </a:rPr>
              <a:t>폐업 매트릭스 — 5신호 결정론 룰 (GPT 호출 0회)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26280"/>
            <a:ext cx="2194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매출 -5% QoQ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VwsmTrdarSelngQq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4452"/>
                </a:solidFill>
                <a:latin typeface="AppleGothic"/>
              </a:rPr>
              <a:t>-10점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4526280"/>
            <a:ext cx="2194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6177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폐업률 5%+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892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VwsmTrdarStorQq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212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4452"/>
                </a:solidFill>
                <a:latin typeface="AppleGothic"/>
              </a:rPr>
              <a:t>-10점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526280"/>
            <a:ext cx="2194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46177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정체·축소 상권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892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VwsmTrdarIxQq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5212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4452"/>
                </a:solidFill>
                <a:latin typeface="AppleGothic"/>
              </a:rPr>
              <a:t>-20점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4526280"/>
            <a:ext cx="2194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46177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유동인구 -3%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4892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SPOP_LOCAL_RESD_DONG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5212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4452"/>
                </a:solidFill>
                <a:latin typeface="AppleGothic"/>
              </a:rPr>
              <a:t>-20점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4526280"/>
            <a:ext cx="2194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46177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폐업 평균 70% 도달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8920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Helvetica"/>
              </a:rPr>
              <a:t>operating_months / closed_avg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5212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4452"/>
                </a:solidFill>
                <a:latin typeface="AppleGothic"/>
              </a:rPr>
              <a:t>-20점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→ 100점 차감식 + 4단계 등급 (안전·관찰·경고·위험) + 1-액션 매핑 · 6업종별 다른 처방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원칙 6개 시스템 강제 (변경 금지) — 손실 프레이밍·개인정보 보호·하루 1액션 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11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09  ·  완성도 1 — 메인/세부 화면 4종 구동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F28"/>
                </a:solidFill>
                <a:latin typeface="AppleGothic"/>
              </a:rPr>
              <a:t>사장님이 매일 보는 화면 4개 — 라이브 데모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42316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2423160" cy="36576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ppleGothic"/>
              </a:rPr>
              <a:t>안녕하세요, 사장님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194560"/>
            <a:ext cx="2148840" cy="7772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95A1"/>
                </a:solidFill>
                <a:latin typeface="AppleGothic"/>
              </a:rPr>
              <a:t>경영 위험도 · 관찰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F28"/>
                </a:solidFill>
                <a:latin typeface="Helvetica"/>
              </a:rPr>
              <a:t>67 /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63240"/>
            <a:ext cx="2148840" cy="77724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0896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95A1"/>
                </a:solidFill>
                <a:latin typeface="AppleGothic"/>
              </a:rPr>
              <a:t>신청 가능 지원금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182F6"/>
                </a:solidFill>
                <a:latin typeface="Helvetica"/>
              </a:rPr>
              <a:t>247만원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B95A1"/>
                </a:solidFill>
                <a:latin typeface="AppleGothic"/>
              </a:rPr>
              <a:t>오늘의 1줄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단골 카톡 + 재방문 쿠폰 1종 즉시 발행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8B95A1"/>
                </a:solidFill>
                <a:latin typeface="AppleGothic"/>
              </a:rPr>
              <a:t>출처: 서울 VwsmTrdarSelngQq · 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대시보드 (홈)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55448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0712" y="1691640"/>
            <a:ext cx="242316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10712" y="1691640"/>
            <a:ext cx="2423160" cy="36576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17830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ppleGothic"/>
              </a:rPr>
              <a:t>인사이트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872" y="2194560"/>
            <a:ext cx="53721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2240280"/>
            <a:ext cx="5372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95A1"/>
                </a:solidFill>
                <a:latin typeface="AppleGothic"/>
              </a:rPr>
              <a:t>경쟁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85082" y="2194560"/>
            <a:ext cx="537210" cy="27432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5082" y="2240280"/>
            <a:ext cx="5372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AppleGothic"/>
              </a:rPr>
              <a:t>집중 분석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22292" y="2194560"/>
            <a:ext cx="53721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2292" y="2240280"/>
            <a:ext cx="5372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95A1"/>
                </a:solidFill>
                <a:latin typeface="AppleGothic"/>
              </a:rPr>
              <a:t>마케팅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59502" y="2194560"/>
            <a:ext cx="53721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9502" y="2240280"/>
            <a:ext cx="5372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95A1"/>
                </a:solidFill>
                <a:latin typeface="AppleGothic"/>
              </a:rPr>
              <a:t>메뉴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26060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관악 한식 SWOT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19472" y="260604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FEF7E6"/>
          </a:solidFill>
          <a:ln w="6350">
            <a:solidFill>
              <a:srgbClr val="F09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09F12"/>
                </a:solidFill>
                <a:latin typeface="AppleGothic"/>
              </a:rPr>
              <a:t>AI 추정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47872" y="2971800"/>
            <a:ext cx="1028700" cy="548640"/>
          </a:xfrm>
          <a:prstGeom prst="rect">
            <a:avLst/>
          </a:prstGeom>
          <a:solidFill>
            <a:srgbClr val="F2F4F6"/>
          </a:solidFill>
          <a:ln w="6350">
            <a:solidFill>
              <a:srgbClr val="00C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301752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C73C"/>
                </a:solidFill>
                <a:latin typeface="Helvetica"/>
              </a:rPr>
              <a:t>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9312" y="3246120"/>
            <a:ext cx="8458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4E5968"/>
                </a:solidFill>
                <a:latin typeface="AppleGothic"/>
              </a:rPr>
              <a:t>직주 비율 1.8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8012" y="2971800"/>
            <a:ext cx="1028700" cy="548640"/>
          </a:xfrm>
          <a:prstGeom prst="rect">
            <a:avLst/>
          </a:prstGeom>
          <a:solidFill>
            <a:srgbClr val="F2F4F6"/>
          </a:solidFill>
          <a:ln w="6350">
            <a:solidFill>
              <a:srgbClr val="F04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9452" y="301752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4452"/>
                </a:solidFill>
                <a:latin typeface="Helvetica"/>
              </a:rPr>
              <a:t>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9452" y="3246120"/>
            <a:ext cx="8458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4E5968"/>
                </a:solidFill>
                <a:latin typeface="AppleGothic"/>
              </a:rPr>
              <a:t>객단가 -3천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7872" y="3611880"/>
            <a:ext cx="1028700" cy="548640"/>
          </a:xfrm>
          <a:prstGeom prst="rect">
            <a:avLst/>
          </a:prstGeom>
          <a:solidFill>
            <a:srgbClr val="F2F4F6"/>
          </a:solidFill>
          <a:ln w="6350">
            <a:solidFill>
              <a:srgbClr val="00C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9312" y="36576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C73C"/>
                </a:solidFill>
                <a:latin typeface="Helvetica"/>
              </a:rPr>
              <a:t>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9312" y="3886200"/>
            <a:ext cx="8458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4E5968"/>
                </a:solidFill>
                <a:latin typeface="AppleGothic"/>
              </a:rPr>
              <a:t>보조금 5건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8012" y="3611880"/>
            <a:ext cx="1028700" cy="548640"/>
          </a:xfrm>
          <a:prstGeom prst="rect">
            <a:avLst/>
          </a:prstGeom>
          <a:solidFill>
            <a:srgbClr val="F2F4F6"/>
          </a:solidFill>
          <a:ln w="6350">
            <a:solidFill>
              <a:srgbClr val="F09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9452" y="365760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9F12"/>
                </a:solidFill>
                <a:latin typeface="Helvetica"/>
              </a:rPr>
              <a:t>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9452" y="3886200"/>
            <a:ext cx="8458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4E5968"/>
                </a:solidFill>
                <a:latin typeface="AppleGothic"/>
              </a:rPr>
              <a:t>경쟁 +2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872" y="4892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8B95A1"/>
                </a:solidFill>
                <a:latin typeface="Helvetica"/>
              </a:rPr>
              <a:t>GPT-4o + RAG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9272" y="57607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인사이트 (4 탭)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9904" y="155448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81344" y="1691640"/>
            <a:ext cx="242316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81344" y="1691640"/>
            <a:ext cx="2423160" cy="36576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18504" y="17830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ppleGothic"/>
              </a:rPr>
              <a:t>쿠폰 발행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84264" y="2331720"/>
            <a:ext cx="1280160" cy="128016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45960" y="2423160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6472" y="2423160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10832" y="2558288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51344" y="2558288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21600" y="2558288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910832" y="3098800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51344" y="3098800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21600" y="3098800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75704" y="3233928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45960" y="3233928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86472" y="3233928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10832" y="3369056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51344" y="3369056"/>
            <a:ext cx="99568" cy="99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18504" y="38862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재방문 쿠폰 · 5,000원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18504" y="41605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유효 7일 / 1인 1회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55664" y="4526280"/>
            <a:ext cx="1874520" cy="365760"/>
          </a:xfrm>
          <a:prstGeom prst="roundRect">
            <a:avLst>
              <a:gd name="adj" fmla="val 40000"/>
            </a:avLst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55664" y="4599432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카카오톡으로 공유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18504" y="50749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0C73C"/>
                </a:solidFill>
                <a:latin typeface="AppleGothic"/>
              </a:rPr>
              <a:t>스캔 14건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89904" y="57607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쿠폰 + 카카오 공유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60536" y="155448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951976" y="1691640"/>
            <a:ext cx="242316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51976" y="1691640"/>
            <a:ext cx="2423160" cy="36576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89136" y="17830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ppleGothic"/>
              </a:rPr>
              <a:t>PDF 진단서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26296" y="2286000"/>
            <a:ext cx="1874520" cy="237744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63456" y="246888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AppleGothic"/>
              </a:rPr>
              <a:t>우리 가게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63456" y="27432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Gothic"/>
              </a:rPr>
              <a:t>진단서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3456" y="320040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3182F6"/>
                </a:solidFill>
                <a:latin typeface="AppleGothic"/>
              </a:rPr>
              <a:t>종합 점수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63456" y="342900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182F6"/>
                </a:solidFill>
                <a:latin typeface="Helvetica"/>
              </a:rPr>
              <a:t>67 / 100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63456" y="397764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FFFFFF"/>
                </a:solidFill>
                <a:latin typeface="AppleGothic"/>
              </a:rPr>
              <a:t>관찰 등급
6 카테고리 가중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226296" y="4892040"/>
            <a:ext cx="1874520" cy="365760"/>
          </a:xfrm>
          <a:prstGeom prst="roundRect">
            <a:avLst>
              <a:gd name="adj" fmla="val 40000"/>
            </a:avLst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26296" y="4965192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ppleGothic"/>
              </a:rPr>
              <a:t>PDF 다운로드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0536" y="57607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PDF 진단서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6135624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AppleGothic"/>
              </a:rPr>
              <a:t>라이브 데모 가능 — 발표 중 시연 가능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위 4 화면은 라이브 앱 미니어처 · 실 사용자 데이터는 베타 출시 후 측정 예정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12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10  ·  완성도 2 — UI/UX: 시니어 친화 + 3-클릭 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AppleGothic"/>
              </a:rPr>
              <a:t>60대 사장님 손에서도 3 클릭이면 끝나요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13258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AppleGothic"/>
              </a:rPr>
              <a:t>3-클릭 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어떤 핵심 기능도 3번 안에 도달.
온보딩 → 홈 → 액션 = 3 클릭.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C73C"/>
                </a:solidFill>
                <a:latin typeface="AppleGothic"/>
              </a:rPr>
              <a:t>→ 사용 편리성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554480"/>
            <a:ext cx="3657600" cy="13258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642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AppleGothic"/>
              </a:rPr>
              <a:t>최소 14px 본문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시니어 시인성 기본 14px 이상.
보조 텍스트도 12px 하한.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C73C"/>
                </a:solidFill>
                <a:latin typeface="AppleGothic"/>
              </a:rPr>
              <a:t>→ 접근성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657600" cy="13258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642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AppleGothic"/>
              </a:rPr>
              <a:t>정중 톤 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시니어·폐업 위험 사장님은
명령조 ❌ → '확인해 보세요' 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C73C"/>
                </a:solidFill>
                <a:latin typeface="AppleGothic"/>
              </a:rPr>
              <a:t>→ 안전성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3657600" cy="13258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729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AppleGothic"/>
              </a:rPr>
              <a:t>1393 의무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분기별 자살예방상담 안내.
폐업 위험 카드 옆 상시.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C73C"/>
                </a:solidFill>
                <a:latin typeface="AppleGothic"/>
              </a:rPr>
              <a:t>→ 윤리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063240"/>
            <a:ext cx="3657600" cy="13258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1729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AppleGothic"/>
              </a:rPr>
              <a:t>출처 라벨 의무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4747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모든 데이터 카드 옆에
'서울 ○○ · Q4' 출처 표기.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069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C73C"/>
                </a:solidFill>
                <a:latin typeface="AppleGothic"/>
              </a:rPr>
              <a:t>→ 정직성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063240"/>
            <a:ext cx="3657600" cy="132588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1729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AppleGothic"/>
              </a:rPr>
              <a:t>노란 '추정' 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4747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GPT 답변에 노란 '추정' 표시 자동.
사용자가 출처 매번 인지.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069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00C73C"/>
                </a:solidFill>
                <a:latin typeface="AppleGothic"/>
              </a:rPr>
              <a:t>→ 투명성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1247120" cy="13716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663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Gothic"/>
              </a:rPr>
              <a:t>PWA + 카카오 = 앱 설치 부담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749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AppleGothic"/>
              </a:rPr>
              <a:t>• 카카오 OAuth 1탭 가입 (state CSRF 보호)  • PWA manifest + service worker 오프라인 fallback
• 하단 네비게이션 동적 active  • 카카오톡 알림톡 + FCM (카카오 알림톡 → FCM → 조용히 실패 (3중 안전망))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PWA 90+ 점수 목표 · 카카오 OAuth · 음성 입력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13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11  ·  5분 시연 흐름 — 6 STEP 데모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AppleGothic"/>
              </a:rPr>
              <a:t>5분이면 가입부터 진단까지 다 보여드려요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828800" cy="22860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랜딩 → 카카오 1탭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OAuth state CSRF 보호
30초 안에 가입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645920"/>
            <a:ext cx="1828800" cy="22860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645920"/>
            <a:ext cx="182880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7556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40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온보딩 3단계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9260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사업자번호 → 가게 → 개점일
진척도 1/3 → 2/3 → 3/3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645920"/>
            <a:ext cx="1828800" cy="22860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645920"/>
            <a:ext cx="182880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7556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>STEP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240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대시보드 첫 진입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9260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위험도 67/100 (관찰)
출처 라벨 + 손실 카운터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645920"/>
            <a:ext cx="1828800" cy="22860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1645920"/>
            <a:ext cx="182880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7556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>STEP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40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폐업 매트릭스 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260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결정론 5신호 + 1-액션
'AI 코치만 알 수 있는 손실'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1645920"/>
            <a:ext cx="1828800" cy="22860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80" y="1645920"/>
            <a:ext cx="182880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17556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>STEP 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240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지원사업 매칭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9260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지역·업종 자동 매칭 + 사용자 학습
마감 임박 표시 + 매칭 사유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1645920"/>
            <a:ext cx="1828800" cy="228600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1645920"/>
            <a:ext cx="182880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17556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>STEP 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2402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91F28"/>
                </a:solidFill>
                <a:latin typeface="AppleGothic"/>
              </a:rPr>
              <a:t>PDF 진단서 다운로드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92608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표지 + 점수·진단·액션·집중분석
끊김 없이 한 흐름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21992" y="2651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95A1"/>
                </a:solidFill>
                <a:latin typeface="AppleGothic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6512" y="2651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95A1"/>
                </a:solidFill>
                <a:latin typeface="AppleGothic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71032" y="2651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95A1"/>
                </a:solidFill>
                <a:latin typeface="AppleGothic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2651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95A1"/>
                </a:solidFill>
                <a:latin typeface="AppleGothic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72" y="2651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95A1"/>
                </a:solidFill>
                <a:latin typeface="AppleGothic"/>
              </a:rPr>
              <a:t>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297680"/>
            <a:ext cx="11247120" cy="16459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297680"/>
            <a:ext cx="54864" cy="164592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91F28"/>
                </a:solidFill>
                <a:latin typeface="AppleGothic"/>
              </a:rPr>
              <a:t>우리 가게 진단서 PDF — 2026-05 새 레이아웃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4632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표지 1장 → 점수 분포 → 주요 진단 → 액션 플랜 (Quick Win / Mid / Strategic) → 집중 분석이 한 흐름.
사장님이 '다음 페이지 어디 있지' 끊지 않고 한 번에 읽을 수 있어요.
차트 옆에는 '※ 출처: 서울 전체 치킨전문점 평균 (사장님 가게 매출 아님)' 8pt 라벨 의무.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발표 중 라이브 시연 가능 · PDF 평균 4페이지 · 한글 폰트 임베드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14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12  ·  시스템 + 데이터 흐름 — Phased Pattern 24s→0.25s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93831" y="292608"/>
            <a:ext cx="667512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AI 혁신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08615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AppleGothic"/>
              </a:rPr>
              <a:t>24초 멈추던 게 0.25초로 — 100배 빨라졌어요 (실측)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95A1"/>
                </a:solidFill>
                <a:latin typeface="AppleGothic"/>
              </a:rPr>
              <a:t>기술 스택 (버전 잠금)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7451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Helvetica"/>
              </a:rPr>
              <a:t>Next.js 14 · TypeScript · Tailwind · Zustand · PWA · Web Speech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6712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Helvetica"/>
              </a:rPr>
              <a:t>FastAPI · Python 3.11+ · SQLAlchemy 2 (async) · Pydantic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5973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59735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Helvetica"/>
              </a:rPr>
              <a:t>PostgreSQL 15 · ChromaDB 0.5 (PersistentClient)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5234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52343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Helvetica"/>
              </a:rPr>
              <a:t>OpenAI GPT-4o · text-embedding-3-small · APScheduler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4495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04495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Helvetica"/>
              </a:rPr>
              <a:t>Kakao OAuth · JWT(HS256) · token_version 회전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3755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375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Helvetica"/>
              </a:rPr>
              <a:t>Vercel(FE) · Railway(BE) · Docker Compose(Local)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554480"/>
            <a:ext cx="5303520" cy="4297680"/>
          </a:xfrm>
          <a:prstGeom prst="rect">
            <a:avLst/>
          </a:prstGeom>
          <a:solidFill>
            <a:srgbClr val="F2F4F6"/>
          </a:solidFill>
          <a:ln w="25400">
            <a:solidFill>
              <a:srgbClr val="31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182F6"/>
                </a:solidFill>
                <a:latin typeface="AppleGothic"/>
              </a:rPr>
              <a:t>Phased Pattern — DB 세션 조기 해제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4452"/>
                </a:solidFill>
                <a:latin typeface="AppleGothic"/>
              </a:rPr>
              <a:t>기존 (단일 세션 점유)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77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E5968"/>
                </a:solidFill>
                <a:latin typeface="Helvetica"/>
              </a:rPr>
              <a:t>@get('/dashboard'), db = Depends(get_db):
  results = await asyncio.gather(...)  # 14 코루틴
  → 동시 10명 시 풀 고갈, 24초 hang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182F6"/>
                </a:solidFill>
                <a:latin typeface="AppleGothic"/>
              </a:rPr>
              <a:t>Phased Pattern (P0 fix 완료)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576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E5968"/>
                </a:solidFill>
                <a:latin typeface="Helvetica"/>
              </a:rPr>
              <a:t>Phase A: async with session: DB 쿼리만
Phase B: 외부 API gather (DB 점유 0)
Phase A2: async with session: 캐시 저장
→ 카카오 콜백 24초 → 0.25초 (실측)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206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3182F6"/>
                </a:solidFill>
                <a:latin typeface="AppleGothic"/>
              </a:rPr>
              <a:t>✓ alembic 7 마이그레이션
✓ 동시 10명 응답 ≤ 5초 / DB 풀 점유율 ≤ 30%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31 라우트 · 8 데이터 모델 · 자동화 작업 3개 · 개인정보 보호·접근 제한·로그인 갱신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15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13  ·  지금까지 만든 것 — 라이브 시연 가능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16107" y="292608"/>
            <a:ext cx="745236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0891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완성도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91F28"/>
                </a:solidFill>
                <a:latin typeface="AppleGothic"/>
              </a:rPr>
              <a:t>결제 0건. 대신, 라이브 14 기능.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>
                <a:solidFill>
                  <a:srgbClr val="191F28"/>
                </a:solidFill>
                <a:latin typeface="Helvetic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F28"/>
                </a:solidFill>
                <a:latin typeface="AppleGothic"/>
              </a:rPr>
              <a:t>라이브 핵심 기능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194560"/>
            <a:ext cx="5943600" cy="128016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91F28"/>
                </a:solidFill>
                <a:latin typeface="AppleGothic"/>
              </a:rPr>
              <a:t>사장님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432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182F6"/>
                </a:solidFill>
                <a:latin typeface="Helvetic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5146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대시보드 · 인사이트 · 쿠폰
PDF · STT 음성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611880"/>
            <a:ext cx="5943600" cy="128016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91F28"/>
                </a:solidFill>
                <a:latin typeface="AppleGothic"/>
              </a:rPr>
              <a:t>AI · 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1605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182F6"/>
                </a:solidFill>
                <a:latin typeface="Helvetic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9319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폐업 매트릭스 · 보조금 매칭
10명 이상 노출 · 노란 '추정'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5029200"/>
            <a:ext cx="5943600" cy="128016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5257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91F28"/>
                </a:solidFill>
                <a:latin typeface="AppleGothic"/>
              </a:rPr>
              <a:t>인프라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5778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182F6"/>
                </a:solidFill>
                <a:latin typeface="Helvetic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34924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카카오 OAuth · FCM 폴백
7AM cron · Phased Pattern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31 라우트 · 8 모델 · 7 마이그레이션 · 라이브 데모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16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14  ·  시장 — TAM/SAM/SOM bottom-up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16107" y="292608"/>
            <a:ext cx="745236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F28"/>
                </a:solidFill>
                <a:latin typeface="AppleGothic"/>
              </a:rPr>
              <a:t>사장님 730만 명 중 30%만 9,900원 쓰면 — 그게 시장이에요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1188720"/>
          </a:xfrm>
          <a:prstGeom prst="rect">
            <a:avLst/>
          </a:prstGeom>
          <a:solidFill>
            <a:srgbClr val="F2F4F6"/>
          </a:solidFill>
          <a:ln w="1905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Helvetica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105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전국 소상공인 (행안부 통계)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031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약 730만 사장님 × 30% 디지털 수용 × 9,900원 × 12개월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191F28"/>
                </a:solidFill>
                <a:latin typeface="Helvetica"/>
              </a:rPr>
              <a:t>2,604억원/년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11247120" cy="1188720"/>
          </a:xfrm>
          <a:prstGeom prst="rect">
            <a:avLst/>
          </a:prstGeom>
          <a:solidFill>
            <a:srgbClr val="F2F4F6"/>
          </a:solidFill>
          <a:ln w="19050">
            <a:solidFill>
              <a:srgbClr val="31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182F6"/>
                </a:solidFill>
                <a:latin typeface="Helvetica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0906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서울 사업자등록 소상공인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383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약 65만 사장님 × 30% × 9,900원 × 12개월 (1차 진입 시장)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3182F6"/>
                </a:solidFill>
                <a:latin typeface="Helvetica"/>
              </a:rPr>
              <a:t>232억원/년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47120" cy="1188720"/>
          </a:xfrm>
          <a:prstGeom prst="rect">
            <a:avLst/>
          </a:prstGeom>
          <a:solidFill>
            <a:srgbClr val="F2F4F6"/>
          </a:solidFill>
          <a:ln w="19050">
            <a:solidFill>
              <a:srgbClr val="00C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C73C"/>
                </a:solidFill>
                <a:latin typeface="Helvetica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3708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3년 목표 (5,000 MAU × 10% Pro 전환)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6634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500 Pro × 9,900원 × 12개월 (실측 갱신 예정)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4805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00C73C"/>
                </a:solidFill>
                <a:latin typeface="Helvetica"/>
              </a:rPr>
              <a:t>5,940만원/년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solidFill>
            <a:srgbClr val="FEF7E6"/>
          </a:solidFill>
          <a:ln w="9525">
            <a:solidFill>
              <a:srgbClr val="F09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9F12"/>
                </a:solidFill>
                <a:latin typeface="AppleGothic"/>
              </a:rPr>
              <a:t>TAM·SAM은 가정값 — 결제 출시(2026 Q3) 후 코호트 데이터로 갱신 / SOM은 3년 목표 (Year 2 검증)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전국 소상공인 통계: 행정안전부 / 서울 사업자등록: 국세청 / 9,900원은 N=8 베타 인터뷰 결제 의향 가격대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17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15  ·  비즈니스 모델 — Free → Pro → Enterprise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16107" y="292608"/>
            <a:ext cx="745236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AppleGothic"/>
              </a:rPr>
              <a:t>기본 무료 — 가치 느끼면 9,900원, 그게 다예요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749039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91F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749039" cy="91440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Gothic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Helvetica"/>
              </a:rPr>
              <a:t>0원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월 3회 쿠폰 발행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주 1회 마케팅 인사이트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기본 폐업 매트릭스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10명 이상 사회적 증거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PDF 진단서 월 1회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399" y="1645920"/>
            <a:ext cx="3749039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1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399" y="1645920"/>
            <a:ext cx="3749039" cy="91440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598" y="17830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598" y="1837944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3182F6"/>
                </a:solidFill>
                <a:latin typeface="AppleGothic"/>
              </a:rPr>
              <a:t>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19" y="173736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Gothic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214884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Helvetica"/>
              </a:rPr>
              <a:t>9,900원/월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269748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월 무제한 쿠폰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306324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실시간 마케팅 인사이트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342900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AI 사업계획서 초안 월 5회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379476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카카오 알림톡 발송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416052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PDF 무제한 + CSV/JSON export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1783080"/>
            <a:ext cx="3749039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09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8" y="1783080"/>
            <a:ext cx="3749039" cy="914400"/>
          </a:xfrm>
          <a:prstGeom prst="rect">
            <a:avLst/>
          </a:prstGeom>
          <a:solidFill>
            <a:srgbClr val="F09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8" y="187452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Gothic"/>
              </a:rPr>
              <a:t>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8" y="228600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Helvetica"/>
              </a:rPr>
              <a:t>협의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8" y="283464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프랜차이즈 본사 전용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8" y="320040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다점포 통합 대시보드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8" y="356616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API 연동 + SLA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8" y="393192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전담 매니저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8" y="4297680"/>
            <a:ext cx="32003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968"/>
                </a:solidFill>
                <a:latin typeface="AppleGothic"/>
              </a:rPr>
              <a:t>·  월 50만원~ 가설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66360"/>
            <a:ext cx="11247120" cy="8229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166360"/>
            <a:ext cx="54864" cy="822960"/>
          </a:xfrm>
          <a:prstGeom prst="rect">
            <a:avLst/>
          </a:prstGeom>
          <a:solidFill>
            <a:srgbClr val="F09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결제 모듈은 2026 Q3 출시 예정 — 그 전 수치는 가설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E5968"/>
                </a:solidFill>
                <a:latin typeface="AppleGothic"/>
              </a:rPr>
              <a:t>베타 인터뷰 N=8 중 5명 9,900원 결제 의향 → 모집단 작음, Year 2 코호트로 검증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결제 모듈 Q3 통합 예정 · 9,900원은 베타 인터뷰 가설 · 실 결제 0건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18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16  ·  1년 로드맵 — 작게, 단계적으로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16107" y="292608"/>
            <a:ext cx="745236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발전 가능성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91F28"/>
                </a:solidFill>
                <a:latin typeface="AppleGothic"/>
              </a:rPr>
              <a:t>올해 결제 출시, 내년 첫 1,000 사장님.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194560"/>
            <a:ext cx="0" cy="3017520"/>
          </a:xfrm>
          <a:prstGeom prst="line">
            <a:avLst/>
          </a:prstGeom>
          <a:ln w="25400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2011680"/>
            <a:ext cx="274320" cy="27432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Helvetica"/>
              </a:rP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F28"/>
                </a:solidFill>
                <a:latin typeface="AppleGothic"/>
              </a:rPr>
              <a:t>결제 모듈 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774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PortOne/Toss 결제 통합 · 첫 100 사장님 베타 · PostHog 텔레메트리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26080"/>
            <a:ext cx="274320" cy="27432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Helvetica"/>
              </a:rP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926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F28"/>
                </a:solidFill>
                <a:latin typeface="AppleGothic"/>
              </a:rPr>
              <a:t>첫 매출 + MOU 의향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918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서울시·소진공 파일럿 의향 · 보조금 시드 22→50건 · AC 입주 신청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840480"/>
            <a:ext cx="274320" cy="274320"/>
          </a:xfrm>
          <a:prstGeom prst="ellipse">
            <a:avLst/>
          </a:prstGeom>
          <a:solidFill>
            <a:srgbClr val="EA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840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Helvetica"/>
              </a:rPr>
              <a:t>Q1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40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F28"/>
                </a:solidFill>
                <a:latin typeface="AppleGothic"/>
              </a:rPr>
              <a:t>1,000 MAU 도전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2062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1,000 MAU · 100 Pro 결제 · 첫 코호트 6개월 retention 측정 · Pre-A 검토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754880"/>
            <a:ext cx="274320" cy="274320"/>
          </a:xfrm>
          <a:prstGeom prst="ellipse">
            <a:avLst/>
          </a:prstGeom>
          <a:solidFill>
            <a:srgbClr val="EA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754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91F28"/>
                </a:solidFill>
                <a:latin typeface="Helvetica"/>
              </a:rPr>
              <a:t>Q2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91F28"/>
                </a:solidFill>
                <a:latin typeface="AppleGothic"/>
              </a:rPr>
              <a:t>스케일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1206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코호트 데이터로 PMF 검증 · 프랜차이즈 1~2개 파일럿 · 전국 확장 검토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40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91F28"/>
                </a:solidFill>
                <a:latin typeface="AppleGothic"/>
              </a:rPr>
              <a:t>다음 라운드 트리거 — 결제 100명 (Q3) · MAU 500 (Q4) · 코호트 retention 25%+ (Q1)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카카오 4분기 마일스톤: 싱크 인증 → 알림톡 검수 → 비즈메시지 → 카카오페이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19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17  ·  경쟁 — 우리만 가진 6가지 + 약점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49279" y="292608"/>
            <a:ext cx="512064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독창성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91F28"/>
                </a:solidFill>
                <a:latin typeface="AppleGothic"/>
              </a:rPr>
              <a:t>우리만 가진 6가지, 그리고 우리가 못하는 1가지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28600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411480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75564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>기존 자영업 도구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645920"/>
            <a:ext cx="4846320" cy="4572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556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Gothic"/>
              </a:rPr>
              <a:t>SSGI · AI 경영코치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228600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데이터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103120"/>
            <a:ext cx="411480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26771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1~3종 자체 (POS·SNS)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103120"/>
            <a:ext cx="484632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26771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서울 공공데이터 8종 + 6분야 결합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22860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6207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톤앤매너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6974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86207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'추천합니다' 일반론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697480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86207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'놓치고 있어요' — 손실 프레이밍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228600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564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매칭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291840"/>
            <a:ext cx="411480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345643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키워드 검색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291840"/>
            <a:ext cx="484632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5643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SQL + 사용자 학습 + 검색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86200"/>
            <a:ext cx="22860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507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환각 방지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8862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405079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GPT 답변 그대로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886200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05079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3겹 신뢰 계층 + 노란 '추정' 표시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80560"/>
            <a:ext cx="228600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64515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시니어 UX·업종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480560"/>
            <a:ext cx="411480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46451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20~30대 일률 추천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480560"/>
            <a:ext cx="4846320" cy="594360"/>
          </a:xfrm>
          <a:prstGeom prst="rect">
            <a:avLst/>
          </a:prstGeom>
          <a:solidFill>
            <a:srgbClr val="F2F4F6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464515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1393 안내 + 큰 글씨 + 6업종별 다른 처방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74920"/>
            <a:ext cx="22860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2395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결제·매출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50749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0" y="523951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출시 + 매출 발생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5074920"/>
            <a:ext cx="4846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523951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—  결제 모듈 Q3 출시 예정 (우리 약점)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비교 대상: 캐치테이블·당근비즈·소상공인시장진흥공단 가게의 발견 등 (2026-04 자체 조사)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20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18  ·  ESG — 환경 정량 + 사회 폐업방지 23~49명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27003" y="292608"/>
            <a:ext cx="434340" cy="25603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635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0" bIns="0"/>
          <a:lstStyle/>
          <a:p>
            <a:pPr algn="ctr"/>
            <a:r>
              <a:rPr sz="900" b="1">
                <a:solidFill>
                  <a:srgbClr val="4E5968"/>
                </a:solidFill>
                <a:latin typeface="AppleGothic"/>
              </a:rPr>
              <a:t>ESG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91F28"/>
                </a:solidFill>
                <a:latin typeface="AppleGothic"/>
              </a:rPr>
              <a:t>환경 262톤·사회 49명·원칙 6개 — 다 숫자로.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49039" cy="42976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749039" cy="54864"/>
          </a:xfrm>
          <a:prstGeom prst="rect">
            <a:avLst/>
          </a:prstGeom>
          <a:solidFill>
            <a:srgbClr val="00C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73C"/>
                </a:solidFill>
                <a:latin typeface="Helvetica"/>
              </a:rPr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0C73C"/>
                </a:solidFill>
                <a:latin typeface="Helvetica"/>
              </a:rPr>
              <a:t>262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tCO2eq/년 절감 추정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페이퍼리스 보조금 신청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1만 명 × 12장 × 연 3회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73C"/>
                </a:solidFill>
                <a:latin typeface="AppleGothic"/>
              </a:rPr>
              <a:t>≈ 14.4 tCO2eq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POP·전단지 → QR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가게당 50장/월 × 12 × 1만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73C"/>
                </a:solidFill>
                <a:latin typeface="AppleGothic"/>
              </a:rPr>
              <a:t>≈ 240 tCO2eq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행정복지센터 이동 절감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1.2km × 3회 × 1만 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73C"/>
                </a:solidFill>
                <a:latin typeface="AppleGothic"/>
              </a:rPr>
              <a:t>≈ 7.6 tCO2eq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1554480"/>
            <a:ext cx="3749039" cy="42976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1554480"/>
            <a:ext cx="3749039" cy="54864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182880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182F6"/>
                </a:solidFill>
                <a:latin typeface="Helvetica"/>
              </a:rPr>
              <a:t>SOCIAL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19456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3182F6"/>
                </a:solidFill>
                <a:latin typeface="Helvetica"/>
              </a:rPr>
              <a:t>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338328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명 폐업 방지/년 (추정)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9776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폐업 방지 추정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42062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활성 2,500명 × 손실프레이밍 7~15%p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3891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182F6"/>
                </a:solidFill>
                <a:latin typeface="AppleGothic"/>
              </a:rPr>
              <a:t>23~49명/년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46177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정보 비대칭 해소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48463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시니어·디지털 절벽 사장님 접근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50292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182F6"/>
                </a:solidFill>
                <a:latin typeface="AppleGothic"/>
              </a:rPr>
              <a:t>베타 후 정량화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52578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자살예방 안내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1999" y="54864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1393 분기별 의무 노출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1999" y="56692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182F6"/>
                </a:solidFill>
                <a:latin typeface="AppleGothic"/>
              </a:rPr>
              <a:t>윤리 안전망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58" y="1554480"/>
            <a:ext cx="3749039" cy="429768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58" y="1554480"/>
            <a:ext cx="3749039" cy="54864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8" y="182880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Helvetica"/>
              </a:rPr>
              <a:t>GOVERNANCE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8" y="219456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191F28"/>
                </a:solidFill>
                <a:latin typeface="Helvetic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8" y="3383280"/>
            <a:ext cx="3200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968"/>
                </a:solidFill>
                <a:latin typeface="AppleGothic"/>
              </a:rPr>
              <a:t>원칙 시스템 강제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8" y="39776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원칙 6개 변경 금지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8" y="420624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손실 프레이밍·개인정보 보호·하루 1액션 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8" y="43891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거버넌스 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8" y="46177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출처 라벨 의무화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8" y="484632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모든 데이터 카드 옆에 '서울 ○○ Q4'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8" y="50292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정직성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8" y="52578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AI 답변 자동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8" y="548640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GPT 답변에 항상 노란 '추정' 표시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78" y="566928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91F28"/>
                </a:solidFill>
                <a:latin typeface="AppleGothic"/>
              </a:rPr>
              <a:t>투명성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환산: 종이 1톤 = 약 8 tCO2eq · 차량 0.21 kgCO2/km · 폐업방지는 손실프레이밍 효과 추정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21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20 / 20   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338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>
                <a:solidFill>
                  <a:srgbClr val="191F28"/>
                </a:solidFill>
                <a:latin typeface="AppleGothic"/>
              </a:rPr>
              <a:t>사장님이 매일 받는,
1줄 처방.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4ED8"/>
                </a:solidFill>
                <a:latin typeface="AppleGothic"/>
              </a:rPr>
              <a:t>"추천합니다"가 아니라 "놓치고 있어요".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49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4E5968"/>
                </a:solidFill>
                <a:latin typeface="AppleGothic"/>
              </a:rPr>
              <a:t>한 명의 사장님이라도 폐업의 절벽에서 한 발 물러서게 한다면,
이 시스템은 그 한 가지로 충분해요.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>팀 SSGI  ·  2026 서울시 빅데이터 활용 경진대회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95A1"/>
                </a:solidFill>
                <a:latin typeface="AppleGothic"/>
              </a:rPr>
              <a:t>00  ·  BACKUP A — 출처 / 인용 / 데이터 명세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92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AppleGothic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8580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91F28"/>
                </a:solidFill>
                <a:latin typeface="AppleGothic"/>
              </a:rPr>
              <a:t>공고 5번 — 활용 공공데이터 목록 정확 기재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서울 열린데이터광장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554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VwsmTrdarSelngQq · 서울시 우리마을가게 상권분석서비스(상권-추정매출)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분기, 25 자치구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서울 열린데이터광장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83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VwsmTrdarStorQq · 서울시 우리마을가게 상권분석서비스(상권-점포)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883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분기, 25 자치구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128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서울 열린데이터광장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2128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VwsmTrdarIxQq · 서울시 우리마을가게 상권분석서비스(상권-상권변화지표)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2128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420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서울 열린데이터광장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542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VwsmTrdarFlpopQq · 서울시 우리마을가게 상권분석서비스(상권-추정유동인구)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542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712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서울 열린데이터광장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712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SPOP_LOCAL_RESD_DONG · 서울시 행정동 단위 서울 생활인구 (내국인)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871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일별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서울 열린데이터광장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200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culturalEventInfo · 서울시 문화행사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00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일별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295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서울 열린데이터광장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5295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VwsmTrdarFcltyQq · 서울시 우리마을가게 상권분석서비스(상권-집객시설)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5295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분기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587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서울 열린데이터광장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858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VwsmTrdarWrcPopltnQq · 서울시 우리마을가게 상권분석서비스(상권-직장인구)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858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분기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879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공공데이터포털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187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국세청 사업자등록정보 진위확인 (otws_signlw)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187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실시간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171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91F28"/>
                </a:solidFill>
                <a:latin typeface="AppleGothic"/>
              </a:rPr>
              <a:t>민간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5171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5968"/>
                </a:solidFill>
                <a:latin typeface="AppleGothic"/>
              </a:rPr>
              <a:t>Kakao Local Search API · 카카오 디벨로퍼스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5171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AppleGothic"/>
              </a:rPr>
              <a:t>실시간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A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추출일 2026-04 / 공고 5번 '활용한 공공데이터 목록 정확 기재' 의무사항 충족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8B95A1"/>
                </a:solidFill>
                <a:latin typeface="AppleGothic"/>
              </a:rPr>
              <a:t>팀 SSGI · 2026 서울시 빅데이터 활용 경진대회 · 창업부문    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