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2026 서울특별시 빅데이터 활용 경진대회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8495" y="11887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맑은 고딕"/>
              </a:rPr>
              <a:t>창업부문 · 제품 및 서비스 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A5550"/>
                </a:solidFill>
                <a:latin typeface="Arial"/>
              </a:rPr>
              <a:t>SERVICE NAME · DETAILED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 i="0">
                <a:solidFill>
                  <a:srgbClr val="1A1A1A"/>
                </a:solidFill>
                <a:latin typeface="맑은 고딕"/>
              </a:rPr>
              <a:t>SSGI AI 경영코치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A5550"/>
                </a:solidFill>
                <a:latin typeface="맑은 고딕"/>
              </a:rPr>
              <a:t>사장님이 모르고 놓치는 돈, 데이터가 매일 한 줄로 알려드립니다.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66160"/>
            <a:ext cx="1069848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9A6700"/>
                </a:solidFill>
                <a:latin typeface="맑은 고딕"/>
              </a:rPr>
              <a:t>행동경제학 기반 손실 프레이밍 × 서울시 공공데이터 8종 × GPT-4o RAG 코칭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6607" y="4434840"/>
            <a:ext cx="2468880" cy="146304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6607" y="4434840"/>
            <a:ext cx="73152" cy="146304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5207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Arial"/>
              </a:rPr>
              <a:t>공공데이터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207" y="48463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8종+ 활용
(상권·인구·문화)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89807" y="4434840"/>
            <a:ext cx="2468880" cy="146304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9807" y="4434840"/>
            <a:ext cx="73152" cy="14630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8407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B91C1C"/>
                </a:solidFill>
                <a:latin typeface="Arial"/>
              </a:rPr>
              <a:t>AI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8407" y="48463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GPT-4o + RAG
+ 결정론 룰 엔진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4434840"/>
            <a:ext cx="2468880" cy="146304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4434840"/>
            <a:ext cx="73152" cy="14630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F4C3A"/>
                </a:solidFill>
                <a:latin typeface="Arial"/>
              </a:rPr>
              <a:t>차별 정체성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48463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"AI 코치만 알 수
있는 손실"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6207" y="4434840"/>
            <a:ext cx="2468880" cy="146304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6207" y="4434840"/>
            <a:ext cx="73152" cy="1463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4807" y="45720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Arial"/>
              </a:rPr>
              <a:t>실증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4807" y="484632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300+ 페르소나
QA 라운드 3회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1520" y="6263640"/>
            <a:ext cx="1069848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팀명: [팀명 기재]   ·   서비스명: SSGI AI 경영코치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975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5550"/>
                </a:solidFill>
                <a:latin typeface="맑은 고딕"/>
              </a:rPr>
              <a:t>2026년 5월 제출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목차 · 상세기획서 구성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제안 배경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709928"/>
            <a:ext cx="777240" cy="2194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7282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공공25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947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소상공인 정보 비대칭 + 손실 프레이밍 차별점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691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585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사장님 한 명의 이야기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276856"/>
            <a:ext cx="777240" cy="219456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29514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독창15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5146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P020 페르소나 내러티브 — 감정 설득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258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8254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타깃 페르소나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2843784"/>
            <a:ext cx="777240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60520" y="2862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완성15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08152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300+ 페르소나 매트릭스 + 4 클러스터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8254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출품작 소개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410712"/>
            <a:ext cx="777240" cy="219456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42900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독창15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64845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한 장으로 보는 SSGI AI 경영코치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3924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9593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활용 공공데이터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3977640"/>
            <a:ext cx="777240" cy="2194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3995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공공25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21538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서울 열린데이터광장 8종 + 결합 가점 2점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9593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AI 기술 스택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544568"/>
            <a:ext cx="777240" cy="21945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456285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AI20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47823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결정론 + SQL+ICP + ChromaDB(음성) + GPT-4o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526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0932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0932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차별점·독창성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5111496"/>
            <a:ext cx="777240" cy="21945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512978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AI20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349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폐업 매트릭스 — AI 코치만 알 수 있는 손실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7840" y="5093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6601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" y="56601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핵심 기능 시연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60520" y="5678424"/>
            <a:ext cx="777240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569671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완성15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59161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5분 데모 흐름 (P002 페르소나)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7840" y="56601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1691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12680" y="1709928"/>
            <a:ext cx="777240" cy="2194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12680" y="172821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공공25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1947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FastAPI · Next.js · PostgreSQL · ChromaDB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16916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22585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22585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데이터 흐름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12680" y="2276856"/>
            <a:ext cx="777240" cy="2194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12680" y="229514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공공25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25146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8 API × 31 routes × 8 페이지 + Phased Pattern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430000" y="2258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28254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03720" y="28254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주요 화면 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12680" y="2843784"/>
            <a:ext cx="777240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12680" y="2862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완성15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03720" y="308152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대시보드 + 폐업 매트릭스 mock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0000" y="28254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339242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주요 화면 ②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12680" y="3410712"/>
            <a:ext cx="777240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12680" y="342900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완성15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364845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인사이트 + 지원사업 + 쿠폰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0" y="339242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0" y="39593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03720" y="39593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사업화·시장성 (가설)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12680" y="3977640"/>
            <a:ext cx="777240" cy="219456"/>
          </a:xfrm>
          <a:prstGeom prst="rect">
            <a:avLst/>
          </a:prstGeom>
          <a:solidFill>
            <a:srgbClr val="5A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12680" y="3995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발전20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03720" y="4215384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TAM/SAM/SOM bottom-up 산식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430000" y="39593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0" y="4526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03720" y="45262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비즈니스 모델 (가설)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12680" y="4544568"/>
            <a:ext cx="777240" cy="219456"/>
          </a:xfrm>
          <a:prstGeom prst="rect">
            <a:avLst/>
          </a:prstGeom>
          <a:solidFill>
            <a:srgbClr val="5A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12680" y="456285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발전20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03720" y="478231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Free → Pro 전환 + LTV/CAC 목표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430000" y="45262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509320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03720" y="50932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발전 가능성 (목표)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12680" y="5111496"/>
            <a:ext cx="777240" cy="219456"/>
          </a:xfrm>
          <a:prstGeom prst="rect">
            <a:avLst/>
          </a:prstGeom>
          <a:solidFill>
            <a:srgbClr val="5A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12680" y="512978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발전20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03720" y="5349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1년 로드맵 + 카카오 시너지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30000" y="5093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0" y="566013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03720" y="56601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맑은 고딕"/>
              </a:rPr>
              <a:t>ESG 혁신 (정량)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12680" y="5678424"/>
            <a:ext cx="777240" cy="219456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12680" y="569671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Arial"/>
              </a:rPr>
              <a:t>ESG5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03720" y="59161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A5550"/>
                </a:solidFill>
                <a:latin typeface="맑은 고딕"/>
              </a:rPr>
              <a:t>환경 tCO2eq + 폐업방지 23~49명/년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0" y="56601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9590"/>
                </a:solidFill>
                <a:latin typeface="Arial"/>
              </a:rPr>
              <a:t>18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548640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맑은 고딕"/>
              </a:rPr>
              <a:t>평가 영역 매칭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377440" y="6492240"/>
            <a:ext cx="640080" cy="21945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377440" y="6510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공공25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931920" y="6492240"/>
            <a:ext cx="640080" cy="219456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931920" y="6510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AI20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86400" y="6492240"/>
            <a:ext cx="640080" cy="219456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86400" y="6510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독창15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40880" y="6492240"/>
            <a:ext cx="640080" cy="21945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40880" y="6510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완성15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95360" y="6492240"/>
            <a:ext cx="640080" cy="219456"/>
          </a:xfrm>
          <a:prstGeom prst="rect">
            <a:avLst/>
          </a:prstGeom>
          <a:solidFill>
            <a:srgbClr val="5A5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95360" y="6510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발전20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149840" y="6492240"/>
            <a:ext cx="640080" cy="219456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149840" y="651052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A1A1A"/>
                </a:solidFill>
                <a:latin typeface="Arial"/>
              </a:rPr>
              <a:t>ESG5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01 · 제안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사장님이 모르고 놓치는 돈, 데이터가 매일 알려드립니다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맑은 고딕"/>
              </a:rPr>
              <a:t>지금 사장님이 마주한 3가지 정보 비대칭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Arial"/>
              </a:rPr>
              <a:t>01.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지원사업 정보가 분산됨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50"/>
                </a:solidFill>
                <a:latin typeface="맑은 고딕"/>
              </a:rPr>
              <a:t>서울시·자치구·중기부·소상공인진흥공단 등에 흩어진 보조금 공고를
사장님이 매일 점검하기 불가능 → 평균 240만원/년 미신청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Arial"/>
              </a:rPr>
              <a:t>02.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20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위험을 미리 감지하지 못함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862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50"/>
                </a:solidFill>
                <a:latin typeface="맑은 고딕"/>
              </a:rPr>
              <a:t>매출 감소·상권 변화는 이미 폐업이 가까워졌을 때 인지
→ 의사결정 시점에 데이터가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Arial"/>
              </a:rPr>
              <a:t>03.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진단은 있지만 행동이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50"/>
                </a:solidFill>
                <a:latin typeface="맑은 고딕"/>
              </a:rPr>
              <a:t>리포트는 정보만 주고 끝남
→ '그래서 뭐 어쩌라고'에 대한 답이 부재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691640"/>
            <a:ext cx="5120640" cy="2011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828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EE500"/>
                </a:solidFill>
                <a:latin typeface="Arial"/>
              </a:rPr>
              <a:t>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9456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"추천합니다"가 아니라
"놓치고 있습니다"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246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EE500"/>
                </a:solidFill>
                <a:latin typeface="맑은 고딕"/>
              </a:rPr>
              <a:t>행동경제학 손실 프레이밍 (Kahneman, Prospect Theory)
— ADR 001 시스템 전체에 일관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886200"/>
            <a:ext cx="5120640" cy="24688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023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Arial"/>
              </a:rPr>
              <a:t>WHY NOW · 서울 상권 실측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3434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Arial"/>
              </a:rPr>
              <a:t>4.5년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43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서울 폐업 가게 평균 영업기간
(54.5개월, n=441 상권 · 서울 한정 폐업 모집단)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84632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Arial"/>
              </a:rPr>
              <a:t>9.8년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463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서울 운영중 가게 평균 영업기간
(117개월) — 차이 5.3년이 사장님 분기점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3492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Arial"/>
              </a:rPr>
              <a:t>53.7%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3492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서울 상권 중 정체(35.X%)+축소(18.X%)
(2025 4분기, 신규 진입 위험 신호)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8521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Arial"/>
              </a:rPr>
              <a:t>28.6%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8521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서울 상권 중 '다이나믹' 비율 — 회전율 높음
(기회와 위험 공존)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6400800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5A5550"/>
                </a:solidFill>
                <a:latin typeface="맑은 고딕"/>
              </a:rPr>
              <a:t>출처: 서울 열린데이터광장 VwsmTrdarIxQq · 2025 Q4 · 추출일 2026-04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6601968"/>
            <a:ext cx="4937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1">
                <a:solidFill>
                  <a:srgbClr val="5A5550"/>
                </a:solidFill>
                <a:latin typeface="맑은 고딕"/>
              </a:rPr>
              <a:t>※ KOSIS 자영업 평균 영업기간 3.1년과 차이 = 모집단 정의 (서울 한정+폐업 한정)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1A1A1A"/>
                </a:solidFill>
                <a:latin typeface="Arial"/>
              </a:rPr>
              <a:t>P. 04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EE500"/>
                </a:solidFill>
                <a:latin typeface="Arial"/>
              </a:rPr>
              <a:t>A SHOPKEEPER'S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사장님 한 명의 이야기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 i="0">
                <a:solidFill>
                  <a:srgbClr val="FEE500"/>
                </a:solidFill>
                <a:latin typeface="Arial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관악구에서 7년째 문구점을 운영합니다.
매출이 매달 조금씩 빠지는데, 어느 정도가
진짜 위험한 건지 알 방법이 없었습니다.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FEE500"/>
                </a:solidFill>
                <a:latin typeface="맑은 고딕"/>
              </a:rPr>
              <a:t>— P020, 58세, 관악구 문구점 페르소나 (8축 매트릭스 시뮬, 실 사용자 인터뷰 X)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212080"/>
            <a:ext cx="10908792" cy="0"/>
          </a:xfrm>
          <a:prstGeom prst="line">
            <a:avLst/>
          </a:prstGeom>
          <a:ln w="12700">
            <a:solidFill>
              <a:srgbClr val="FEE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그래서 우리는 — 데이터가 말하지 못하는 진짜 손실을 알려줍니다.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760720"/>
            <a:ext cx="3611880" cy="100584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521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폐업 매트릭스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264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서울 폐업 평균 4.5년 vs
운영중 9.8년 — 위치 측정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16552" y="5760720"/>
            <a:ext cx="3611880" cy="100584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58521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매출 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61264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VwsmTrdarSelngQq 분기 QoQ
+ 객단가·시간대·연령대 비중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93024" y="5760720"/>
            <a:ext cx="3611880" cy="100584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58521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행동 1줄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612648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'이번 주 단골 SMS +
재방문 쿠폰 1종 즉시 배포'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01 · 사용자 프로필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타깃 사장님 — 300+ 페르소나 매트릭스로 검증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8축 페르소나 매트릭스 (업종·자치구·매출·운영기간·연령·디지털·가게형태·핵심고민)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550"/>
                </a:solidFill>
                <a:latin typeface="맑은 고딕"/>
              </a:rPr>
              <a:t>13,500 조합 공간 → stratified weighted sampling으로 300명 추출 (95% CI ±5.7%p) + 16 클러스터 (categorical 보정)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27432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743200" cy="457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디지털 절벽 노포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한식·도소매 / 50-60대+ / 카톡만
7년+ 운영 / 매출감소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91C1C"/>
                </a:solidFill>
                <a:latin typeface="Arial"/>
              </a:rPr>
              <a:t>P025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페르소나 매트릭스 ID 인용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0712" y="2560320"/>
            <a:ext cx="27432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0712" y="2560320"/>
            <a:ext cx="27432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1년차 카페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320040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마포 카페 / 30-40대 / SNS
&lt;1년 / 마케팅 고민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A6700"/>
                </a:solidFill>
                <a:latin typeface="Arial"/>
              </a:rPr>
              <a:t>P020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3592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페르소나 매트릭스 ID 인용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4" y="2560320"/>
            <a:ext cx="27432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2784" y="2560320"/>
            <a:ext cx="27432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폐업 임박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320040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&lt;1500만원 매출 / 다양 업종
폐업위험 신호 누적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P015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페르소나 매트릭스 ID 인용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34856" y="2560320"/>
            <a:ext cx="27432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34856" y="2560320"/>
            <a:ext cx="2743200" cy="4572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4936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마케팅 실험족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17736" y="3200400"/>
            <a:ext cx="2377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30-40대 / SNS·데이터분석
캠페인 ROI 검증 욕구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17736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F4C3A"/>
                </a:solidFill>
                <a:latin typeface="Arial"/>
              </a:rPr>
              <a:t>P020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5029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페르소나 매트릭스 ID 인용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440680"/>
            <a:ext cx="11091672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손실 프레이밍 효과 — 클러스터별 검증 (페르소나 시뮬 6명 / 7-day journey)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978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550"/>
                </a:solidFill>
                <a:latin typeface="맑은 고딕"/>
              </a:rPr>
              <a:t>C03·C09 (30-40대 마케팅 직군): 긍정 효과, 가입→실행 전환 60%+
C01·C08 (시니어·폐업위험): 톤 다운 분기 적용 — '정중한 알림' + 자살예방상담 1393 안내 의무화
→ 세그먼트별 카피 분기 자동 적용으로 ADR 001 부메랑 방지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02 · 출품작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한 장으로 보는 SSGI AI 경영코치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737360"/>
            <a:ext cx="11091672" cy="1645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EE500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맑은 고딕"/>
              </a:rPr>
              <a:t>서울시 공공데이터 + GPT-4o + 결정론 룰 엔진을 결합해
사장님이 매일 '오늘 놓치고 있는 1가지'를 받는 카카오 PWA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3566160" cy="2743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11880"/>
            <a:ext cx="3566160" cy="4114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공공데이터 8종 + 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177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서울 상권매출·유동인구·문화행사·
생활인구·국세청·카카오 로컬·기상청
— 가점 2점 확보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3611880"/>
            <a:ext cx="3566160" cy="2743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3611880"/>
            <a:ext cx="3566160" cy="41148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3703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4160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결정론 + SQL+ICP + GPT-4o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46177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5-차원 결정론 진단 + 보조금
SQL+ICP 매칭 (active path) +
ChromaDB 음성/인덱싱 + GPT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3611880"/>
            <a:ext cx="3566160" cy="2743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3611880"/>
            <a:ext cx="3566160" cy="41148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3703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41605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맑은 고딕"/>
              </a:rPr>
              <a:t>손실 프레이밍 + 행동 1줄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461772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맑은 고딕"/>
              </a:rPr>
              <a:t>"놓치고 있는 ○○만원" 카드 +
"오늘 해야 할 단 1가지" 액션
→ 의사결정 → 실행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1">
                <a:solidFill>
                  <a:srgbClr val="9A6700"/>
                </a:solidFill>
                <a:latin typeface="맑은 고딕"/>
              </a:rPr>
              <a:t>"AI 코치만 알 수 있는 손실" — 사장님이 모르는 것을 데이터가 매일 알려준다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03 · 활용 공공데이터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서울 열린데이터광장 8종 + 다른 분야 결합 = 가점 2점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🏛 서울 열린데이터광장 — 8종 (필수 1건 이상 — 충분히 초과)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488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VwsmTrdarSelngQq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상권 분기별 매출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QoQ 변화율 + 객단가 + 시간대·요일·연령·성별 매출 비중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103120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2103120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1488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VwsmTrdarStorQq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상권 점포 개폐업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분기 개업률·폐업률·점포 수 → 경쟁 강도 지표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103120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103120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VwsmTrdarIxQq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77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상권변화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확장/다이나믹/정체/축소 4단계 + 폐업 평균 영업기간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2103120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89720" y="2103120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21488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VwsmTrdarFlpopQq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377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상권 유동인구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6060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시간대·요일·성별·연령대별 유동인구 (분기 일평균)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136392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136392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821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SPOP_LOCAL_RESD_DONG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4107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생활인구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6393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행정동 단위 일별 유동인구 (T-7 walk)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136392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29000" y="3136392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31821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culturalEventInfo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34107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서울 문화행사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36393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자치구별 행사 → 객단가 캠페인 타이밍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136392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136392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1821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VwsmTrdarFcltyQq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4107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집객시설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6393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관공서·은행·병원·대중교통 인프라 카운트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3136392"/>
            <a:ext cx="2743200" cy="9144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3136392"/>
            <a:ext cx="54864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3182112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Consolas"/>
              </a:rPr>
              <a:t>VwsmTrdarWrcPopltnQq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4107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직장인구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6393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맑은 고딕"/>
              </a:rPr>
              <a:t>점심 매출 잠재력 분석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맑은 고딕"/>
              </a:rPr>
              <a:t>🔗 다른 분야 데이터 결합 — 가점 2점 (총 6분야)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663440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4663440"/>
            <a:ext cx="54864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7365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</a:rPr>
              <a:t>공공API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49377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국세청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사업자번호 검증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4663440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392424" y="4663440"/>
            <a:ext cx="54864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9584" y="47365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</a:rPr>
              <a:t>상업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9584" y="49377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카카오 로컬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9584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상호 검색·반경 경쟁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6208" y="4663440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36208" y="4663440"/>
            <a:ext cx="54864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73368" y="47365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</a:rPr>
              <a:t>기상 API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73368" y="49377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기상청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73368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단기예보 (강수·온도)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79992" y="4663440"/>
            <a:ext cx="26974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79992" y="4663440"/>
            <a:ext cx="54864" cy="7772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17152" y="47365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Arial"/>
              </a:rPr>
              <a:t>AI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49377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OpenAI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17152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GPT-4o + 임베딩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A6700"/>
                </a:solidFill>
                <a:latin typeface="맑은 고딕"/>
              </a:rPr>
              <a:t>데이터 결합 예시 (한 사용자 한 화면): 상권매출 × 유동인구 × 문화행사 × 기상 × 보조금 매칭 → '오늘의 1줄 액션'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035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💡 6분야 결합으로 가점 2점 확보 — 서울 열린데이터광장 8종 + 국세청 + 카카오 로컬 + 기상청 + OpenAI
→ 단순 활용이 아닌 의미적 결합 (예: '비 오는 점심 + 직장인구 + 점심 시간대 매출 비중' = 객단가 액션)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04 · AI 기술 스택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결정론 룰 엔진 · SQL+ICP 매칭 · ChromaDB · GPT-4o의 3-tier 신뢰 계층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691640"/>
            <a:ext cx="11091672" cy="13716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" cy="13716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828800"/>
            <a:ext cx="1280160" cy="50292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20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맑은 고딕"/>
              </a:rPr>
              <a:t>결정론 룰 엔진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1945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550"/>
                </a:solidFill>
                <a:latin typeface="맑은 고딕"/>
              </a:rPr>
              <a:t>Risk Score Engine · Survival Matrix · Marketing Audit (5-차원)
→ 공공데이터 위에 명시 공식. 환각 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697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0F4C3A"/>
                </a:solidFill>
                <a:latin typeface="Arial"/>
              </a:rPr>
              <a:t>✓ 위험도 점수 / ✓ 폐업 매트릭스 / ✓ 5-차원 진단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874520"/>
            <a:ext cx="1463040" cy="9144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103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공식 기반
검증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11091672" cy="13716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109728" cy="13716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1280160" cy="50292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290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Tier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337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맑은 고딕"/>
              </a:rPr>
              <a:t>보조금 매칭 + 검색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7033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550"/>
                </a:solidFill>
                <a:latin typeface="맑은 고딕"/>
              </a:rPr>
              <a:t>Active path: SQL target_regions 필터 + ICP Learner 시간가중 재순위
ChromaDB PersistentClient: 음성 질의 + 보조금 인덱싱 (Q3 활성 매칭 전환 로드맵)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9A6700"/>
                </a:solidFill>
                <a:latin typeface="Arial"/>
              </a:rPr>
              <a:t>✓ SQL+ICP rerank / ✓ ChromaDB 음성·인덱싱 / ✓ k≥10 사회적 증거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3383280"/>
            <a:ext cx="1463040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361188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벡터 유사도
GPT 0회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09160"/>
            <a:ext cx="11091672" cy="13716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09160"/>
            <a:ext cx="109728" cy="13716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846320"/>
            <a:ext cx="1280160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Tier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846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맑은 고딕"/>
              </a:rPr>
              <a:t>GPT-4o 자유 산출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21208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5550"/>
                </a:solidFill>
                <a:latin typeface="맑은 고딕"/>
              </a:rPr>
              <a:t>system prompt + JSON mode + temperature 0.7
→ 사설·전략 prose. UI에 'AI 추정' 명시 라벨.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5715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B91C1C"/>
                </a:solidFill>
                <a:latin typeface="Arial"/>
              </a:rPr>
              <a:t>✓ 오늘의 액션 / ✓ 마케팅 사설 / ✓ 집중분석 SWOT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0" y="4892040"/>
            <a:ext cx="1463040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0" y="512064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자유 산출
'AI 추정' 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355080"/>
            <a:ext cx="1109167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🎯 AI 혁신성 — 3-tier로 신뢰성 ↔ 표현력 분리. 모든 GPT 산출물에 '_disclosure.ai_estimated_fields' 메타필드 자동 라벨링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09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05 · 차별점·독창성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폐업 매트릭스 — 5신호 결정론 룰의 작동 원리 (개념)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기존 자영업 도구의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50"/>
                </a:solidFill>
                <a:latin typeface="맑은 고딕"/>
              </a:rPr>
              <a:t>✗ '추천합니다' 톤 → 책임 있는 행동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50"/>
                </a:solidFill>
                <a:latin typeface="맑은 고딕"/>
              </a:rPr>
              <a:t>✗ 사장님이 이미 아는 정보 (매출·재고)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50"/>
                </a:solidFill>
                <a:latin typeface="맑은 고딕"/>
              </a:rPr>
              <a:t>✗ 사후적 진단 (폐업 후 보고서)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5550"/>
                </a:solidFill>
                <a:latin typeface="맑은 고딕"/>
              </a:rPr>
              <a:t>✗ 일반론 카피 → 50대 시니어 거부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120640" cy="23774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EE500"/>
                </a:solidFill>
                <a:latin typeface="Arial"/>
              </a:rPr>
              <a:t>SSGI · 우리만의 차별점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EE500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사장님이 모르는 위험을 사전 알림 (폐업 매트릭스)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EE500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행동 1줄 + cta_type → 즉시 실행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EE500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26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세그먼트별 카피 분기 (시니어 정중 톤)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EE500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291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k-anonymity (k≥10) 사회적 증거 게이팅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EE500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657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출처 라벨 fine-print 모든 카드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91C1C"/>
                </a:solidFill>
                <a:latin typeface="맑은 고딕"/>
              </a:rPr>
              <a:t>🔴 폐업 매트릭스 — 같은 동네·업종 폐업 가게 패턴 vs 우리 가게 위험 신호 (5종 결정론 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2157984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54880"/>
            <a:ext cx="2157984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892040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매출 감소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257800"/>
            <a:ext cx="1975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VwsmTrdarSelngQq QoQ ≤ -5%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2356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Arial"/>
              </a:rPr>
              <a:t>점수 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8064" y="4754880"/>
            <a:ext cx="2157984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98064" y="4754880"/>
            <a:ext cx="2157984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07792" y="4892040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폐업률 상승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5257800"/>
            <a:ext cx="1975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VwsmTrdarStorQq closing_rate &gt; 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07792" y="562356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Arial"/>
              </a:rPr>
              <a:t>점수 -10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47488" y="4754880"/>
            <a:ext cx="2157984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47488" y="4754880"/>
            <a:ext cx="2157984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57216" y="4892040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상권 정체/축소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57216" y="5257800"/>
            <a:ext cx="1975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VwsmTrdarIxQq dominant_status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7216" y="562356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Arial"/>
              </a:rPr>
              <a:t>점수 -20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96912" y="4754880"/>
            <a:ext cx="2157984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96912" y="4754880"/>
            <a:ext cx="2157984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4892040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유동인구 감소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257800"/>
            <a:ext cx="1975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SPOP_LOCAL_RESD_DONG ≤ -3%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62356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Arial"/>
              </a:rPr>
              <a:t>점수 -5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46336" y="4754880"/>
            <a:ext cx="2157984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546336" y="4754880"/>
            <a:ext cx="2157984" cy="45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56064" y="4892040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폐업 평균 근접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6064" y="5257800"/>
            <a:ext cx="197510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operating_months ≥ closed_avg×0.7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56064" y="562356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91C1C"/>
                </a:solidFill>
                <a:latin typeface="Arial"/>
              </a:rPr>
              <a:t>점수 -20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A5550"/>
                </a:solidFill>
                <a:latin typeface="맑은 고딕"/>
              </a:rPr>
              <a:t>→ 100점 차감식 + 4단계 등급 (안전·관찰·경고·위험) + 1-액션 매핑 / GPT 호출 0회 — 결정론 신뢰성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06 · 핵심 기능 시연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P002 마포 카페 사장님 5분 데모 흐름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12267" y="2011680"/>
            <a:ext cx="18288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267" y="2011680"/>
            <a:ext cx="18288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267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707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랜딩 + 카카오 1탭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707" y="31089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OAuth state CSRF 보호
→ 30초 안에 가입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707" y="4297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6700"/>
                </a:solidFill>
                <a:latin typeface="Consolas"/>
              </a:rPr>
              <a:t>page.tsx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59939" y="2011680"/>
            <a:ext cx="18288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59939" y="2011680"/>
            <a:ext cx="18288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9939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1379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온보딩 3단계 stepper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1379" y="31089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사업자번호 → 가게 검색
→ 개점일 (1/3 → 2/3 → 3/3)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1379" y="4297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6700"/>
                </a:solidFill>
                <a:latin typeface="Consolas"/>
              </a:rPr>
              <a:t>onboarding/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7611" y="2011680"/>
            <a:ext cx="18288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7611" y="2011680"/>
            <a:ext cx="18288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7611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9051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대시보드 첫 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9051" y="31089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위험도 "주의 단계 (67/100)"
+ 출처 라벨 + 손실 카운터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9051" y="4297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6700"/>
                </a:solidFill>
                <a:latin typeface="Consolas"/>
              </a:rPr>
              <a:t>dashboard/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5283" y="2011680"/>
            <a:ext cx="18288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5283" y="2011680"/>
            <a:ext cx="18288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55283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2:45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6723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폐업 매트릭스 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6723" y="31089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결정론 5신호 + 1-액션
→ AI 코치만 알 수 있는 손실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6723" y="4297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6700"/>
                </a:solidFill>
                <a:latin typeface="Consolas"/>
              </a:rPr>
              <a:t>SurvivalMatrix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02955" y="2011680"/>
            <a:ext cx="18288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02955" y="2011680"/>
            <a:ext cx="18288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02955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4395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지원사업 매칭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4395" y="31089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SQL target_regions + ICP rerank
(ChromaDB 인덱싱 보조) → D-day 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4395" y="4297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6700"/>
                </a:solidFill>
                <a:latin typeface="Consolas"/>
              </a:rPr>
              <a:t>subsidies/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0627" y="2011680"/>
            <a:ext cx="1828800" cy="25603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50627" y="2011680"/>
            <a:ext cx="1828800" cy="457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0627" y="207568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4:30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2067" y="26060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QR 쿠폰 + 카카오 공유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2067" y="31089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쿠폰 발행 → QR 스캔 통계
→ 카카오톡 채널 공유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2067" y="42976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9A6700"/>
                </a:solidFill>
                <a:latin typeface="Consolas"/>
              </a:rPr>
              <a:t>coupons/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41067" y="32918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9A6700"/>
                </a:solidFill>
                <a:latin typeface="Arial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88739" y="32918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9A6700"/>
                </a:solidFill>
                <a:latin typeface="Arial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6411" y="32918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9A6700"/>
                </a:solidFill>
                <a:latin typeface="Arial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84083" y="32918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9A6700"/>
                </a:solidFill>
                <a:latin typeface="Arial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31755" y="3291840"/>
            <a:ext cx="118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9A6700"/>
                </a:solidFill>
                <a:latin typeface="Arial"/>
              </a:rPr>
              <a:t>→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029200"/>
            <a:ext cx="1109167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검증 — QA Round 1·2·3 (페르소나 300+명 / 6명 7-day journey 시뮬)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623560"/>
            <a:ext cx="2697480" cy="8686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D0 가입 완료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"/>
              </a:rPr>
              <a:t>73%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62179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마케팅 직군 P002 88%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5623560"/>
            <a:ext cx="2697480" cy="8686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29584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D1 푸시 클릭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9584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"/>
              </a:rPr>
              <a:t>48%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9584" y="62179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마케팅 직군 P002 60%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36208" y="5623560"/>
            <a:ext cx="2697480" cy="8686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3368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D7 retention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3368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"/>
              </a:rPr>
              <a:t>38%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62179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마케팅 직군 P002 55%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79992" y="5623560"/>
            <a:ext cx="2697480" cy="8686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17152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550"/>
                </a:solidFill>
                <a:latin typeface="맑은 고딕"/>
              </a:rPr>
              <a:t>D28 retention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17152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Arial"/>
              </a:rPr>
              <a:t>18%*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17152" y="62179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마케팅 직군 P002 28%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A5550"/>
                </a:solidFill>
                <a:latin typeface="맑은 고딕"/>
              </a:rPr>
              <a:t>* 9건 P0 fix 후 D30 25%+ 목표 (INV1 합격선) · 전체 검증 산출물 11건 별도 첨부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11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07 · 시스템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FastAPI · Next.js · PostgreSQL · ChromaDB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691640"/>
            <a:ext cx="7315200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109728" cy="118872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A6700"/>
                </a:solidFill>
                <a:latin typeface="Arial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Next.js 14 App Router · TypeScript · Tailwind
PWA · Zustand · Web Speech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219456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240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9A6700"/>
                </a:solidFill>
                <a:latin typeface="맑은 고딕"/>
              </a:rPr>
              <a:t>7 페이지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399" y="219456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9" y="2240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9A6700"/>
                </a:solidFill>
                <a:latin typeface="맑은 고딕"/>
              </a:rPr>
              <a:t>PWA 오프라인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75519" y="219456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19" y="2240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9A6700"/>
                </a:solidFill>
                <a:latin typeface="맑은 고딕"/>
              </a:rPr>
              <a:t>STT 음성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835639" y="219456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35639" y="2240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9A6700"/>
                </a:solidFill>
                <a:latin typeface="맑은 고딕"/>
              </a:rPr>
              <a:t>한글 시니어 모드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17520"/>
            <a:ext cx="7315200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109728" cy="11887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91C1C"/>
                </a:solidFill>
                <a:latin typeface="Arial"/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52044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FastAPI · async/await · Pydantic v2 · Alembic
31 routes · APScheduler 크론 3개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352044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맑은 고딕"/>
              </a:rPr>
              <a:t>JWT 회전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15399" y="352044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399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맑은 고딕"/>
              </a:rPr>
              <a:t>rate limit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19" y="352044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19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맑은 고딕"/>
              </a:rPr>
              <a:t>phased 패턴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35639" y="352044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639" y="35661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B91C1C"/>
                </a:solidFill>
                <a:latin typeface="맑은 고딕"/>
              </a:rPr>
              <a:t>k-anonymity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43400"/>
            <a:ext cx="7315200" cy="118872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343400"/>
            <a:ext cx="109728" cy="11887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480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4632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PostgreSQL 15 + ChromaDB · 시드 22건
8 SQLAlchemy 모델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484632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55279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  <a:latin typeface="맑은 고딕"/>
              </a:rPr>
              <a:t>벡터 인덱싱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5399" y="484632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399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  <a:latin typeface="맑은 고딕"/>
              </a:rPr>
              <a:t>InsightCache 주간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19" y="484632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19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  <a:latin typeface="맑은 고딕"/>
              </a:rPr>
              <a:t>ICP Learner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35639" y="4846320"/>
            <a:ext cx="914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35639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1A1A1A"/>
                </a:solidFill>
                <a:latin typeface="맑은 고딕"/>
              </a:rPr>
              <a:t>암호화 토큰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27889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A5550"/>
                </a:solidFill>
                <a:latin typeface="Arial"/>
              </a:rPr>
              <a:t>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114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5A5550"/>
                </a:solidFill>
                <a:latin typeface="Arial"/>
              </a:rPr>
              <a:t>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외부 통합 — 6개 서비스 · 8 API 엔드포인트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080760"/>
            <a:ext cx="1783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19963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맑은 고딕"/>
              </a:rPr>
              <a:t>서울 열린데이터광장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6080760"/>
            <a:ext cx="1783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68880" y="619963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맑은 고딕"/>
              </a:rPr>
              <a:t>국세청 사업자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6080760"/>
            <a:ext cx="1783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619963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맑은 고딕"/>
              </a:rPr>
              <a:t>카카오 OAuth + Local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35040" y="6080760"/>
            <a:ext cx="1783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26480" y="619963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맑은 고딕"/>
              </a:rPr>
              <a:t>OpenAI GPT-4o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6080760"/>
            <a:ext cx="1783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55280" y="619963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맑은 고딕"/>
              </a:rPr>
              <a:t>기상청 단기예보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6080760"/>
            <a:ext cx="1783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84080" y="619963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맑은 고딕"/>
              </a:rPr>
              <a:t>Firebase FCM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12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07 · 데이터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Phased Pattern — DB 세션 조기 해제로 동시성 확보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맑은 고딕"/>
              </a:rPr>
              <a:t>기존 anti-pattern (단일 세션 점유)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5303520" cy="1828800"/>
          </a:xfrm>
          <a:prstGeom prst="rect">
            <a:avLst/>
          </a:prstGeom>
          <a:solidFill>
            <a:srgbClr val="FBE4E4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4937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nsolas"/>
              </a:rPr>
              <a:t>@router.get('/dashboard')
async def(db: AsyncSession = Depends(get_db)):
    # 14-coroutine gather 동안
    # PG connection 점유 (10-30초)
    sales, ... = await asyncio.gather(seoul.get_*())
    return ...
→ 동시 사용자 10명 시 풀 고갈
→ kakao_callback 24초 hang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4C3A"/>
                </a:solidFill>
                <a:latin typeface="맑은 고딕"/>
              </a:rPr>
              <a:t>✓ Phased Pattern (PRIORITY-VERIFY 1순위 fix)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5440680" cy="1828800"/>
          </a:xfrm>
          <a:prstGeom prst="rect">
            <a:avLst/>
          </a:prstGeom>
          <a:solidFill>
            <a:srgbClr val="DFEAE2"/>
          </a:solidFill>
          <a:ln w="9525">
            <a:solidFill>
              <a:srgbClr val="0F4C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nsolas"/>
              </a:rPr>
              <a:t>@router.get('/dashboard')
async def(current_user):
    async with async_session_factory() as db:
        # Phase A: DB 쿼리만 (짧게)
    sales, ... = await asyncio.gather(seoul.*)  # B
    async with async_session_factory() as db:
        # Phase A2: 캐시 저장
→ 카카오 콜백 24초 → 0.25초 (실측)
→ pool 효율 100x 개선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31 Routes — Phased Pattern 적용 현황 (P0-C 후)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2286000" cy="7772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Phased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4526280"/>
            <a:ext cx="8732520" cy="77724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61772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/dashboard, /insights/competition, /insights/marketing,
/insights/menu-strategy, /insights/deep-report, /insights/survival-score,
/onboarding/complete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40680"/>
            <a:ext cx="2286000" cy="77724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기존 패턴 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5440680"/>
            <a:ext cx="8732520" cy="77724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553212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/auth/* (commit 짧음), /coupons/*, /subsidies/*,
/reports/weekly, /actions/*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0F4C3A"/>
                </a:solidFill>
                <a:latin typeface="맑은 고딕"/>
              </a:rPr>
              <a:t>✓ alembic 7개 마이그레이션 / ✓ 동시 부하 10명 응답 ≤ 5초 / ✓ DB 풀 점유율 ≤ 30%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13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08 · 주요 화면 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대시보드 UI — 폐업 매트릭스 결정론이 화면에 닿는 방식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📱 대시보드 (홈)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5486400" cy="457200"/>
          </a:xfrm>
          <a:prstGeom prst="rect">
            <a:avLst/>
          </a:prstGeom>
          <a:solidFill>
            <a:srgbClr val="EDE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안녕하세요, 사장님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마포 한식집 OOO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97480"/>
            <a:ext cx="5212080" cy="640080"/>
          </a:xfrm>
          <a:prstGeom prst="rect">
            <a:avLst/>
          </a:prstGeom>
          <a:solidFill>
            <a:srgbClr val="F4E5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Arial"/>
              </a:rPr>
              <a:t>신청 가능 지원금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  <a:latin typeface="Arial"/>
              </a:rPr>
              <a:t>2,470,000원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4937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9A6700"/>
                </a:solidFill>
                <a:latin typeface="맑은 고딕"/>
              </a:rPr>
              <a:t>매칭 5건 · D-14 임박 2건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29000"/>
            <a:ext cx="5212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6700"/>
                </a:solidFill>
                <a:latin typeface="맑은 고딕"/>
              </a:rPr>
              <a:t>경영 위험도 · 주의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474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9A6700"/>
                </a:solidFill>
                <a:latin typeface="Arial"/>
              </a:rPr>
              <a:t>67/100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5A5550"/>
                </a:solidFill>
                <a:latin typeface="맑은 고딕"/>
              </a:rPr>
              <a:t>출처: 서울 열린데이터 · 점수↑ = 위험↑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069080"/>
            <a:ext cx="5212080" cy="77724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14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A6700"/>
                </a:solidFill>
                <a:latin typeface="맑은 고딕"/>
              </a:rPr>
              <a:t>오늘의 액션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97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단골 SMS 발송 + 재방문 쿠폰 1종 즉시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5A5550"/>
                </a:solidFill>
                <a:latin typeface="맑은 고딕"/>
              </a:rPr>
              <a:t>근거: 매출 -5.4% (서울 VwsmTrdarSelngQq Q3)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937760"/>
            <a:ext cx="52120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83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마포구 로컬크리에이터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12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B91C1C"/>
                </a:solidFill>
                <a:latin typeface="맑은 고딕"/>
              </a:rPr>
              <a:t>마포구청 · 마감 D-7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29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91C1C"/>
                </a:solidFill>
                <a:latin typeface="Arial"/>
              </a:rPr>
              <a:t>800만원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669280"/>
            <a:ext cx="52120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733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맑은 고딕"/>
              </a:rPr>
              <a:t>유동인구 (분기 일평균)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436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F4C3A"/>
                </a:solidFill>
                <a:latin typeface="Arial"/>
              </a:rPr>
              <a:t>전일 대비 +3.2%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📊 폐업 매트릭스 카드 (특집)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103120"/>
            <a:ext cx="5257800" cy="43891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EE500"/>
                </a:solidFill>
                <a:latin typeface="Arial"/>
              </a:rPr>
              <a:t>특집 · 폐업 패턴 매칭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4688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743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EE500"/>
                </a:solidFill>
                <a:latin typeface="맑은 고딕"/>
              </a:rPr>
              <a:t>/ 100 · 관찰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971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유사도 60%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3337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같은 동네 한식 8곳이 평균 53개월에 폐업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EE500"/>
                </a:solidFill>
                <a:latin typeface="맑은 고딕"/>
              </a:rPr>
              <a:t>위험 신호  3 / 5건</a:t>
            </a:r>
          </a:p>
        </p:txBody>
      </p:sp>
      <p:sp>
        <p:nvSpPr>
          <p:cNvPr id="41" name="Oval 40"/>
          <p:cNvSpPr/>
          <p:nvPr/>
        </p:nvSpPr>
        <p:spPr>
          <a:xfrm>
            <a:off x="6537960" y="4224528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4160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매출 감소 -5.4%</a:t>
            </a:r>
          </a:p>
        </p:txBody>
      </p:sp>
      <p:sp>
        <p:nvSpPr>
          <p:cNvPr id="43" name="Oval 42"/>
          <p:cNvSpPr/>
          <p:nvPr/>
        </p:nvSpPr>
        <p:spPr>
          <a:xfrm>
            <a:off x="6537960" y="4498848"/>
            <a:ext cx="91440" cy="91440"/>
          </a:xfrm>
          <a:prstGeom prst="ellipse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44348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폐업률 7.2%</a:t>
            </a:r>
          </a:p>
        </p:txBody>
      </p:sp>
      <p:sp>
        <p:nvSpPr>
          <p:cNvPr id="45" name="Oval 44"/>
          <p:cNvSpPr/>
          <p:nvPr/>
        </p:nvSpPr>
        <p:spPr>
          <a:xfrm>
            <a:off x="6537960" y="4773168"/>
            <a:ext cx="91440" cy="91440"/>
          </a:xfrm>
          <a:prstGeom prst="ellipse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4709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상권 정체</a:t>
            </a:r>
          </a:p>
        </p:txBody>
      </p:sp>
      <p:sp>
        <p:nvSpPr>
          <p:cNvPr id="47" name="Oval 46"/>
          <p:cNvSpPr/>
          <p:nvPr/>
        </p:nvSpPr>
        <p:spPr>
          <a:xfrm>
            <a:off x="6537960" y="5047488"/>
            <a:ext cx="91440" cy="91440"/>
          </a:xfrm>
          <a:prstGeom prst="ellipse">
            <a:avLst/>
          </a:prstGeom>
          <a:solidFill>
            <a:srgbClr val="9A9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49834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90"/>
                </a:solidFill>
                <a:latin typeface="맑은 고딕"/>
              </a:rPr>
              <a:t>유동인구 +3%</a:t>
            </a:r>
          </a:p>
        </p:txBody>
      </p:sp>
      <p:sp>
        <p:nvSpPr>
          <p:cNvPr id="49" name="Oval 48"/>
          <p:cNvSpPr/>
          <p:nvPr/>
        </p:nvSpPr>
        <p:spPr>
          <a:xfrm>
            <a:off x="6537960" y="5321808"/>
            <a:ext cx="91440" cy="91440"/>
          </a:xfrm>
          <a:prstGeom prst="ellipse">
            <a:avLst/>
          </a:prstGeom>
          <a:solidFill>
            <a:srgbClr val="9A9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257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90"/>
                </a:solidFill>
                <a:latin typeface="맑은 고딕"/>
              </a:rPr>
              <a:t>영업기간 70%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5577840"/>
            <a:ext cx="4983480" cy="777240"/>
          </a:xfrm>
          <a:prstGeom prst="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0" y="56509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B91C1C"/>
                </a:solidFill>
                <a:latin typeface="맑은 고딕"/>
              </a:rPr>
              <a:t>지금 해야 할 단 1가지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852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이번 주 단골 SMS + 재방문 쿠폰 1종 즉시 배포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14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08 · 주요 화면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인사이트·지원사업·쿠폰 — 데이터 출처 + 단위 명시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691640"/>
            <a:ext cx="3657600" cy="4572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📈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경쟁 분석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420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분기 단위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8 Seoul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15468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246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마케팅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월 추정 (AI)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49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GPT-4o + RAG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11480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206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집중분석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622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분기 + AI prose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SWOT/TOWS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07492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1663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메뉴 전략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223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AI 추정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Kakao 경쟁사 인덱스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1691640"/>
            <a:ext cx="3657600" cy="4572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1691640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17830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💰 지원사업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2286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매칭 (RAG)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25420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ICP rerank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보조금 22건+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62272" y="315468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07992" y="3246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매칭 사유 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3502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투명한 매칭 근거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3749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출처: 시드 큐레이팅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462272" y="411480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07992" y="4206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D-day 임박 강조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4622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마감 14일 이내 빨강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4709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손실 프레이밍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462272" y="507492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07992" y="51663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AI 사업계획서 초안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07992" y="54223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GPT-4o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7992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rate limit user/시간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93024" y="1691640"/>
            <a:ext cx="3657600" cy="4572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93024" y="1691640"/>
            <a:ext cx="36576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0184" y="178308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🎫 쿠폰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0184" y="2286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QR 1탭 발행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0184" y="254203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Pydantic 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4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discount_type Literal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84464" y="315468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30184" y="32461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HMAC 서명 스캔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0184" y="35021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변조 방지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0184" y="3749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settings.secret_key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84464" y="411480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330184" y="4206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카카오 채널 공유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0184" y="446227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fcm_token + 알림톡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0184" y="47091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ADR-004 v2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84464" y="5074920"/>
            <a:ext cx="3474720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330184" y="51663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맑은 고딕"/>
              </a:rPr>
              <a:t>스캔 통계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0184" y="542239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9A6700"/>
                </a:solidFill>
                <a:latin typeface="맑은 고딕"/>
              </a:rPr>
              <a:t>실데이터 / IP rate limit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0184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5550"/>
                </a:solidFill>
                <a:latin typeface="Consolas"/>
              </a:rPr>
              <a:t>REAL DB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6400800"/>
            <a:ext cx="11091672" cy="4114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FEE500"/>
                </a:solidFill>
                <a:latin typeface="맑은 고딕"/>
              </a:rPr>
              <a:t>✓ 모든 카드에 출처 라벨 (서울 VwsmTrdarSelngQq · 2024 4분기) · ✓ AI 추정치는 amber '추정' 칩 자동 표시 · ✓ k&lt;10 사회적 증거 비표시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15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09 · 사업화·시장성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TAM · SAM · SOM — VC 시각의 시장 사이즈 (가설)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828800"/>
            <a:ext cx="10515600" cy="10972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Arial"/>
              </a:rPr>
              <a:t>Total Addressable Market (가정)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전국 소상공인 (행정안전부 통계 기반)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2240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91C1C"/>
                </a:solidFill>
                <a:latin typeface="맑은 고딕"/>
              </a:rPr>
              <a:t>단가 가정 9,900원 × 12개월 — 시장 잠재력 가설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6835140" cy="109728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Arial"/>
              </a:rPr>
              <a:t>Serviceable Available (가정)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64693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서울시 사업자등록 소상공인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6660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맑은 고딕"/>
              </a:rPr>
              <a:t>1차 진입 가능 시장 (서울 우선)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89120"/>
            <a:ext cx="3680459" cy="109728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Arial"/>
              </a:rPr>
              <a:t>Serviceable Obtainable (3년 목표)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66360"/>
            <a:ext cx="33146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전환율 5% 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979" y="4800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F4C3A"/>
                </a:solidFill>
                <a:latin typeface="맑은 고딕"/>
              </a:rPr>
              <a:t>ARR 추정 — 결제 출시 후 실측 갱신 예정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경쟁 매트릭스 — Series A 심사관 시각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626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9A6700"/>
                </a:solidFill>
                <a:latin typeface="Arial"/>
              </a:rPr>
              <a:t>SSGI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26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Arial"/>
              </a:rPr>
              <a:t>타사 자영업 도구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263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5A5550"/>
                </a:solidFill>
                <a:latin typeface="Arial"/>
              </a:rPr>
              <a:t>범용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·  손실 프레이밍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611112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·  공공데이터 8종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775704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·  RAG 매칭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940296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·  폐업 사전 경보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710488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맑은 고딕"/>
              </a:rPr>
              <a:t>·  한국 시니어 UX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16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10 · 비즈니스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Free → Pro 전환 + 수익 구조 + LTV/CAC 가설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📦 단가 모델 — Freemium SaaS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3611880" cy="2743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700"/>
                </a:solidFill>
                <a:latin typeface="Arial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0원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월 3회 쿠폰 발행
매주 1회 마케팅 인사이트
기본 폐업 매트릭스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148840"/>
            <a:ext cx="3611880" cy="27432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2860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6060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9,900원/월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3756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월 무제한 쿠폰
실시간 마케팅 인사이트
AI 사업계획서 초안 (월 5회)
카카오 알림톡 발송
CSV/JSON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2148840"/>
            <a:ext cx="3611880" cy="2743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228600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EE500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606040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협의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3337560"/>
            <a:ext cx="33375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맑은 고딕"/>
              </a:rPr>
              <a:t>프랜차이즈 본사
다점포 통합 대시보드
API 연동 + SLA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074920"/>
            <a:ext cx="1109167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💸 LTV/CAC 가설 (결제 모듈 출시 후 실측 예정 — 현 추정)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2697480" cy="10972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Arial"/>
              </a:rPr>
              <a:t>CAC 목표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≤ 12,000원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63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A5550"/>
                </a:solidFill>
                <a:latin typeface="맑은 고딕"/>
              </a:rPr>
              <a:t>카카오·인스타 광고 단가
베타 출시 후 측정 시작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92424" y="5623560"/>
            <a:ext cx="2697480" cy="10972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9584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Arial"/>
              </a:rPr>
              <a:t>LTV 목표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≥ 36,000원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9584" y="6263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A5550"/>
                </a:solidFill>
                <a:latin typeface="맑은 고딕"/>
              </a:rPr>
              <a:t>9,900원 × 잔존 3개월(보수)
결제 모듈 출시 후 측정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8" y="5623560"/>
            <a:ext cx="2697480" cy="10972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Arial"/>
              </a:rPr>
              <a:t>LTV/CAC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측정 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6263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A5550"/>
                </a:solidFill>
                <a:latin typeface="맑은 고딕"/>
              </a:rPr>
              <a:t>VC 합격선 ≥ 3 목표
Year 2 데이터로 검증 예정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79992" y="5623560"/>
            <a:ext cx="2697480" cy="10972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17152" y="56692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6700"/>
                </a:solidFill>
                <a:latin typeface="Arial"/>
              </a:rPr>
              <a:t>Payback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58978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측정 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62636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A5550"/>
                </a:solidFill>
                <a:latin typeface="맑은 고딕"/>
              </a:rPr>
              <a:t>결제 모듈 미출시
베타 후 코호트로 측정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17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11 · 발전 가능성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1년 로드맵 (목표) — Pre-A 투자 유치 → 시리즈 A까지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691640"/>
            <a:ext cx="2697480" cy="41148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2697480" cy="6400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MVP + 결제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✓ 데모데이 통과 (현재 70-80%)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✓ P0 9건 + P1 8건 fix (완료)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PortOne/Toss 결제 모듈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골든셋 회귀 테스트 (GPT 환각 방지)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4632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PostHog 텔레메트리 (D7/D30)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2424" y="1691640"/>
            <a:ext cx="2697480" cy="41148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2424" y="1691640"/>
            <a:ext cx="2697480" cy="64008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9584" y="1783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Q4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20116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유저 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2468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서울시·소상공인진흥공단 파일럿 MOU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0632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보조금 시드 22 → 50건 (실데이터)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657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카카오 알림톡 채널 인증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42519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1,000 MAU 확보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484632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AC (액셀러레이터) 입주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6208" y="1691640"/>
            <a:ext cx="2697480" cy="41148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1691640"/>
            <a:ext cx="2697480" cy="64008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1783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Q1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20116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AC 졸업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2468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Pre-A 5억원 투자 유치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0632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5,000 MAU · 500 Pro 전환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3657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ARR 5,940만원 진입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2519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다국어 지원 (외국인 사장)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84632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비즈메시지 정식 발송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79992" y="1691640"/>
            <a:ext cx="2697480" cy="41148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79992" y="1691640"/>
            <a:ext cx="269748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17830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Q2 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20116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전국 확장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246888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전국 소상공인 5만곳 누적 가입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306324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프랜차이즈 본사 ENT 계약 3개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365760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ARR 3억원 (Pro + ENT)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25196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Series A 30억원 라운드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17152" y="4846320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AI/ML 엔지니어 5명 확보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943600"/>
            <a:ext cx="11091672" cy="77724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🎁 카카오 시너지 — 카카오벤처스 CVC 합격 조건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OAuth 통합 ✓ · 알림톡 채널 인증 진행중 · 카카오맵 가게 데이터 P2 · 카카오싱크/페이 P3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18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12 · ESG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ESG 혁신 — 사회·환경·지배구조 가치 실현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1691640"/>
            <a:ext cx="3703320" cy="5029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3703320" cy="9144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874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148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환경 (정량)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페이퍼리스: 1만 사용자 × 12장 × 연 3회 = 36만장 ≈ 1.8t 종이 ≈ 14.4 tCO2eq/년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POP·전단지 → QR 전환: 가게당 월 50장 × 12개월 × 1만 = 600만장 ≈ 240 tCO2eq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행정복지센터 이동 절감: 1.2km × 3회 × 1만명 ≈ 7.6 tCO2eq/년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PWA 캐싱·GPT 주간 캐시 — 트래픽·연산 에너지 절약 (정량화는 베타 측정)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691640"/>
            <a:ext cx="3703320" cy="5029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691640"/>
            <a:ext cx="3703320" cy="91440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17830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1874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148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사회 (정량 추정)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278892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폐업 방지 추정: 활성 2,500명 × 손실프레이밍 효과 7~15%p = 연 23~49명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56616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  근거: 서울 자영업 폐업률 13.2% × Tversky-Kahneman 손실회피 1.5~2.5x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3434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정보 비대칭 해소 — 시니어 사장님이 보조금 정보 접근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512064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k-anonymity (k≥10) 개인정보 보호 + 자살예방상담 1393 분기 안내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589788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한국 시니어 UX (text-xs 14px, 4단계 등급, 정중 톤 분기)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4464" y="1691640"/>
            <a:ext cx="3703320" cy="50292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4" y="1691640"/>
            <a:ext cx="3703320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783080"/>
            <a:ext cx="1371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8944" y="18745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8944" y="21488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지배구조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278892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ADR 6건 명시 (손실프레이밍·k=10·하루1액션·Kakao&gt;FCM·Chroma·JWT 30일)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356616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QA 라운드 3회 + 5-패널 다중 검토 (실 사용자 인터뷰 0명, 베타 후 진행)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43434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데이터 출처 라벨 의무 (모든 화면 fine-print)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512064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AI 추정치 자동 라벨 (_disclosure.ai_estimated_fields 메타필드)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589788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✓ 오픈소스 의존성 SBOM 관리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19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13 · 자체 시뮬·점검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정적 코드 분석 + 페르소나 시뮬 3 라운드 — 실 사용자 외부 검증은 베타 단계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🔍 점검 규모 — 산출물 11건 (총 4,200줄) · 실 사용자 인터뷰 0명 (베타 출시 후 진행 예정)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3657600" cy="26974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657600" cy="548640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Round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토대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PRIORITY-VERIFY: 핫픽스 24s→0.25s (라이브 로그 실측)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DATA-AUTHENTICITY: 8 RED FLAGS 코드 추적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PERSONAS: 300명 매트릭스 시뮬 (실 인터뷰 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194560"/>
            <a:ext cx="3657600" cy="26974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2194560"/>
            <a:ext cx="3657600" cy="5486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Round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페이지별 시뮬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Auth/Dashboard/Insights/Subsidies 코드 정적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337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40셀 기술 매트릭스 자체 채점 (외부 평가관 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794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GPT 환각 출력 필드 식별 + UI 라벨링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2194560"/>
            <a:ext cx="3657600" cy="269748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194560"/>
            <a:ext cx="3657600" cy="54864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22677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Round 2·3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심화·종합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6명 7-day journey 시뮬 (실측 retention 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3375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Meta cross-ref: 7 cross-cutting + 12 빠진 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7947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맑은 고딕"/>
              </a:rPr>
              <a:t>▸ 14 P0 코드 grep 실재 확인 + 9건 수정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📈 수정 효과 — 실측(파랑) vs 자체 시뮬(주황) 구분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77840"/>
            <a:ext cx="2697480" cy="1143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6700"/>
                </a:solidFill>
                <a:latin typeface="맑은 고딕"/>
              </a:rPr>
              <a:t>kakao callback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521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  <a:latin typeface="Arial"/>
              </a:rPr>
              <a:t>24초 hang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80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4C3A"/>
                </a:solidFill>
                <a:latin typeface="Arial"/>
              </a:rPr>
              <a:t>→ 0.25초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46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5A5550"/>
                </a:solidFill>
                <a:latin typeface="맑은 고딕"/>
              </a:rPr>
              <a:t>라이브 로그 실측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2424" y="5577840"/>
            <a:ext cx="2697480" cy="1143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9584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6700"/>
                </a:solidFill>
                <a:latin typeface="맑은 고딕"/>
              </a:rPr>
              <a:t>DB 세션 점유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9584" y="58521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  <a:latin typeface="Arial"/>
              </a:rPr>
              <a:t>단일 세션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9584" y="6080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F4C3A"/>
                </a:solidFill>
                <a:latin typeface="Arial"/>
              </a:rPr>
              <a:t>→ phased 4 라우트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9584" y="6446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5A5550"/>
                </a:solidFill>
                <a:latin typeface="맑은 고딕"/>
              </a:rPr>
              <a:t>코드 변경 실측 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5577840"/>
            <a:ext cx="2697480" cy="1143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6700"/>
                </a:solidFill>
                <a:latin typeface="맑은 고딕"/>
              </a:rPr>
              <a:t>기술 매트릭스 자체채점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58521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  <a:latin typeface="Arial"/>
              </a:rPr>
              <a:t>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6080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A6700"/>
                </a:solidFill>
                <a:latin typeface="Arial"/>
              </a:rPr>
              <a:t>→ 60%+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6446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5A5550"/>
                </a:solidFill>
                <a:latin typeface="맑은 고딕"/>
              </a:rPr>
              <a:t>자체 채점 (외부 평가 X)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9992" y="5577840"/>
            <a:ext cx="2697480" cy="1143000"/>
          </a:xfrm>
          <a:prstGeom prst="rect">
            <a:avLst/>
          </a:prstGeom>
          <a:solidFill>
            <a:srgbClr val="EDE6D9"/>
          </a:solidFill>
          <a:ln w="9525">
            <a:solidFill>
              <a:srgbClr val="D4CC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17152" y="56235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6700"/>
                </a:solidFill>
                <a:latin typeface="맑은 고딕"/>
              </a:rPr>
              <a:t>데모 통과 확률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58521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91C1C"/>
                </a:solidFill>
                <a:latin typeface="Arial"/>
              </a:rPr>
              <a:t>0~10%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7152" y="608076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9A6700"/>
                </a:solidFill>
                <a:latin typeface="Arial"/>
              </a:rPr>
              <a:t>→ 70~80%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7152" y="644652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5A5550"/>
                </a:solidFill>
                <a:latin typeface="맑은 고딕"/>
              </a:rPr>
              <a:t>자체 추정 (실 응모 X)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SSGI AI COACH · 2026 서울시 빅데이터 활용 경진대회 · 창업부문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400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Arial"/>
              </a:rPr>
              <a:t>P. 20 /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14 · 개발 툴 + 참고문헌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맑은 고딕"/>
              </a:rPr>
              <a:t>기술 스택 · 개발 툴 · 참고문헌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🛠 기술 스택 (버전 잠금)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Next.js 14.2.4 · TypeScript 5 · Tailwind 3 · Zustand · next-pwa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060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FastAPI · Python 3.11+ · SQLAlchemy 2 (async) · Pydantic v2 · Alembic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08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089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PostgreSQL 15 · ChromaDB 0.5 (PersistentClient)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AI/ML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6118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OpenAI GPT-4o · text-embedding-3-small · APScheduler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11480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Kakao OAuth · JWT (HS256) · token_version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A6700"/>
                </a:solidFill>
                <a:latin typeface="Arial"/>
              </a:rPr>
              <a:t>Deploy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177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맑은 고딕"/>
              </a:rPr>
              <a:t>Vercel (FE) · Railway (BE) · Docker Compose (Local)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맑은 고딕"/>
              </a:rPr>
              <a:t>📚 활용 데이터 &amp; 라이브러리 출처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서울 열린데이터광장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103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data.seoul.go.kr — 8 데이터셋 (VwsmTrdar*, SPOP_*, culturalEventInfo)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국세청 사업자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api.odcloud.kr — 사업자 상태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카카오 디벨로퍼스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834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developers.kakao.com — OAuth, Local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기상청 API 허브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200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apihub.kma.go.kr — 단기예보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5661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OpenAI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66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platform.openai.com — GPT-4o + embeddings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Pretendard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319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github.com/orioncactus/pretendard — 한글 폰트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ChromaDB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297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trychroma.com — Vector 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맑은 고딕"/>
              </a:rPr>
              <a:t>python-pptx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6634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A5550"/>
                </a:solidFill>
                <a:latin typeface="Arial"/>
              </a:rPr>
              <a:t>pptx 자동 생성 (이 문서)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349240"/>
            <a:ext cx="11091672" cy="0"/>
          </a:xfrm>
          <a:prstGeom prst="line">
            <a:avLst/>
          </a:prstGeom>
          <a:ln w="9525">
            <a:solidFill>
              <a:srgbClr val="D4C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맑은 고딕"/>
              </a:rPr>
              <a:t>📖 학술 참고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521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·  Kahneman, D. &amp; Tversky, A. (1979). Prospect Theory: An Analysis of Decision under Risk. Econometrica 47(2). — 손실 프레이밍 ADR 001 근거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05332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·  Tversky, A. &amp; Kahneman, D. (1981). The Framing of Decisions and the Psychology of Choice. Science 211. — 프레이밍 효과 보강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254496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·  Sweeney, L. (2002). k-Anonymity: A Model for Protecting Privacy. Int. J. Uncertainty Fuzziness Knowl.-Based Syst. 10(5). — ADR 002 근거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·  Cialdini, R. B. (2006). Influence: The Psychology of Persuasion. — 사회적 증거 원리 보강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65683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5550"/>
                </a:solidFill>
                <a:latin typeface="맑은 고딕"/>
              </a:rPr>
              <a:t>·  서울 열린데이터광장 (2025). VwsmTrdarIxQq 상권변화지수 2025 4분기 — 실측 통계 (4.5년 / 9.8년 출처)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914400" cy="5943600"/>
          </a:xfrm>
          <a:prstGeom prst="rect">
            <a:avLst/>
          </a:prstGeom>
          <a:solidFill>
            <a:srgbClr val="FEE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EE500"/>
                </a:solidFill>
                <a:latin typeface="Arial"/>
              </a:rPr>
              <a:t>FINAL ·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맑은 고딕"/>
              </a:rPr>
              <a:t>사장님이
매일 받는
1줄 처방.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EE500"/>
                </a:solidFill>
                <a:latin typeface="맑은 고딕"/>
              </a:rPr>
              <a:t>"추천합니다"가 아니라 "놓치고 있습니다."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71600" y="5212080"/>
            <a:ext cx="10332720" cy="0"/>
          </a:xfrm>
          <a:prstGeom prst="line">
            <a:avLst/>
          </a:prstGeom>
          <a:ln w="12700">
            <a:solidFill>
              <a:srgbClr val="FEE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5394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EE500"/>
                </a:solidFill>
                <a:latin typeface="맑은 고딕"/>
              </a:rPr>
              <a:t>한 명의 사장님이라도 폐업의 절벽에서 한 발 물러서게 할 수 있다면,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EE500"/>
                </a:solidFill>
                <a:latin typeface="맑은 고딕"/>
              </a:rPr>
              <a:t>이 시스템은 그것만으로 충분합니다.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44652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TEAM SSGI · 정수현 · 구혁모 · 나은민 · 이준수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