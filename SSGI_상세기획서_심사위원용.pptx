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20.png"/><Relationship Id="rId9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556000" cy="685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609600"/>
            <a:ext cx="274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2026 SEOUL BIG DATA
COMPETITION · 창업부문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5613400"/>
            <a:ext cx="380999" cy="0"/>
          </a:xfrm>
          <a:prstGeom prst="line">
            <a:avLst/>
          </a:prstGeom>
          <a:ln w="25400">
            <a:solidFill>
              <a:srgbClr val="1B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5765800"/>
            <a:ext cx="2743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
</a:t>
            </a:r>
            <a:r>
              <a:rPr sz="1000" b="0">
                <a:solidFill>
                  <a:srgbClr val="D7DCE7"/>
                </a:solidFill>
                <a:latin typeface="Pretendard Variable"/>
              </a:rPr>
              <a:t>제출 · 2026. 05. 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6502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4A5878"/>
                </a:solidFill>
                <a:latin typeface="Pretendard Variable"/>
              </a:rPr>
              <a:t>PRODUCT · SERVICE TRACK · 상세기획서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0" y="1244599"/>
            <a:ext cx="761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4C92"/>
                </a:solidFill>
                <a:latin typeface="Pretendard Variable"/>
              </a:rPr>
              <a:t>SOSANGGONGIN · AI BUSINESS COACH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0" y="1523999"/>
            <a:ext cx="761999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B1A33"/>
                </a:solidFill>
                <a:latin typeface="Pretendard Variable"/>
              </a:rPr>
              <a:t>SSGI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0" y="2565400"/>
            <a:ext cx="7619999" cy="355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F2A44"/>
                </a:solidFill>
                <a:latin typeface="Pretendard Variable"/>
              </a:rPr>
              <a:t>소상공인 AI 경영코치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0" y="3276599"/>
            <a:ext cx="7619999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500" b="1">
                <a:solidFill>
                  <a:srgbClr val="0B1A33"/>
                </a:solidFill>
                <a:latin typeface="Pretendard Variable"/>
              </a:rPr>
              <a:t>사장님이 모르고 놓치는 돈,
</a:t>
            </a:r>
            <a:r>
              <a:rPr sz="3500" b="1">
                <a:solidFill>
                  <a:srgbClr val="0F4C92"/>
                </a:solidFill>
                <a:latin typeface="Pretendard Variable"/>
              </a:rPr>
              <a:t>서울시 데이터</a:t>
            </a:r>
            <a:r>
              <a:rPr sz="3500" b="1">
                <a:solidFill>
                  <a:srgbClr val="0B1A33"/>
                </a:solidFill>
                <a:latin typeface="Pretendard Variable"/>
              </a:rPr>
              <a:t>로 찾아드립니다.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4000" y="5308600"/>
            <a:ext cx="7619999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4000" y="5511800"/>
            <a:ext cx="2413000" cy="177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LIVE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4000" y="5715000"/>
            <a:ext cx="2413000" cy="533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0B1A33"/>
                </a:solidFill>
                <a:latin typeface="Pretendard Variable"/>
              </a:rPr>
              <a:t>10</a:t>
            </a:r>
            <a:r>
              <a:rPr sz="1700" b="1">
                <a:solidFill>
                  <a:srgbClr val="4A5878"/>
                </a:solidFill>
                <a:latin typeface="Pretendard Variable"/>
              </a:rPr>
              <a:t> 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4000" y="62865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지금 실제 작동 중인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000" y="5511800"/>
            <a:ext cx="2413000" cy="177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SEOUL OPEN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1000" y="5715000"/>
            <a:ext cx="2413000" cy="533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0F4C92"/>
                </a:solidFill>
                <a:latin typeface="Pretendard Variable"/>
              </a:rPr>
              <a:t>8</a:t>
            </a:r>
            <a:r>
              <a:rPr sz="1700" b="1">
                <a:solidFill>
                  <a:srgbClr val="4A5878"/>
                </a:solidFill>
                <a:latin typeface="Pretendard Variable"/>
              </a:rPr>
              <a:t> 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0" y="62865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열린데이터광장 데이터셋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0" y="5511800"/>
            <a:ext cx="2413000" cy="177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PAID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0" y="5715000"/>
            <a:ext cx="2413000" cy="533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0B1A33"/>
                </a:solidFill>
                <a:latin typeface="Pretendard Variable"/>
              </a:rPr>
              <a:t>0</a:t>
            </a:r>
            <a:r>
              <a:rPr sz="1700" b="1">
                <a:solidFill>
                  <a:srgbClr val="4A5878"/>
                </a:solidFill>
                <a:latin typeface="Pretendard Variable"/>
              </a:rPr>
              <a:t> 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000" y="62865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베타 · 트랙션 부풀리지 않습니다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02 ·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2800"/>
            <a:ext cx="8254999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상세기획서 구성 — 평가표 매칭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435100"/>
            <a:ext cx="825499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분량과 강조는 심사 가중치(배경·취지 10 / 기능 상세 30 / 앱 60)에 맞춰 배분했어요.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2399" y="533399"/>
            <a:ext cx="2540000" cy="12445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20199" y="635000"/>
            <a:ext cx="2209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8A95AE"/>
                </a:solidFill>
                <a:latin typeface="Pretendard Variable"/>
              </a:rPr>
              <a:t>SCORING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0199" y="825499"/>
            <a:ext cx="749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F2A44"/>
                </a:solidFill>
                <a:latin typeface="Pretendard Variable"/>
              </a:rPr>
              <a:t>기능 상세 설명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20299" y="876299"/>
            <a:ext cx="1117600" cy="50800"/>
          </a:xfrm>
          <a:prstGeom prst="roundRect">
            <a:avLst>
              <a:gd name="adj" fmla="val 5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20299" y="876299"/>
            <a:ext cx="1117600" cy="50800"/>
          </a:xfrm>
          <a:prstGeom prst="roundRect">
            <a:avLst>
              <a:gd name="adj" fmla="val 5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88700" y="825499"/>
            <a:ext cx="241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>
                <a:solidFill>
                  <a:srgbClr val="1F2A44"/>
                </a:solidFill>
                <a:latin typeface="Pretendard Variable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0199" y="1009649"/>
            <a:ext cx="749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F2A44"/>
                </a:solidFill>
                <a:latin typeface="Pretendard Variable"/>
              </a:rPr>
              <a:t>화면 구동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0299" y="1060450"/>
            <a:ext cx="1117600" cy="50800"/>
          </a:xfrm>
          <a:prstGeom prst="roundRect">
            <a:avLst>
              <a:gd name="adj" fmla="val 5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20299" y="1060450"/>
            <a:ext cx="745066" cy="50800"/>
          </a:xfrm>
          <a:prstGeom prst="roundRect">
            <a:avLst>
              <a:gd name="adj" fmla="val 50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88700" y="1009649"/>
            <a:ext cx="241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>
                <a:solidFill>
                  <a:srgbClr val="1F2A44"/>
                </a:solidFill>
                <a:latin typeface="Pretendard Variable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0199" y="1193800"/>
            <a:ext cx="749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F2A44"/>
                </a:solidFill>
                <a:latin typeface="Pretendard Variable"/>
              </a:rPr>
              <a:t>UI/UX 완성도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20299" y="1244599"/>
            <a:ext cx="1117600" cy="50800"/>
          </a:xfrm>
          <a:prstGeom prst="roundRect">
            <a:avLst>
              <a:gd name="adj" fmla="val 5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20299" y="1244599"/>
            <a:ext cx="745066" cy="50800"/>
          </a:xfrm>
          <a:prstGeom prst="roundRect">
            <a:avLst>
              <a:gd name="adj" fmla="val 50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88700" y="1193800"/>
            <a:ext cx="241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>
                <a:solidFill>
                  <a:srgbClr val="1F2A44"/>
                </a:solidFill>
                <a:latin typeface="Pretendard Variable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199" y="1377950"/>
            <a:ext cx="749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F2A44"/>
                </a:solidFill>
                <a:latin typeface="Pretendard Variable"/>
              </a:rPr>
              <a:t>공공·AI 활용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0299" y="1428750"/>
            <a:ext cx="1117600" cy="50800"/>
          </a:xfrm>
          <a:prstGeom prst="roundRect">
            <a:avLst>
              <a:gd name="adj" fmla="val 5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20299" y="1428750"/>
            <a:ext cx="745066" cy="50800"/>
          </a:xfrm>
          <a:prstGeom prst="roundRect">
            <a:avLst>
              <a:gd name="adj" fmla="val 50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88700" y="1377950"/>
            <a:ext cx="241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>
                <a:solidFill>
                  <a:srgbClr val="1F2A44"/>
                </a:solidFill>
                <a:latin typeface="Pretendard Variable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0199" y="1562100"/>
            <a:ext cx="749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F2A44"/>
                </a:solidFill>
                <a:latin typeface="Pretendard Variable"/>
              </a:rPr>
              <a:t>개발 배경·취지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20299" y="1612900"/>
            <a:ext cx="1117600" cy="50800"/>
          </a:xfrm>
          <a:prstGeom prst="roundRect">
            <a:avLst>
              <a:gd name="adj" fmla="val 5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20299" y="1612900"/>
            <a:ext cx="372533" cy="50800"/>
          </a:xfrm>
          <a:prstGeom prst="roundRect">
            <a:avLst>
              <a:gd name="adj" fmla="val 50000"/>
            </a:avLst>
          </a:prstGeom>
          <a:solidFill>
            <a:srgbClr val="4A5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88700" y="1562100"/>
            <a:ext cx="2413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50" b="1">
                <a:solidFill>
                  <a:srgbClr val="1F2A44"/>
                </a:solidFill>
                <a:latin typeface="Pretendard Variable"/>
              </a:rPr>
              <a:t>10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" y="23241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9600" y="2006599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299" y="1993899"/>
            <a:ext cx="4572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표지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9600" y="2051049"/>
            <a:ext cx="1523999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A95AE"/>
                </a:solidFill>
                <a:latin typeface="Pretendard Variable"/>
              </a:rPr>
              <a:t>COVER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600" y="27686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9600" y="24511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3299" y="24384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개발 배경 ① — 사장님의 정보 비대칭 3가지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95800" y="2482850"/>
            <a:ext cx="1447800" cy="177799"/>
          </a:xfrm>
          <a:prstGeom prst="roundRect">
            <a:avLst>
              <a:gd name="adj" fmla="val 3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5800" y="2482850"/>
            <a:ext cx="14478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F4C92"/>
                </a:solidFill>
                <a:latin typeface="Pretendard Variable"/>
              </a:rPr>
              <a:t>배경·취지 10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" y="32131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9600" y="28956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299" y="28829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개발 배경 ② — 누가·왜 + 공공데이터 이용 활성화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95800" y="2927350"/>
            <a:ext cx="1447800" cy="177799"/>
          </a:xfrm>
          <a:prstGeom prst="roundRect">
            <a:avLst>
              <a:gd name="adj" fmla="val 3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5800" y="2927350"/>
            <a:ext cx="14478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F4C92"/>
                </a:solidFill>
                <a:latin typeface="Pretendard Variable"/>
              </a:rPr>
              <a:t>배경·취지 10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600" y="36576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9600" y="33401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299" y="33274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서비스 개요 — 한 줄 정의 + 전체 기능 지도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95800" y="3371850"/>
            <a:ext cx="14478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5800" y="3371850"/>
            <a:ext cx="14478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9600" y="4102099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9600" y="3784599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3299" y="37719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활용 공공데이터 — 서울 8종 + 국세청 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95800" y="3816349"/>
            <a:ext cx="1447800" cy="177799"/>
          </a:xfrm>
          <a:prstGeom prst="roundRect">
            <a:avLst>
              <a:gd name="adj" fmla="val 3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5800" y="3816349"/>
            <a:ext cx="14478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F4C92"/>
                </a:solidFill>
                <a:latin typeface="Pretendard Variable"/>
              </a:rPr>
              <a:t>공공·AI 20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09600" y="45466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09600" y="42291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3299" y="42164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AI 활용 — 결정론 엔진 + RAG + GPT-4o 4층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95800" y="4260850"/>
            <a:ext cx="1447800" cy="177799"/>
          </a:xfrm>
          <a:prstGeom prst="roundRect">
            <a:avLst>
              <a:gd name="adj" fmla="val 3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5800" y="4260850"/>
            <a:ext cx="14478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F4C92"/>
                </a:solidFill>
                <a:latin typeface="Pretendard Variable"/>
              </a:rPr>
              <a:t>공공·AI 20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9600" y="49911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09600" y="46736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299" y="46609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기능 상세 ① — 폐업 위험도 진단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03700" y="4705350"/>
            <a:ext cx="17399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3700" y="4705350"/>
            <a:ext cx="17399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 ★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09600" y="5435599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09600" y="51181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3299" y="51054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기능 상세 ② — 매일 1줄 액션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3700" y="5149849"/>
            <a:ext cx="17399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03700" y="5149849"/>
            <a:ext cx="17399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 ★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09600" y="58801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09600" y="55626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3299" y="5549899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기능 상세 ③ — 지원금 매칭 + AI 사업계획서 초안 (RAG)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03700" y="5594350"/>
            <a:ext cx="17399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03700" y="5594350"/>
            <a:ext cx="17399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 ★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09600" y="6324599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09600" y="6007099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3299" y="59944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기능 상세 ④ — 인사이트: 경쟁·집중 분석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03700" y="6038849"/>
            <a:ext cx="17399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03700" y="6038849"/>
            <a:ext cx="17399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 ★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197600" y="23241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197600" y="2006599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91300" y="1993899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기능 상세 ⑤ — AI 종합 진단 + PREMIUM PDF 진단서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791700" y="2038349"/>
            <a:ext cx="17399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91700" y="2038349"/>
            <a:ext cx="17399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 ★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197600" y="27686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197600" y="24511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91300" y="24384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기능 상세 ⑥ — 마케팅 진단: 채널·카피·객단가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791700" y="2482850"/>
            <a:ext cx="17399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91700" y="2482850"/>
            <a:ext cx="17399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 ★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197600" y="32131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197600" y="28956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91300" y="28829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기능 상세 ⑦ — 메뉴 전략: 갭·시즌·차별화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791700" y="2927350"/>
            <a:ext cx="17399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1700" y="2927350"/>
            <a:ext cx="17399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 ★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197600" y="36576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197600" y="33401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91300" y="33274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기능 상세 ⑧ — 음성 질문 + 서울 문화행사 알림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791700" y="3371850"/>
            <a:ext cx="17399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91700" y="3371850"/>
            <a:ext cx="17399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 ★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197600" y="4102099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197600" y="3784599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91300" y="37719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기능 상세 ⑨ — 카카오페이 결제 + Pro 업그레이드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791700" y="3816349"/>
            <a:ext cx="1739900" cy="177799"/>
          </a:xfrm>
          <a:prstGeom prst="roundRect">
            <a:avLst>
              <a:gd name="adj" fmla="val 30000"/>
            </a:avLst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91700" y="3816349"/>
            <a:ext cx="17399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Pretendard Variable"/>
              </a:rPr>
              <a:t>기능 상세 30 ★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197600" y="45466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197600" y="42291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91300" y="42164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화면 흐름도 — 메인 4탭 → 인사이트 4탭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83800" y="4260850"/>
            <a:ext cx="1447800" cy="177799"/>
          </a:xfrm>
          <a:prstGeom prst="roundRect">
            <a:avLst>
              <a:gd name="adj" fmla="val 3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083800" y="4260850"/>
            <a:ext cx="14478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F4C92"/>
                </a:solidFill>
                <a:latin typeface="Pretendard Variable"/>
              </a:rPr>
              <a:t>화면 구동 20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197600" y="49911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197600" y="46736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91300" y="46609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라이브 화면 — 실제 캡처 모음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083800" y="4705350"/>
            <a:ext cx="1447800" cy="177799"/>
          </a:xfrm>
          <a:prstGeom prst="roundRect">
            <a:avLst>
              <a:gd name="adj" fmla="val 30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083800" y="4705350"/>
            <a:ext cx="14478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F4C92"/>
                </a:solidFill>
                <a:latin typeface="Pretendard Variable"/>
              </a:rPr>
              <a:t>화면 구동 20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6197600" y="5435599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197600" y="51181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19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591300" y="5105400"/>
            <a:ext cx="2730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F2A44"/>
                </a:solidFill>
                <a:latin typeface="Pretendard Variable"/>
              </a:rPr>
              <a:t>UI/UX — 시니어 친화 + 3-클릭 룰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083800" y="5149849"/>
            <a:ext cx="1447800" cy="177799"/>
          </a:xfrm>
          <a:prstGeom prst="roundRect">
            <a:avLst>
              <a:gd name="adj" fmla="val 30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83800" y="5149849"/>
            <a:ext cx="1447800" cy="1777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4A5878"/>
                </a:solidFill>
                <a:latin typeface="Pretendard Variable"/>
              </a:rPr>
              <a:t>UI/UX 20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197600" y="5880100"/>
            <a:ext cx="5334000" cy="0"/>
          </a:xfrm>
          <a:prstGeom prst="line">
            <a:avLst/>
          </a:prstGeom>
          <a:ln w="9525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6197600" y="5562600"/>
            <a:ext cx="330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8A95AE"/>
                </a:solidFill>
                <a:latin typeface="Pretendard Variable"/>
              </a:rPr>
              <a:t>B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91300" y="5549899"/>
            <a:ext cx="457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8A95AE"/>
                </a:solidFill>
                <a:latin typeface="Pretendard Variable"/>
              </a:rPr>
              <a:t>백업 — 시장·로드맵·팀 (2차 발표용)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007600" y="5607049"/>
            <a:ext cx="1523999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8A95AE"/>
                </a:solidFill>
                <a:latin typeface="Pretendard Variable"/>
              </a:rPr>
              <a:t>BACKUP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1차 서류 100점 = 앱 60(공공·AI 20 / 화면 20 / UI·UX 20) + 상세기획서 40(배경·취지 10 / 기능 상세 30) + 결합 가점 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01 · 개발 배경 및 취지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배경·취지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12800"/>
            <a:ext cx="952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사장님은 </a:t>
            </a:r>
            <a:r>
              <a:rPr sz="2800" b="1">
                <a:solidFill>
                  <a:srgbClr val="0F4C92"/>
                </a:solidFill>
                <a:latin typeface="Pretendard Variable"/>
              </a:rPr>
              <a:t>자기 가게가 위험한지조차</a:t>
            </a:r>
            <a:r>
              <a:rPr sz="2800" b="1">
                <a:solidFill>
                  <a:srgbClr val="0B1A33"/>
                </a:solidFill>
                <a:latin typeface="Pretendard Variable"/>
              </a:rPr>
              <a:t> 모르고 문을 닫습니다.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9398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소상공인 730만 · 5년 생존율 약 33% — 그런데 정보는 흩어져 있고, raw 해서 못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68500"/>
            <a:ext cx="9525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B1A33"/>
                </a:solidFill>
                <a:latin typeface="Pretendard Variable"/>
              </a:rPr>
              <a:t>사장님이 마주한 정보 비대칭 3가지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2260599"/>
            <a:ext cx="3568700" cy="238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349500"/>
            <a:ext cx="38100" cy="22098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2362199"/>
            <a:ext cx="32004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B1A33"/>
                </a:solidFill>
                <a:latin typeface="Pretendard Variable"/>
              </a:rPr>
              <a:t>① 내 가게가 위험한가?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641600"/>
            <a:ext cx="3200400" cy="190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상권 매출은 줄고, 옆 가게는 늘고 있는데 — 어디서 확인하나요? 통계청·서울 열린데이터에 다 있지만, 사장님이 직접 API 를 뜯어볼 수는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1650" y="2260599"/>
            <a:ext cx="3568700" cy="238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1650" y="2349500"/>
            <a:ext cx="38100" cy="2209800"/>
          </a:xfrm>
          <a:prstGeom prst="rect">
            <a:avLst/>
          </a:prstGeom>
          <a:solidFill>
            <a:srgbClr val="8B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4850" y="2362199"/>
            <a:ext cx="32004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B1A33"/>
                </a:solidFill>
                <a:latin typeface="Pretendard Variable"/>
              </a:rPr>
              <a:t>② 받을 수 있는 돈을 모름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850" y="2641600"/>
            <a:ext cx="3200400" cy="190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소상공인시장진흥공단·서울시 지원사업이 매년 수십 건. 자격이 되는데도 공고를 못 찾아 신청 못 한 사장님이 많습니다.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700" y="2260599"/>
            <a:ext cx="3568700" cy="2387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700" y="2349500"/>
            <a:ext cx="38100" cy="22098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900" y="2362199"/>
            <a:ext cx="32004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B1A33"/>
                </a:solidFill>
                <a:latin typeface="Pretendard Variable"/>
              </a:rPr>
              <a:t>③ 그래서 뭘 해야 하나?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6900" y="2641600"/>
            <a:ext cx="3200400" cy="1904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조언은 넘치지만 "우리 동네 우리 업종"에 맞는 한 가지는 없습니다. 정보 과부하 → 결국 아무것도 안 함.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" y="4864099"/>
            <a:ext cx="10972800" cy="1130299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5003800"/>
            <a:ext cx="10566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0B1A33"/>
                </a:solidFill>
                <a:latin typeface="Pretendard Variable"/>
              </a:rPr>
              <a:t>데이터는 이미 공개돼 있습니다. 문제는 "사장님이 쓸 수 있는 형태"가 아니라는 것.
</a:t>
            </a:r>
            <a:r>
              <a:rPr sz="1700" b="1">
                <a:solidFill>
                  <a:srgbClr val="0F4C92"/>
                </a:solidFill>
                <a:latin typeface="Pretendard Variable"/>
              </a:rPr>
              <a:t>SSGI 는 서울 공공데이터를 사장님 언어로 번역해, 매일 "오늘 이거 하세요" 한 줄로 바꿉니다.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출처: 통계청 소상공인현황 / 중소벤처기업부 / 서울 열린데이터광장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01 · 개발 배경 및 취지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배경·취지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12800"/>
            <a:ext cx="1079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누가 쓰나 — </a:t>
            </a:r>
            <a:r>
              <a:rPr sz="2800" b="1">
                <a:solidFill>
                  <a:srgbClr val="0F4C92"/>
                </a:solidFill>
                <a:latin typeface="Pretendard Variable"/>
              </a:rPr>
              <a:t>컨설팅 받을 여유 없는</a:t>
            </a:r>
            <a:r>
              <a:rPr sz="2800" b="1">
                <a:solidFill>
                  <a:srgbClr val="0B1A33"/>
                </a:solidFill>
                <a:latin typeface="Pretendard Variable"/>
              </a:rPr>
              <a:t> 동네 가게 사장님.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9398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그리고 이 서비스가 "공공데이터 이용 활성화"에 어떻게 기여하는가.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68500"/>
            <a:ext cx="52069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B1A33"/>
                </a:solidFill>
                <a:latin typeface="Pretendard Variable"/>
              </a:rPr>
              <a:t>타깃 사용자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2260599"/>
            <a:ext cx="5206999" cy="1168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349500"/>
            <a:ext cx="38100" cy="990599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2362199"/>
            <a:ext cx="48386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누가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641600"/>
            <a:ext cx="48386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서울·수도권 동네 가게 사장님(음식·카페·미용·소매·학원 등). 시뮬 페르소나: 의정부LC 금오동에서 학원을 운영하는 4050 사장님.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3517899"/>
            <a:ext cx="5206999" cy="1168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606800"/>
            <a:ext cx="38100" cy="990599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3619499"/>
            <a:ext cx="48386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왜 못 했나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898899"/>
            <a:ext cx="48386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전문 컨설팅은 회당 수십만 원. 공공데이터는 자치구·행정동·상권코드 매핑을 알아야 쓸 수 있음. 사장님에겐 둘 다 장벽.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4775200"/>
            <a:ext cx="5206999" cy="1168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864099"/>
            <a:ext cx="38100" cy="990599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4876800"/>
            <a:ext cx="48386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왜 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5156200"/>
            <a:ext cx="48386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GPT-4o 로 "raw 데이터 → 사장님 문장" 번역이 가능해짐. 카카오 OAuth·알림으로 추가 앱 설치 없이 도달.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999" y="1968500"/>
            <a:ext cx="54864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B1A33"/>
                </a:solidFill>
                <a:latin typeface="Pretendard Variable"/>
              </a:rPr>
              <a:t>공공데이터 이용 활성화 기여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999" y="2260599"/>
            <a:ext cx="5486400" cy="901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999" y="2349500"/>
            <a:ext cx="38100" cy="7239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9200" y="2362199"/>
            <a:ext cx="51181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B1A33"/>
                </a:solidFill>
                <a:latin typeface="Pretendard Variable"/>
              </a:rPr>
              <a:t>데이터 → 의사결정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9200" y="2641600"/>
            <a:ext cx="5118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서울 열린데이터 8종을 한 화면에 결합·해석. "열려는 있지만 안 쓰이던" 데이터를 실제 경영 판단으로 연결.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999" y="3251200"/>
            <a:ext cx="5486400" cy="901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999" y="3340100"/>
            <a:ext cx="38100" cy="7239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9200" y="3352800"/>
            <a:ext cx="51181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B1A33"/>
                </a:solidFill>
                <a:latin typeface="Pretendard Variable"/>
              </a:rPr>
              <a:t>이용자 저변 확대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9200" y="3632199"/>
            <a:ext cx="5118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API 를 다룰 줄 모르는 소상공인을 새 공공데이터 수요자로 편입. 사장님은 데이터를 "읽지" 않고 "받아" 씀.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5999" y="4241800"/>
            <a:ext cx="5486400" cy="901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5999" y="4330700"/>
            <a:ext cx="38100" cy="7239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9200" y="4343400"/>
            <a:ext cx="51181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B1A33"/>
                </a:solidFill>
                <a:latin typeface="Pretendard Variable"/>
              </a:rPr>
              <a:t>재사용 파이프라인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9200" y="4622800"/>
            <a:ext cx="5118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상권코드↔행정동 매핑·분기 캐싱·업종 정규화를 모듈화 — 다른 서비스도 같은 방식으로 서울 데이터 활용. 업종 지식은 YAML 플레이북으로 분리(파일 1개 = 새 업종).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5999" y="5232400"/>
            <a:ext cx="5486400" cy="9017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5999" y="5321299"/>
            <a:ext cx="38100" cy="7239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9200" y="5334000"/>
            <a:ext cx="51181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B1A33"/>
                </a:solidFill>
                <a:latin typeface="Pretendard Variable"/>
              </a:rPr>
              <a:t>개방 데이터 가치 입증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9200" y="5613400"/>
            <a:ext cx="5118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"공개했더니 이렇게 쓰이더라"의 사례. 데이터 1건이 사장님 1명의 폐업 위험 신호로 바뀌는 경로를 보여줌.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공고 5번 의무: 활용한 공공데이터 목록 정확 기재 / 데이터 이용 활성화 기여 서술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02 · 서비스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12800"/>
            <a:ext cx="1079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한 줄 정의 — </a:t>
            </a:r>
            <a:r>
              <a:rPr sz="2800" b="1">
                <a:solidFill>
                  <a:srgbClr val="0F4C92"/>
                </a:solidFill>
                <a:latin typeface="Pretendard Variable"/>
              </a:rPr>
              <a:t>"서울 공공데이터로 진단하는, 매일 1줄 AI 경영코치"</a:t>
            </a:r>
            <a:r>
              <a:rPr sz="2800" b="1">
                <a:solidFill>
                  <a:srgbClr val="0B1A33"/>
                </a:solidFill>
                <a:latin typeface="Pretendard Variabl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9398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온보딩 한 번 → 가게 자동 분석 → 매일·매주 액션. 10개 기능이 한 흐름으로 연결됩니다.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981199"/>
            <a:ext cx="2628900" cy="3606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981199"/>
            <a:ext cx="2628900" cy="508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2146299"/>
            <a:ext cx="23114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B1A33"/>
                </a:solidFill>
                <a:latin typeface="Pretendard Variable"/>
              </a:rPr>
              <a:t>진단 · 자동 (GPT 미사용)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700" y="2749550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B6FD0"/>
                </a:solidFill>
                <a:latin typeface="Pretendard Variable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1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폐업 위험도 점수 0~100 + 위험 신호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700" y="3651250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B6FD0"/>
                </a:solidFill>
                <a:latin typeface="Pretendard Variable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258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5차원 입지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700" y="4552949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B6FD0"/>
                </a:solidFill>
                <a:latin typeface="Pretendard Variable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75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경쟁 비교 — 같은 동네·같은 업종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8200" y="1981199"/>
            <a:ext cx="2628900" cy="3606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78200" y="1981199"/>
            <a:ext cx="2628900" cy="508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6000" y="2146299"/>
            <a:ext cx="23114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B1A33"/>
                </a:solidFill>
                <a:latin typeface="Pretendard Variable"/>
              </a:rPr>
              <a:t>매일·매주 액션 (GPT-4o)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3300" y="2749550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B3261E"/>
                </a:solidFill>
                <a:latin typeface="Pretendard Variable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3000" y="27241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매일 아침 7시 — 오늘 할 일 1개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3300" y="3651250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B3261E"/>
                </a:solidFill>
                <a:latin typeface="Pretendard Variable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3000" y="36258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이번 주 1가지 — 집중분석 우선순위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300" y="4552949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B3261E"/>
                </a:solidFill>
                <a:latin typeface="Pretendard Variable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3000" y="45275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손실 프레이밍 — "놓치고 있어요"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6799" y="1981199"/>
            <a:ext cx="2628900" cy="3606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6799" y="1981199"/>
            <a:ext cx="2628900" cy="508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4599" y="2146299"/>
            <a:ext cx="23114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B1A33"/>
                </a:solidFill>
                <a:latin typeface="Pretendard Variable"/>
              </a:rPr>
              <a:t>돈·성장 (RAG + GPT-4o)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1900" y="2749550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F4C92"/>
                </a:solidFill>
                <a:latin typeface="Pretendard Variable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1600" y="27241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지원금 매칭 + AI 사업계획서 초안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1900" y="3651250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F4C92"/>
                </a:solidFill>
                <a:latin typeface="Pretendard Variable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1600" y="36258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마케팅 진단 — 채널·카피·객단가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1900" y="4552949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F4C92"/>
                </a:solidFill>
                <a:latin typeface="Pretendard Variable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1600" y="45275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메뉴 전략 — 갭·시즌·차별화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1981199"/>
            <a:ext cx="2628900" cy="3606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15400" y="1981199"/>
            <a:ext cx="2628900" cy="50800"/>
          </a:xfrm>
          <a:prstGeom prst="rect">
            <a:avLst/>
          </a:prstGeom>
          <a:solidFill>
            <a:srgbClr val="8B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3200" y="2146299"/>
            <a:ext cx="23114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0B1A33"/>
                </a:solidFill>
                <a:latin typeface="Pretendard Variable"/>
              </a:rPr>
              <a:t>접근 · 증빙 · 결제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0500" y="2749550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6B1F"/>
                </a:solidFill>
                <a:latin typeface="Pretendard Variable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0199" y="27241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음성 질문 — 마이크 한 번 → 답변+화면 이동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0500" y="3651250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6B1F"/>
                </a:solidFill>
                <a:latin typeface="Pretendard Variable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0199" y="36258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PREMIUM PDF 진단서 + 서울 문화행사 알림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0500" y="4552949"/>
            <a:ext cx="127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6B1F"/>
                </a:solidFill>
                <a:latin typeface="Pretendard Variable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0199" y="4527550"/>
            <a:ext cx="21844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카카오페이 결제 — Pro 업그레이드(테스트)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" y="5727700"/>
            <a:ext cx="10972800" cy="622299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7400" y="5842000"/>
            <a:ext cx="106172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0B1A33"/>
                </a:solidFill>
                <a:latin typeface="Pretendard Variable"/>
              </a:rPr>
              <a:t>온보딩(가게 검색·등록) → 자치구·행정동·업종 매핑 → </a:t>
            </a:r>
            <a:r>
              <a:rPr sz="1550" b="1">
                <a:solidFill>
                  <a:srgbClr val="0F4C92"/>
                </a:solidFill>
                <a:latin typeface="Pretendard Variable"/>
              </a:rPr>
              <a:t>4개 그룹이 같은 데이터를 공유하며 매일 갱신.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라이브 배포: ssgi-ai-coach.vercel.app — 33개 API 라우트 구동 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03 · 활용 공공데이터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공공·AI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12800"/>
            <a:ext cx="1079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서울 열린데이터광장 </a:t>
            </a:r>
            <a:r>
              <a:rPr sz="2800" b="1">
                <a:solidFill>
                  <a:srgbClr val="0F4C92"/>
                </a:solidFill>
                <a:latin typeface="Pretendard Variable"/>
              </a:rPr>
              <a:t>8종</a:t>
            </a:r>
            <a:r>
              <a:rPr sz="2800" b="1">
                <a:solidFill>
                  <a:srgbClr val="0B1A33"/>
                </a:solidFill>
                <a:latin typeface="Pretendard Variable"/>
              </a:rPr>
              <a:t> + 국세청 + 카카오 — 모두 라이브 호출 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9398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상권코드↔행정동 매핑(TbgisTrdarRelm)으로 "우리 동네"만 골라냅니다.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600" y="1968500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600" y="2019299"/>
            <a:ext cx="228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B1A33"/>
                </a:solidFill>
                <a:latin typeface="Pretendard Variable"/>
              </a:rPr>
              <a:t>제공처 /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7999" y="2019299"/>
            <a:ext cx="228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B1A33"/>
                </a:solidFill>
                <a:latin typeface="Pretendard Variable"/>
              </a:rPr>
              <a:t>데이터셋 (호출 식별자)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999" y="2019299"/>
            <a:ext cx="228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B1A33"/>
                </a:solidFill>
                <a:latin typeface="Pretendard Variable"/>
              </a:rPr>
              <a:t>쓰는 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0" y="2019299"/>
            <a:ext cx="228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B1A33"/>
                </a:solidFill>
                <a:latin typeface="Pretendard Variable"/>
              </a:rPr>
              <a:t>주기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235200"/>
            <a:ext cx="10972800" cy="3555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2733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4C92"/>
                </a:solidFill>
                <a:latin typeface="Pretendard Variable"/>
              </a:rPr>
              <a:t>서울 열린데이터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7999" y="22733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VwsmTrdarSelngQq · 우리마을가게 상권분석(추정매출)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273300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위험도·경쟁·객단가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0" y="2273300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6543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4C92"/>
                </a:solidFill>
                <a:latin typeface="Pretendard Variable"/>
              </a:rPr>
              <a:t>서울 열린데이터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7999" y="26543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VwsmTrdarStorQq · 우리마을가게 상권분석(점포수·개폐업)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2999" y="2654300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위험도·경쟁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5000" y="2654300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분기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2997200"/>
            <a:ext cx="10972800" cy="3555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30353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4C92"/>
                </a:solidFill>
                <a:latin typeface="Pretendard Variable"/>
              </a:rPr>
              <a:t>서울 열린데이터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7999" y="30353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VwsmTrdarIxQq · 상권변화지표(활성/정체/축소/다이나믹)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2999" y="3035300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위험도 2×2 매트릭스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95000" y="3035300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분기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3416299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4C92"/>
                </a:solidFill>
                <a:latin typeface="Pretendard Variable"/>
              </a:rPr>
              <a:t>서울 열린데이터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7999" y="3416299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VwsmTrdarFlpopQq · 상권 유동인구(시간대·요일·성·연령)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2999" y="3416299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마케팅 피크 타게팅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95000" y="3416299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분기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759199"/>
            <a:ext cx="10972800" cy="3555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37973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4C92"/>
                </a:solidFill>
                <a:latin typeface="Pretendard Variable"/>
              </a:rPr>
              <a:t>서울 열린데이터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7999" y="37973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SPOP_LOCAL_RESD_DONG · 행정동 생활인구(거주)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2999" y="3797300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5차원 입지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95000" y="3797300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4178299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4C92"/>
                </a:solidFill>
                <a:latin typeface="Pretendard Variable"/>
              </a:rPr>
              <a:t>서울 열린데이터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7999" y="4178299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TbgisTrdarRelm · 상권영역-행정동 매핑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2999" y="4178299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지역 필터링(전 기능)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95000" y="4178299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정적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4521199"/>
            <a:ext cx="10972800" cy="3555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45593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4C92"/>
                </a:solidFill>
                <a:latin typeface="Pretendard Variable"/>
              </a:rPr>
              <a:t>서울 열린데이터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7999" y="45593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culturalEventInfo · 서울 문화행사 정보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62999" y="4559300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이벤트 알림·메뉴 시즌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95000" y="4559300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수시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49403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4C92"/>
                </a:solidFill>
                <a:latin typeface="Pretendard Variable"/>
              </a:rPr>
              <a:t>서울 열린데이터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7999" y="49403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VwsmTrdarWrcPopltnQq · 상권 직장인구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2999" y="4940300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직주비율 산출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95000" y="4940300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분기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5283200"/>
            <a:ext cx="10972800" cy="3555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600" y="5321299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공공데이터포털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47999" y="5321299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국세청 사업자등록정보 진위확인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62999" y="5321299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온보딩 가게 검증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95000" y="5321299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실시간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5702300"/>
            <a:ext cx="241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민간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47999" y="57023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Kakao Local Search · 카카오 디벨로퍼스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62999" y="5702300"/>
            <a:ext cx="1968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가게 검색·좌표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95000" y="5702300"/>
            <a:ext cx="787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실시간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6134100"/>
            <a:ext cx="9525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6E4A"/>
                </a:solidFill>
                <a:latin typeface="Pretendard Variable"/>
              </a:rPr>
              <a:t>공공데이터 8종 결합 — 경진대회 결합 활용 가점(+2) 요건 충족. 추출일 2026-04.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전 API 는 backend/app/services/seoul_api_service.py 에서 retry+fallback 패턴으로 호출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04 · AI 활용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공공·AI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12800"/>
            <a:ext cx="1079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AI 를 두 층으로 — </a:t>
            </a:r>
            <a:r>
              <a:rPr sz="2800" b="1">
                <a:solidFill>
                  <a:srgbClr val="0F4C92"/>
                </a:solidFill>
                <a:latin typeface="Pretendard Variable"/>
              </a:rPr>
              <a:t>"숫자는 결정론, 말은 GPT"</a:t>
            </a:r>
            <a:r>
              <a:rPr sz="2800" b="1">
                <a:solidFill>
                  <a:srgbClr val="0B1A33"/>
                </a:solidFill>
                <a:latin typeface="Pretendard Variabl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9398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거짓말 안 하게 만드는 구조: 점수는 코드가 계산하고, GPT 는 그 위에서 사장님 문장만 씁니다.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108200"/>
            <a:ext cx="5435599" cy="1841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197100"/>
            <a:ext cx="38100" cy="16637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2222500"/>
            <a:ext cx="3848099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0B1A33"/>
                </a:solidFill>
                <a:latin typeface="Pretendard Variable"/>
              </a:rPr>
              <a:t>① 결정론 위험 엔진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8500" y="2235200"/>
            <a:ext cx="1371600" cy="190499"/>
          </a:xfrm>
          <a:prstGeom prst="roundRect">
            <a:avLst>
              <a:gd name="adj" fmla="val 30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35200"/>
            <a:ext cx="1371600" cy="190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4A5878"/>
                </a:solidFill>
                <a:latin typeface="Pretendard Variable"/>
              </a:rPr>
              <a:t>재현성·신뢰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514600"/>
            <a:ext cx="5080000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GPT 미사용. 매출↓ · 개폐업률 · 상권변화지표 2×2(생존기간×폐업기간 vs 서울평균) · 지원금 마감 임박 · 유동인구↓ — 5개 시그널 가중합 → 0~100점. 같은 입력이면 항상 같은 점수.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6799" y="2108200"/>
            <a:ext cx="5435599" cy="1841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6799" y="2197100"/>
            <a:ext cx="38100" cy="16637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7300" y="2222500"/>
            <a:ext cx="3848099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0B1A33"/>
                </a:solidFill>
                <a:latin typeface="Pretendard Variable"/>
              </a:rPr>
              <a:t>② RAG 검색 레이어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3500" y="2235200"/>
            <a:ext cx="1193800" cy="190499"/>
          </a:xfrm>
          <a:prstGeom prst="roundRect">
            <a:avLst>
              <a:gd name="adj" fmla="val 30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3500" y="2235200"/>
            <a:ext cx="1193800" cy="190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4A5878"/>
                </a:solidFill>
                <a:latin typeface="Pretendard Variable"/>
              </a:rPr>
              <a:t>환각 차단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7300" y="2514600"/>
            <a:ext cx="5080000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지원사업 공고를 text-embedding-3-small 로 임베딩 → ChromaDB(코사인)에 인덱싱. 사장님 업종·매출·사업기간을 쿼리로 top-k 매칭 + 업종별 지원금 카테고리 태그로 가중. "왜 맞는지" 근거 문장도 함께.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4076699"/>
            <a:ext cx="5435599" cy="1841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4165600"/>
            <a:ext cx="38100" cy="16637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4190999"/>
            <a:ext cx="3848099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0B1A33"/>
                </a:solidFill>
                <a:latin typeface="Pretendard Variable"/>
              </a:rPr>
              <a:t>③ GPT-4o 생성 레이어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8500" y="4203700"/>
            <a:ext cx="1371600" cy="190499"/>
          </a:xfrm>
          <a:prstGeom prst="roundRect">
            <a:avLst>
              <a:gd name="adj" fmla="val 30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8500" y="4203700"/>
            <a:ext cx="1371600" cy="190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4A5878"/>
                </a:solidFill>
                <a:latin typeface="Pretendard Variable"/>
              </a:rPr>
              <a:t>사장님 언어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4483100"/>
            <a:ext cx="5080000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매일 1줄 액션 · AI 종합진단 · 마케팅/메뉴 전략. 시스템 프롬프트에 "업종 플레이북(40개 세부 업종 YAML 지식팩 — KPI·채널 근거표·카피 톤·데이터 해석 주의)" + "손실 프레이밍 어법"을 런타임 주입. 추정치는 amber "AI 추정" 라벨 강제.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6799" y="4076699"/>
            <a:ext cx="5435599" cy="1841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6799" y="4165600"/>
            <a:ext cx="38100" cy="1663700"/>
          </a:xfrm>
          <a:prstGeom prst="rect">
            <a:avLst/>
          </a:prstGeom>
          <a:solidFill>
            <a:srgbClr val="8B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7300" y="4190999"/>
            <a:ext cx="3848099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0B1A33"/>
                </a:solidFill>
                <a:latin typeface="Pretendard Variable"/>
              </a:rPr>
              <a:t>④ 가드레일 레이어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79100" y="4203700"/>
            <a:ext cx="838200" cy="190499"/>
          </a:xfrm>
          <a:prstGeom prst="roundRect">
            <a:avLst>
              <a:gd name="adj" fmla="val 30000"/>
            </a:avLst>
          </a:prstGeom>
          <a:solidFill>
            <a:srgbClr val="F1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79100" y="4203700"/>
            <a:ext cx="838200" cy="190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4A5878"/>
                </a:solidFill>
                <a:latin typeface="Pretendard Variable"/>
              </a:rPr>
              <a:t>정직성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7300" y="4483100"/>
            <a:ext cx="5080000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하루 1액션(UniqueConstraint) · 사회적 증거 k≥10일 때만 노출 · 한자 0건 검수 · 결제 0건 사실 그대로 표기. 시스템 설계로 폭주·과장 방지.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GPT-4o · text-embedding-3-small / 프롬프트: backend/app/routers/insights.py · services/action_generator.py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05 · 기능 상세 ① — 폐업 위험도 진단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0100"/>
            <a:ext cx="66294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0B1A33"/>
                </a:solidFill>
                <a:latin typeface="Pretendard Variable"/>
              </a:rPr>
              <a:t>홈을 열면 제일 먼저: </a:t>
            </a:r>
            <a:r>
              <a:rPr sz="2600" b="1">
                <a:solidFill>
                  <a:srgbClr val="0F4C92"/>
                </a:solidFill>
                <a:latin typeface="Pretendard Variable"/>
              </a:rPr>
              <a:t>"내 가게 위험도 100점 중 ○○점"</a:t>
            </a:r>
            <a:r>
              <a:rPr sz="2600" b="1">
                <a:solidFill>
                  <a:srgbClr val="0B1A33"/>
                </a:solidFill>
                <a:latin typeface="Pretendard Variabl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78000"/>
            <a:ext cx="6629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GPT 가 아니라 결정론 엔진이 계산한 점수 + 위험 신호 5개를 카드로.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2733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199"/>
            <a:ext cx="38100" cy="1841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374899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543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가게 폐업 위험을 0~100 점수로. 무엇이 위험을 끌어올렸는지 "위험 신호"로 분해해 보여줌.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9549" y="22733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9549" y="2362199"/>
            <a:ext cx="38100" cy="18415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2750" y="2374899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서울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2750" y="26543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우리마을가게 상권분석(추정매출 VwsmTrdarSelngQq·점포수 VwsmTrdarStorQq) · 상권변화지표(VwsmTrdarIxQq) · 상권 유동인구(VwsmTrdarFlpopQq).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4450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33900"/>
            <a:ext cx="38100" cy="18415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46600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260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결정론 위험 엔진 — GPT 미사용. 5개 시그널 가중합. 상권변화지표는 2×2 매트릭스(생존기간×폐업기간 vs 서울평균)로 판정. 개점 1년 미만 사장님은 통계 폐업률 반영해 가산.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19549" y="44450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9549" y="4533900"/>
            <a:ext cx="38100" cy="18415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2750" y="4546600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동작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2750" y="48260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온보딩에서 가게 검색·등록 → 자치구·행정동·상권코드 매핑 → 분기 데이터 갱신 시 재계산 → 홈 상단 점수 카드 렌더.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68082" y="1670050"/>
            <a:ext cx="2139234" cy="4533900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kaoTalk_Photo_2026-05-11-16-36-58 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532" y="1714500"/>
            <a:ext cx="2050334" cy="4445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93000" y="6248400"/>
            <a:ext cx="4089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홈 화면 — 폐업 위험도 점수 + 위험 신호 카드 (라이브 배포 실제 화면, 시뮬 계정)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risk_score_engine.py — 결정론 산출 / 점수는 GPT 호출 없이 재현 가능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06 · 기능 상세 ② — 매일 1줄 액션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0100"/>
            <a:ext cx="66294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0B1A33"/>
                </a:solidFill>
                <a:latin typeface="Pretendard Variable"/>
              </a:rPr>
              <a:t>매일 아침 7시, </a:t>
            </a:r>
            <a:r>
              <a:rPr sz="2600" b="1">
                <a:solidFill>
                  <a:srgbClr val="0F4C92"/>
                </a:solidFill>
                <a:latin typeface="Pretendard Variable"/>
              </a:rPr>
              <a:t>오늘 할 일 딱 1개</a:t>
            </a:r>
            <a:r>
              <a:rPr sz="2600" b="1">
                <a:solidFill>
                  <a:srgbClr val="0B1A33"/>
                </a:solidFill>
                <a:latin typeface="Pretendard Variable"/>
              </a:rPr>
              <a:t>. 그 이상은 안 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78000"/>
            <a:ext cx="6629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정보 과부하 방지가 설계 원칙 — "추천합니다"가 아니라 "놓치고 있습니다".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2733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199"/>
            <a:ext cx="38100" cy="1841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374899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543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매일 1개 액션 + 왜 해야 하는지 1줄 근거. 카카오 알림으로 도달. 하루에 1개만(중복 제약).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9549" y="22733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9549" y="2362199"/>
            <a:ext cx="38100" cy="18415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2750" y="2374899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서울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2750" y="26543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위험 신호 · 매칭된 지원사업(마감 임박) · 서울 문화행사(culturalEventInfo) 를 종합.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4450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33900"/>
            <a:ext cx="38100" cy="18415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46600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260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GPT-4o. 시스템 프롬프트에 업종 플레이북(40개 세부 업종 YAML 지식팩 — 업종별 KPI·채널·데이터 함정) + 손실 프레이밍 어법 주입. 같은 가게에 같은 액션 반복 방지.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19549" y="44450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9549" y="4533900"/>
            <a:ext cx="38100" cy="18415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2750" y="4546600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동작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2750" y="48260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APScheduler 크론 07:00 → 사용자별 데이터 수집 → GPT-4o 액션 1줄 → DB UniqueConstraint(가게,날짜) 저장 → 카카오 알림(실패 시 FCM → 조용히 패스).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68082" y="1670050"/>
            <a:ext cx="2139234" cy="4533900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kaoTalk_Photo_2026-05-11-16-36-58 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532" y="1714500"/>
            <a:ext cx="2050334" cy="4445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93000" y="6248400"/>
            <a:ext cx="4089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홈 화면 — 오늘의 액션 (예: "1,040만원 지원금, 신청 마감 전")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action_generator.py — daily action 시스템 프롬프트 / ADR 003: 하루 1액션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07 · 기능 상세 ③ — 지원금 매칭 + AI 사업계획서 초안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0100"/>
            <a:ext cx="56134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0B1A33"/>
                </a:solidFill>
                <a:latin typeface="Pretendard Variable"/>
              </a:rPr>
              <a:t>받을 수 있는 지원사업을 찾고, </a:t>
            </a:r>
            <a:r>
              <a:rPr sz="2600" b="1">
                <a:solidFill>
                  <a:srgbClr val="0F4C92"/>
                </a:solidFill>
                <a:latin typeface="Pretendard Variable"/>
              </a:rPr>
              <a:t>사업계획서 초안까지</a:t>
            </a:r>
            <a:r>
              <a:rPr sz="2600" b="1">
                <a:solidFill>
                  <a:srgbClr val="0B1A33"/>
                </a:solidFill>
                <a:latin typeface="Pretendard Variable"/>
              </a:rPr>
              <a:t> 써줍니다.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78000"/>
            <a:ext cx="5613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공고를 벡터로 인덱싱(RAG) → 사장님 자격으로 검색 → GPT 가 매칭 사유 + 사업계획서 초안 작성.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199"/>
            <a:ext cx="38100" cy="1841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소상공인시장진흥공단·서울시 지원사업을 업종·매출·사업기간으로 매칭. 카드마다 "왜 맞는지" 사유 + "초안 받기". 초안은 가게 개요·경영 현황 빈칸을 아는 정보로 자동 채움(나머지는 [사장님 작성 필요] 표시).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55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1550" y="2362199"/>
            <a:ext cx="38100" cy="18415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475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서울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공공 지원사업 공고(소상공인시장진흥공단·서울시 등) 15건+ 를 시드로 적재. 가게 자격·개요는 온보딩·국세청 검증값 사용.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33900"/>
            <a:ext cx="38100" cy="18415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text-embedding-3-small 로 공고 임베딩 → ChromaDB(코사인)에 인덱싱 → 사장님 조건을 쿼리로 top-k 검색 → GPT-4o 가 매칭 사유 + 사업계획서 초안(개요/현황/차별점 섹션) 생성.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55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550" y="4533900"/>
            <a:ext cx="38100" cy="18415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475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동작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475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인덱싱 크론(주 1회) → 지원사업 탭 → 자격 임베딩 쿼리 → 매칭 카드(홈에도 상위 노출) → "초안 받기" → GPT-4o 초안(절약 시간 표시).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3248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kaoTalk_Photo_2026-05-11-16-36-59 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698" y="1904999"/>
            <a:ext cx="1640267" cy="35560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65116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akaoTalk_Photo_2026-05-11-16-36-59 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566" y="1904999"/>
            <a:ext cx="1640267" cy="3556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906983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akaoTalk_Photo_2026-05-11-19-43-37 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433" y="1904999"/>
            <a:ext cx="1640267" cy="355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77000" y="6248400"/>
            <a:ext cx="5105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홈 매칭 3건(좌) · 지원사업 탭 — 최대 31,400만원·신청하기·초안 받기(중) · AI 사업계획서 초안 — 빈칸 자동 채움·절약 약 2시간(우)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rag_service.py · ChromaDB PersistentClient / scripts/seed_subsidies.py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08 · 기능 상세 ④ — 인사이트: 경쟁·집중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0100"/>
            <a:ext cx="66294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0B1A33"/>
                </a:solidFill>
                <a:latin typeface="Pretendard Variable"/>
              </a:rPr>
              <a:t>같은 동네, 같은 업종과 비교해서 — </a:t>
            </a:r>
            <a:r>
              <a:rPr sz="2600" b="1">
                <a:solidFill>
                  <a:srgbClr val="0F4C92"/>
                </a:solidFill>
                <a:latin typeface="Pretendard Variable"/>
              </a:rPr>
              <a:t>강점·약점·우리 가게 자리</a:t>
            </a:r>
            <a:r>
              <a:rPr sz="2600" b="1">
                <a:solidFill>
                  <a:srgbClr val="0B1A33"/>
                </a:solidFill>
                <a:latin typeface="Pretendard Variable"/>
              </a:rPr>
              <a:t>를 보여줍니다.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78000"/>
            <a:ext cx="6629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5차원 입지 분석은 코드가 계산하고, 강점/약점 해석만 GPT 가 합니다. 데이터 출처도 화면에 명시.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2733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199"/>
            <a:ext cx="38100" cy="1841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374899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543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경쟁 탭: 같은 상권·같은 업종 매출/점포수 비교. 집중분석 탭: 강점·약점·"우리 가게 자리"·시급한 신호.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9549" y="22733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9549" y="2362199"/>
            <a:ext cx="38100" cy="18415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2750" y="2374899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서울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2750" y="26543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우리마을가게 상권분석(매출·점포수) · 행정동 생활인구(SPOP_LOCAL_RESD_DONG) · 상권 유동인구·직장인구.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4450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33900"/>
            <a:ext cx="38100" cy="18415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46600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260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5차원 입지 분석(직주비율·다양성·집객력·동선효율·시간집중 + 서울 포지셔닝·생애주기)은 결정론 산출 → GPT-4o 가 강점/약점만 사장님 문장으로 해석. 맛·친절 등 데이터 밖은 모른다고 명시.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19549" y="44450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9549" y="4533900"/>
            <a:ext cx="38100" cy="18415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2750" y="4546600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동작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2750" y="48260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인사이트 탭 → 경쟁/집중분석 → 상권코드 기준 동종업종 집계 → 5차원 산출 → GPT 해석 → 카드 + 데이터 출처 표기.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40570" y="1733550"/>
            <a:ext cx="1846329" cy="3898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kaoTalk_Photo_2026-05-11-16-36-59 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020" y="1778000"/>
            <a:ext cx="1757429" cy="380999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588500" y="1733550"/>
            <a:ext cx="1846329" cy="3898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akaoTalk_Photo_2026-05-11-16-37-00 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950" y="1778000"/>
            <a:ext cx="1757429" cy="38099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93000" y="6248400"/>
            <a:ext cx="4089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경쟁 탭 — 데이터 출처 명시(좌) · 집중분석 — 강점·약점·우리 가게 자리(우)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insights.py(deep-report 영역) · 5차원 location_analysis 결정론 / 출처 화면 노출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09 · 기능 상세 ⑤ — AI 종합 진단 + PREMIUM PDF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0100"/>
            <a:ext cx="56134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0B1A33"/>
                </a:solidFill>
                <a:latin typeface="Pretendard Variable"/>
              </a:rPr>
              <a:t>가게 전체를 종합 진단하고, </a:t>
            </a:r>
            <a:r>
              <a:rPr sz="2600" b="1">
                <a:solidFill>
                  <a:srgbClr val="0F4C92"/>
                </a:solidFill>
                <a:latin typeface="Pretendard Variable"/>
              </a:rPr>
              <a:t>"이번 주 1가지"</a:t>
            </a:r>
            <a:r>
              <a:rPr sz="2600" b="1">
                <a:solidFill>
                  <a:srgbClr val="0B1A33"/>
                </a:solidFill>
                <a:latin typeface="Pretendard Variable"/>
              </a:rPr>
              <a:t>를 정해줍니다. PDF 진단서도.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78000"/>
            <a:ext cx="5613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여러 데이터를 결합한 종합 리포트 — 추정치는 모두 amber "AI 추정" 라벨.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199"/>
            <a:ext cx="38100" cy="1841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집중분석의 "AI 종합 진단" — 위험·입지·경쟁·마케팅을 한 번에 요약 + 이번 주 우선순위 1가지. PREMIUM 은 PDF 진단서 다운로드.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55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1550" y="2362199"/>
            <a:ext cx="38100" cy="18415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475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서울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위 기능들의 결과(위험 점수·5차원·경쟁 비교·매출 추이)를 결합. 추가 호출 없이 캐시된 분기 데이터 재사용.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33900"/>
            <a:ext cx="38100" cy="18415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GPT-4o (deep-report 프롬프트). 세부 업종 플레이북(데이터 해석 주의 포함) + 사장님 화법. "이번 주 1가지"로 우선순위를 좁힘. 추정 매출·효과는 amber "AI 추정" 라벨 의무.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55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550" y="4533900"/>
            <a:ext cx="38100" cy="18415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475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동작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475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집중분석 탭 → AI 종합 진단 카드 → 이번 주 1가지 → PREMIUM REPORT → report_generator 가 PDF 렌더 → 다운로드/공유(CSV·JSON 내보내기도).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3248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kaoTalk_Photo_2026-05-11-16-37-00 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698" y="1904999"/>
            <a:ext cx="1640267" cy="35560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65116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akaoTalk_Photo_2026-05-11-16-36-59 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566" y="1904999"/>
            <a:ext cx="1640267" cy="3556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906983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akaoTalk_Photo_2026-05-11-19-43-37 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433" y="1904999"/>
            <a:ext cx="1640267" cy="355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77000" y="6248400"/>
            <a:ext cx="5105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집중분석 — AI 종합 진단·이번 주 1가지(좌) · 홈 — PREMIUM 진단서 진입(중) · 다운로드된 PDF 진단서 — 67점·등급 C·카테고리별 평가표(우)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insights.py · report_generator.py — PDF 생성 / 추정치 amber 라벨 일관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10 · 기능 상세 ⑥ — 마케팅 진단: 채널·카피·객단가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0100"/>
            <a:ext cx="56134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0B1A33"/>
                </a:solidFill>
                <a:latin typeface="Pretendard Variable"/>
              </a:rPr>
              <a:t>예산 0원이면 0원대로, 5만원이면 5만원대로 — </a:t>
            </a:r>
            <a:r>
              <a:rPr sz="2600" b="1">
                <a:solidFill>
                  <a:srgbClr val="0F4C92"/>
                </a:solidFill>
                <a:latin typeface="Pretendard Variable"/>
              </a:rPr>
              <a:t>시나리오별로</a:t>
            </a:r>
            <a:r>
              <a:rPr sz="2600" b="1">
                <a:solidFill>
                  <a:srgbClr val="0B1A33"/>
                </a:solidFill>
                <a:latin typeface="Pretendard Variable"/>
              </a:rPr>
              <a:t> 알려줍니다.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78000"/>
            <a:ext cx="5613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유동인구 데이터로 "언제·누구에게"를 정하고, 카피 3종(신뢰·친근·긴급)까지 써줍니다.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199"/>
            <a:ext cx="38100" cy="1841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예산별 시나리오(0원/5만원) · 채널 우선순위 + ROI(가설) · 카피 3종(신뢰·친근·긴급형: 단골 SMS·매장 POP·SNS·배달앱) · 객단가 끌어올리기.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55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1550" y="2362199"/>
            <a:ext cx="38100" cy="18415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475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서울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상권 유동인구(VwsmTrdarFlpopQq — 시간대·요일·성·연령 → 피크 타임/타깃) · 우리마을가게 추정매출(객단가 비교).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33900"/>
            <a:ext cx="38100" cy="18415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GPT-4o (marketing-strategy 프롬프트). 업종 플레이북의 채널 근거표를 그대로 주입(이 표 밖의 ROI/ROAS 숫자 생성 금지) — 업종 안 맞는 헛조언 차단. ROI 수치는 "가설" 라벨, 결제 데이터 아님.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55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550" y="4533900"/>
            <a:ext cx="38100" cy="18415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475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동작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475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인사이트 마케팅 탭 → 마케팅 진단 → 유동인구 피크 분석 → 채널 우선순위 + 카피 생성 → "오늘 당장" 1가지로 연결.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3248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kaoTalk_Photo_2026-05-11-16-37-00 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698" y="1904999"/>
            <a:ext cx="1640267" cy="35560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65116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akaoTalk_Photo_2026-05-11-16-37-00 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566" y="1904999"/>
            <a:ext cx="1640267" cy="3556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906983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akaoTalk_Photo_2026-05-11-16-37-00 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433" y="1904999"/>
            <a:ext cx="1640267" cy="355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77000" y="6248400"/>
            <a:ext cx="5105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예산별 시나리오 0원/5만원(좌) · 채널 우선순위 SMS ROI 150%·전단지 100%(중) · 카피 3종 신뢰·친근·긴급형(우)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insights.py(marketing-strategy) · marketing_audit.py / ROI 는 가설 라벨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11 · 기능 상세 ⑦ — 메뉴 전략: 갭·시즌·차별화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0100"/>
            <a:ext cx="56134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0B1A33"/>
                </a:solidFill>
                <a:latin typeface="Pretendard Variable"/>
              </a:rPr>
              <a:t>옆 가게엔 있고 우리 가게엔 없는 메뉴 — </a:t>
            </a:r>
            <a:r>
              <a:rPr sz="2600" b="1">
                <a:solidFill>
                  <a:srgbClr val="0F4C92"/>
                </a:solidFill>
                <a:latin typeface="Pretendard Variable"/>
              </a:rPr>
              <a:t>4주 캘린더</a:t>
            </a:r>
            <a:r>
              <a:rPr sz="2600" b="1">
                <a:solidFill>
                  <a:srgbClr val="0B1A33"/>
                </a:solidFill>
                <a:latin typeface="Pretendard Variable"/>
              </a:rPr>
              <a:t>로 만들어줍니다.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78000"/>
            <a:ext cx="5613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상권 업종 구성과 서울 문화행사·계절을 엮어 "이번 달 뭘 추가할지"를 제시.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199"/>
            <a:ext cx="38100" cy="1841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메뉴 갭 분석(상권엔 있는데 우리 가게엔 없는 카테고리) · 시즌 캘린더 4주(주차별 테마·연계 채널) · 차별화 한 수(경쟁사가 안 하는 1가지).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55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1550" y="2362199"/>
            <a:ext cx="38100" cy="18415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475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서울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상권 업종 구성(다양성지수 — 우리마을가게 상권분석 기반) · 서울 문화행사(culturalEventInfo) · 계절·학사 일정.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33900"/>
            <a:ext cx="38100" cy="18415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GPT-4o (menu-strategy 프롬프트). 업종 미등록이면 "업종 등록 필요" 안내로 정확도 보호. 도입 비용·난이도도 함께 표기해 사장님이 고를 수 있게.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55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550" y="4533900"/>
            <a:ext cx="38100" cy="18415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475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동작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475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인사이트 메뉴 탭 → 메뉴 전략 → 갭/시즌/차별화 3 섹션 → 각 항목 "도입 비용·기간" → 단골 SMS·POP·SNS·배달앱 연계 제안.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3248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kaoTalk_Photo_2026-05-11-16-37-01 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698" y="1904999"/>
            <a:ext cx="1640267" cy="35560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65116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akaoTalk_Photo_2026-05-11-16-37-01 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566" y="1904999"/>
            <a:ext cx="1640267" cy="3556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906983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akaoTalk_Photo_2026-05-11-16-37-01 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433" y="1904999"/>
            <a:ext cx="1640267" cy="355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77000" y="6248400"/>
            <a:ext cx="5105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갭 분석 — 음악·코딩·창의융합 교육(좌) · 시즌 캘린더 4주 5/13~6/7(중) · 차별화 한 수 — 자녀 맞춤 상담(우)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insights.py(menu-strategy) / 업종 미등록 시 정확도 가드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12 · 기능 상세 ⑧ — 음성 질문 + 서울 문화행사 알림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0100"/>
            <a:ext cx="66294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0B1A33"/>
                </a:solidFill>
                <a:latin typeface="Pretendard Variable"/>
              </a:rPr>
              <a:t>마이크 한 번 누르고 "지원금 알려줘" — </a:t>
            </a:r>
            <a:r>
              <a:rPr sz="2600" b="1">
                <a:solidFill>
                  <a:srgbClr val="0F4C92"/>
                </a:solidFill>
                <a:latin typeface="Pretendard Variable"/>
              </a:rPr>
              <a:t>AI 가 답하고 그 화면으로</a:t>
            </a:r>
            <a:r>
              <a:rPr sz="2600" b="1">
                <a:solidFill>
                  <a:srgbClr val="0B1A33"/>
                </a:solidFill>
                <a:latin typeface="Pretendard Variable"/>
              </a:rPr>
              <a:t> 데려갑니다.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78000"/>
            <a:ext cx="6629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키보드가 불편한 사장님을 위한 입력. 그리고 동네 행사 = 손님 늘릴 기회로 알림.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2733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199"/>
            <a:ext cx="38100" cy="1841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374899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543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음성 질문: 플로팅 마이크 → 말하면 → AI 답변 + 의도에 맞는 화면 자동 이동. 문화행사 알림: 우리 자치구 행사를 "이날 손님 늘 수 있어요"로 변환.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9549" y="22733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9549" y="2362199"/>
            <a:ext cx="38100" cy="18415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2750" y="2374899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서울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2750" y="26543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서울 문화행사 정보(culturalEventInfo — 자치구 필터).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4450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33900"/>
            <a:ext cx="38100" cy="18415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46600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260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GPT-4o + 브라우저 Web Speech API(STT, 한국어). 발화 → 의도 분류(지원금·마케팅·경쟁·집중분석·이벤트·매출·홈) → 답변 + 해당 화면 라우팅. 답을 모르면 모른다고.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19549" y="4445000"/>
            <a:ext cx="3219449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9549" y="4533900"/>
            <a:ext cx="38100" cy="18415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2750" y="4546600"/>
            <a:ext cx="2851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동작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2750" y="4826000"/>
            <a:ext cx="2851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대시보드 플로팅 마이크 → 음성 인식(종료 시 자동 전송) → POST /voice/query → 의도 분류 → 답변 카드 + 후속 질문 칩 + 화면 이동.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40570" y="1733550"/>
            <a:ext cx="1846329" cy="3898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kaoTalk_Photo_2026-05-11-19-43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020" y="1778000"/>
            <a:ext cx="1757429" cy="380999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588500" y="1733550"/>
            <a:ext cx="1846329" cy="3898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akaoTalk_Photo_2026-05-11-16-36-59 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950" y="1778000"/>
            <a:ext cx="1757429" cy="38099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93000" y="6248400"/>
            <a:ext cx="4089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홈 — AI 음성 질문 "마케팅" 발화 → 답 찾는 중(마이크 우하단 상주)(좌) · 홈 — 서울시 문화행사 카드 + PREMIUM 진단서(우)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voice.py — intent 분류·라우팅 / useSTT.ts — Web Speech API(Chrome·Edge)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13 · 기능 상세 ⑨ — 카카오페이 결제 + Pro 업그레이드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기능 상세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00100"/>
            <a:ext cx="56134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0B1A33"/>
                </a:solidFill>
                <a:latin typeface="Pretendard Variable"/>
              </a:rPr>
              <a:t>가치를 느끼면 </a:t>
            </a:r>
            <a:r>
              <a:rPr sz="2600" b="1">
                <a:solidFill>
                  <a:srgbClr val="0F4C92"/>
                </a:solidFill>
                <a:latin typeface="Pretendard Variable"/>
              </a:rPr>
              <a:t>월 9,900원 — 하루 330원</a:t>
            </a:r>
            <a:r>
              <a:rPr sz="2600" b="1">
                <a:solidFill>
                  <a:srgbClr val="0B1A33"/>
                </a:solidFill>
                <a:latin typeface="Pretendard Variable"/>
              </a:rPr>
              <a:t>으로 잡기. 카카오페이 결제.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78000"/>
            <a:ext cx="5613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4A5878"/>
                </a:solidFill>
                <a:latin typeface="Pretendard Variable"/>
              </a:rPr>
              <a:t>결제 모듈은 연동 완료·테스트 환경. 정식 결제는 사업자 가맹 후 2026 Q3 — 지금도 테스트 결제로 전 흐름이 동작합니다.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199"/>
            <a:ext cx="38100" cy="1841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Free 로 충분히 쓰다가, Pro 전용 기능(쿠폰 무제한·인사이트 4탭·AI 사업계획서 초안·PDF 내보내기)에서 페이월 → SSGI Pro 9,900원/월. "미신청 보조금 평균 240만원 → Pro 1년 12만원으로 회수" 손실 프레이밍.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550" y="22733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1550" y="2362199"/>
            <a:ext cx="38100" cy="18415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4750" y="2374899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서울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26543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결제 자체엔 공공데이터 미사용. 단, 페이월 카피의 "미신청 보조금 N건·평균 ○○만원"은 RAG 매칭 결과 + 지원사업 공고 데이터에서 산출.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533900"/>
            <a:ext cx="38100" cy="18415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어떤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GPT 미사용 — 결정론 결제 플로우. 카카오페이 단건결제 API(ready → 카카오페이 화면 리다이렉트 → approve). 결제 성공 시 DB 에 Pro 만료일(+1개월) 기록 → 페이월 자동 해제, 만료 시 자동 복귀.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550" y="4445000"/>
            <a:ext cx="2711450" cy="20192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11550" y="4533900"/>
            <a:ext cx="38100" cy="18415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4750" y="4546600"/>
            <a:ext cx="234315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동작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4750" y="4826000"/>
            <a:ext cx="2343150" cy="153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Pro 전용 기능 클릭(페이월) → /upgrade → "카카오페이로 결제(테스트)" → 카카오페이 화면 → 승인 → 결제 완료(만료일·테스트 안내) → "Pro 로 대시보드 가기".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3248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kaoTalk_Photo_2026-05-11-19-43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698" y="1904999"/>
            <a:ext cx="1640267" cy="35560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65116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akaoTalk_Photo_2026-05-11-19-43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566" y="1904999"/>
            <a:ext cx="1640267" cy="3556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906983" y="1860550"/>
            <a:ext cx="1729167" cy="36448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akaoTalk_Photo_2026-05-11-19-43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1433" y="1904999"/>
            <a:ext cx="1640267" cy="355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77000" y="6248400"/>
            <a:ext cx="5105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페이월 — 메뉴 전략 Pro 전용(좌) · SSGI Pro 업그레이드 — 혜택 5종·9,900원·테스트 안내(중) · 결제 완료 — 만료일 표시·실제 청구 없음(우)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kakao_pay_service.py · routers/payments.py — TC0ONETIME 테스트 cid / frontend/src/app/upgrade · 페이월 트리거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14 · 화면 흐름도 — 메인 → 세부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화면 구동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12800"/>
            <a:ext cx="1079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메인 4탭 → 인사이트 4탭 — </a:t>
            </a:r>
            <a:r>
              <a:rPr sz="2800" b="1">
                <a:solidFill>
                  <a:srgbClr val="0F4C92"/>
                </a:solidFill>
                <a:latin typeface="Pretendard Variable"/>
              </a:rPr>
              <a:t>3번 안에</a:t>
            </a:r>
            <a:r>
              <a:rPr sz="2800" b="1">
                <a:solidFill>
                  <a:srgbClr val="0B1A33"/>
                </a:solidFill>
                <a:latin typeface="Pretendard Variable"/>
              </a:rPr>
              <a:t> 답에 닿습니다.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9398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온보딩(가게 검색·등록) 후 하단 탭 4개. 인사이트 안에 다시 4개 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43100"/>
            <a:ext cx="9525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① 메인 — 하단 탭 4종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2197100"/>
            <a:ext cx="2628900" cy="12953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286000"/>
            <a:ext cx="38100" cy="11176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2298700"/>
            <a:ext cx="22605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578100"/>
            <a:ext cx="2260599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위험도 · 오늘의 액션 · 매칭 지원금 3건 · 문화행사 · PREMIUM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8200" y="2197100"/>
            <a:ext cx="2628900" cy="12953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8200" y="2286000"/>
            <a:ext cx="38100" cy="11176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400" y="2298700"/>
            <a:ext cx="22605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지원사업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2578100"/>
            <a:ext cx="2260599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매칭 리스트 · 자격 사유 · 신청하기 · 초안 받기 (최대 ○○만원)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6799" y="2197100"/>
            <a:ext cx="2628900" cy="12953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6799" y="2286000"/>
            <a:ext cx="38100" cy="11176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9999" y="2298700"/>
            <a:ext cx="22605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인사이트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9999" y="2578100"/>
            <a:ext cx="2260599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경쟁 · 집중분석 · 마케팅 · 메뉴 — 4개 세부 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197100"/>
            <a:ext cx="2628900" cy="12953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2286000"/>
            <a:ext cx="38100" cy="1117600"/>
          </a:xfrm>
          <a:prstGeom prst="rect">
            <a:avLst/>
          </a:prstGeom>
          <a:solidFill>
            <a:srgbClr val="8B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8600" y="2298700"/>
            <a:ext cx="22605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쿠폰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8600" y="2578100"/>
            <a:ext cx="2260599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4A5878"/>
                </a:solidFill>
                <a:latin typeface="Pretendard Variable"/>
              </a:rPr>
              <a:t>쿠폰 발행 · 피크 타임 타게팅 · 단골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3708400"/>
            <a:ext cx="10795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② 인사이트 세부 — 탭 4종 (각 탭에서 AI 진단 + 실행 액션)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600" y="3949700"/>
            <a:ext cx="2628900" cy="14731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4038599"/>
            <a:ext cx="38100" cy="1295399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0" y="4051300"/>
            <a:ext cx="22605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경쟁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4330700"/>
            <a:ext cx="2260599" cy="99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같은 동네·같은 업종 매출·점포수 비교 + 데이터 출처 명시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8200" y="3949700"/>
            <a:ext cx="2628900" cy="14731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78200" y="4038599"/>
            <a:ext cx="38100" cy="1295399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81400" y="4051300"/>
            <a:ext cx="22605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집중분석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4330700"/>
            <a:ext cx="2260599" cy="99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5차원 입지 + 강점/약점/우리 가게 자리 + AI 종합진단 + 이번 주 1가지 + PREMIUM PDF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6799" y="3949700"/>
            <a:ext cx="2628900" cy="14731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6799" y="4038599"/>
            <a:ext cx="38100" cy="1295399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9999" y="4051300"/>
            <a:ext cx="22605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마케팅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9999" y="4330700"/>
            <a:ext cx="2260599" cy="99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예산 시나리오 0원/5만원 + 채널 우선순위·ROI + 카피 3종 + 객단가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3949700"/>
            <a:ext cx="2628900" cy="14731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15400" y="4038599"/>
            <a:ext cx="38100" cy="1295399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18600" y="4051300"/>
            <a:ext cx="2260599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메뉴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18600" y="4330700"/>
            <a:ext cx="2260599" cy="990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5878"/>
                </a:solidFill>
                <a:latin typeface="Pretendard Variable"/>
              </a:rPr>
              <a:t>갭 분석 + 시즌 캘린더 4주 + 차별화 한 수 + 도입 비용·기간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600" y="5537200"/>
            <a:ext cx="10972800" cy="5969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7400" y="5613400"/>
            <a:ext cx="1066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F4C92"/>
                </a:solidFill>
                <a:latin typeface="Pretendard Variable"/>
              </a:rPr>
              <a:t>+ 음성 질문(플로팅 마이크) 어디서나 → 답변 + 해당 화면 자동 이동.
+ 내 가게 페이지 — 로그인한 사장님도 업종 재설정(/profile) · "이 진단은 ○○ 플레이북 v1 · 검수 2026-05-11 · 출처 N건" 출처 칩.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frontend/src/app — 메인 4 라우트 + insights 4탭 + onboarding·내 가게 / 라이브 시연 가능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14 · 화면 흐름도 — 실제 캡처 모음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화면 구동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12800"/>
            <a:ext cx="1079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앱은 </a:t>
            </a:r>
            <a:r>
              <a:rPr sz="2800" b="1">
                <a:solidFill>
                  <a:srgbClr val="0F4C92"/>
                </a:solidFill>
                <a:latin typeface="Pretendard Variable"/>
              </a:rPr>
              <a:t>"설명용 목업"이 아니라 지금 도는 화면</a:t>
            </a:r>
            <a:r>
              <a:rPr sz="2800" b="1">
                <a:solidFill>
                  <a:srgbClr val="0B1A33"/>
                </a:solidFill>
                <a:latin typeface="Pretendard Variable"/>
              </a:rPr>
              <a:t>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9398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ssgi-ai-coach.vercel.app — 시뮬 계정(의정부LC·금오동 학원)으로 실제 캡처. 모두 라이브.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7895" y="2241550"/>
            <a:ext cx="926608" cy="19049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akaoTalk_Photo_2026-05-11-16-36-58 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345" y="2286000"/>
            <a:ext cx="837708" cy="18160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699" y="4178299"/>
            <a:ext cx="2667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홈 — 폐업 위험도 + 오늘의 액션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095" y="2241550"/>
            <a:ext cx="926608" cy="19049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akaoTalk_Photo_2026-05-11-16-36-59 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545" y="2286000"/>
            <a:ext cx="837708" cy="1816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0899" y="4178299"/>
            <a:ext cx="2667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홈 — 매칭 지원사업 3건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4295" y="2241550"/>
            <a:ext cx="926608" cy="19049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KakaoTalk_Photo_2026-05-11-19-43-37 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745" y="2286000"/>
            <a:ext cx="837708" cy="18160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34100" y="4178299"/>
            <a:ext cx="2667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지원사업 — AI 사업계획서 초안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47495" y="2241550"/>
            <a:ext cx="926608" cy="19049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KakaoTalk_Photo_2026-05-11-19-43-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945" y="2286000"/>
            <a:ext cx="837708" cy="18160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77299" y="4178299"/>
            <a:ext cx="2667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홈 — AI 음성 질문 처리 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17895" y="4260850"/>
            <a:ext cx="926608" cy="19049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KakaoTalk_Photo_2026-05-11-16-37-00 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345" y="4305300"/>
            <a:ext cx="837708" cy="181609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699" y="6197600"/>
            <a:ext cx="2667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인사이트&gt;집중분석 — 이번 주 1가지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095" y="4260850"/>
            <a:ext cx="926608" cy="19049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KakaoTalk_Photo_2026-05-11-19-43-37 0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545" y="4305300"/>
            <a:ext cx="837708" cy="181609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90899" y="6197600"/>
            <a:ext cx="2667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PREMIUM PDF 진단서 — 67점·등급 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04295" y="4260850"/>
            <a:ext cx="926608" cy="19049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KakaoTalk_Photo_2026-05-11-16-37-01 0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745" y="4305300"/>
            <a:ext cx="837708" cy="18160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34100" y="6197600"/>
            <a:ext cx="2667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인사이트&gt;메뉴 — 메뉴 전략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47495" y="4260850"/>
            <a:ext cx="926608" cy="1904999"/>
          </a:xfrm>
          <a:prstGeom prst="roundRect">
            <a:avLst>
              <a:gd name="adj" fmla="val 7000"/>
            </a:avLst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KakaoTalk_Photo_2026-05-11-19-43-1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1945" y="4305300"/>
            <a:ext cx="837708" cy="18160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877299" y="6197600"/>
            <a:ext cx="2667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95AE"/>
                </a:solidFill>
                <a:latin typeface="Pretendard Variable"/>
              </a:rPr>
              <a:t>결제 완료 — SSGI Pro(테스트)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전 화면 라이브 호출 — 백엔드 33개 API 라우트 / 시연 시 실물 데모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15 · UI/UX 완성도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18295" y="431800"/>
            <a:ext cx="2463800" cy="279400"/>
          </a:xfrm>
          <a:prstGeom prst="roundRect">
            <a:avLst>
              <a:gd name="adj" fmla="val 18000"/>
            </a:avLst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8295" y="431800"/>
            <a:ext cx="2463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 Variable"/>
              </a:rPr>
              <a:t>UI/UX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12800"/>
            <a:ext cx="1079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4050 사장님이 </a:t>
            </a:r>
            <a:r>
              <a:rPr sz="2800" b="1">
                <a:solidFill>
                  <a:srgbClr val="0F4C92"/>
                </a:solidFill>
                <a:latin typeface="Pretendard Variable"/>
              </a:rPr>
              <a:t>"한 번에 알아보게"</a:t>
            </a:r>
            <a:r>
              <a:rPr sz="2800" b="1">
                <a:solidFill>
                  <a:srgbClr val="0B1A33"/>
                </a:solidFill>
                <a:latin typeface="Pretendard Variable"/>
              </a:rPr>
              <a:t> — 큰 글씨·1색 강조·3번 클릭.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9398000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PWA(설치형 웹) · 카카오 로그인 15초 · 손실 프레이밍 카피 일관.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108200"/>
            <a:ext cx="3568700" cy="1841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197100"/>
            <a:ext cx="38100" cy="1663700"/>
          </a:xfrm>
          <a:prstGeom prst="rect">
            <a:avLst/>
          </a:prstGeom>
          <a:solidFill>
            <a:srgbClr val="1B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209800"/>
            <a:ext cx="32004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시니어 친화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489199"/>
            <a:ext cx="3200400" cy="1358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본문 큰 글씨 · 한 화면 한 메시지 · 카드형 레이아웃 · 강조색 1개(나머지 회색). 한자 0건 검수.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1650" y="2108200"/>
            <a:ext cx="3568700" cy="1841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1650" y="2197100"/>
            <a:ext cx="38100" cy="1663700"/>
          </a:xfrm>
          <a:prstGeom prst="rect">
            <a:avLst/>
          </a:prstGeom>
          <a:solidFill>
            <a:srgbClr val="1E6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850" y="2209800"/>
            <a:ext cx="32004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3-클릭 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850" y="2489199"/>
            <a:ext cx="3200400" cy="1358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어떤 답이든 3번 안에. 하단 탭 4 → 세부 탭 → 액션. 음성으로는 1번에 점프.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700" y="2108200"/>
            <a:ext cx="3568700" cy="1841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3700" y="2197100"/>
            <a:ext cx="38100" cy="1663700"/>
          </a:xfrm>
          <a:prstGeom prst="rect">
            <a:avLst/>
          </a:prstGeom>
          <a:solidFill>
            <a:srgbClr val="0F4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6900" y="2209800"/>
            <a:ext cx="32004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마찰 최소화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6900" y="2489199"/>
            <a:ext cx="3200400" cy="1358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카카오 OAuth 15초 가입 · 추가 앱 설치 없이 PWA · 알림은 카카오톡으로(도달률 최고).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4102099"/>
            <a:ext cx="3568700" cy="1841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4190999"/>
            <a:ext cx="38100" cy="16637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4203700"/>
            <a:ext cx="32004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손실 프레이밍 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4483100"/>
            <a:ext cx="3200400" cy="1358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"추천"이 아니라 "놓치고 있어요". 마감 D-카운트 · 같은 동네 ○명(k≥10) · 금액 강조 — 행동을 끌어내는 화면 어법.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1650" y="4102099"/>
            <a:ext cx="3568700" cy="1841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1650" y="4190999"/>
            <a:ext cx="38100" cy="1663700"/>
          </a:xfrm>
          <a:prstGeom prst="rect">
            <a:avLst/>
          </a:prstGeom>
          <a:solidFill>
            <a:srgbClr val="8B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4850" y="4203700"/>
            <a:ext cx="32004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정직한 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4850" y="4483100"/>
            <a:ext cx="3200400" cy="1358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추정치는 amber "AI 추정" 칩 · 데이터 출처는 화면에 노출 · 결제 0건은 그대로 표기. 과장 없는 UI.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3700" y="4102099"/>
            <a:ext cx="3568700" cy="1841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3700" y="4190999"/>
            <a:ext cx="38100" cy="16637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6900" y="4203700"/>
            <a:ext cx="3200400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반응형·접근성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6900" y="4483100"/>
            <a:ext cx="3200400" cy="1358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4A5878"/>
                </a:solidFill>
                <a:latin typeface="Pretendard Variable"/>
              </a:rPr>
              <a:t>모바일 우선 · 에러 메시지는 사장님 말투로("마이크 권한이 막혀 있어요") · 로딩/빈 화면 카피까지 설계.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Next.js 14 App Router · next-pwa · Tailwind / 라이브: ssgi-ai-coach.vercel.app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349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A95AE"/>
                </a:solidFill>
                <a:latin typeface="Pretendard Variable"/>
              </a:rPr>
              <a:t>B · 백업 — 시장·로드맵·팀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12800"/>
            <a:ext cx="10795000" cy="76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0B1A33"/>
                </a:solidFill>
                <a:latin typeface="Pretendard Variable"/>
              </a:rPr>
              <a:t>참고 — 사업화 관점 (1차는 상세기획서 중심, 아래는 2차 발표 때 펼칩니다).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68500"/>
            <a:ext cx="3556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시장 (bottom-up)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222500"/>
            <a:ext cx="3556000" cy="2565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2400300"/>
            <a:ext cx="3174999" cy="223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소상공인 약 730만 사업자
× 디지털 수용 약 30%
× 월 9,900원 × 12개월
= 약 2,604억 (SAM, 가설)
SOM: 서울·수도권 우선,
1년차 1,000 MAU 도전 목표.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1968500"/>
            <a:ext cx="355600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1년 로드맵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000" y="2222500"/>
            <a:ext cx="3556000" cy="2565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5499" y="2451100"/>
            <a:ext cx="4698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8900" y="2463800"/>
            <a:ext cx="26924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결제 모듈 안정화 · 카카오페이 정기결제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5499" y="3035300"/>
            <a:ext cx="4698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8900" y="3047999"/>
            <a:ext cx="26924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MAU 확대 · D7 리텐션 25%+ 도전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5499" y="3619499"/>
            <a:ext cx="4698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8900" y="3632199"/>
            <a:ext cx="26924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지원사업 DB 자동 수집 · 업종 플레이북 40→100+ · 1차 출처 보강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499" y="4203700"/>
            <a:ext cx="4698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4C92"/>
                </a:solidFill>
                <a:latin typeface="Pretendard Variable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8900" y="4216400"/>
            <a:ext cx="26924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1,000 MAU · Pre-A 라운드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400" y="1968500"/>
            <a:ext cx="330199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팀 SSGI (4인)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0400" y="2222500"/>
            <a:ext cx="3301999" cy="2565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3600" y="2400300"/>
            <a:ext cx="2921000" cy="223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878"/>
                </a:solidFill>
                <a:latin typeface="Pretendard Variable"/>
              </a:rPr>
              <a:t>PM·데이터 / 백엔드 / 프론트엔드 / AI — 4인 분업.
* 공고 규정상 개인정보(실명) 미기재.
  팀 구성·역할만 표기.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" y="4952999"/>
            <a:ext cx="10972800" cy="1117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800" y="5080000"/>
            <a:ext cx="10566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1">
                <a:solidFill>
                  <a:srgbClr val="0B1A33"/>
                </a:solidFill>
                <a:latin typeface="Pretendard Variable"/>
              </a:rPr>
              <a:t>정직성 — 결제 0건 · 트랙션은 시뮬/베타 단계. LTV/CAC 등은 결제 데이터 확보 후 코호트로 갱신 예정.
VC·데모데이 재활용 시: Ask 슬라이드(모집 금액·사용처)와 트랙션 추이를 추가합니다.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" y="6464299"/>
            <a:ext cx="10972800" cy="0"/>
          </a:xfrm>
          <a:prstGeom prst="line">
            <a:avLst/>
          </a:prstGeom>
          <a:ln w="12700">
            <a:solidFill>
              <a:srgbClr val="DDE2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9600" y="6540500"/>
            <a:ext cx="825499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A95AE"/>
                </a:solidFill>
                <a:latin typeface="Pretendard Variable"/>
              </a:rPr>
              <a:t>TAM/SAM/SOM·로드맵·팀은 2차 발표(사업화 심사)에서 상세 전개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2399" y="65405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5AE"/>
                </a:solidFill>
                <a:latin typeface="Pretendard Variable"/>
              </a:rPr>
              <a:t>팀 SSGI  ·  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