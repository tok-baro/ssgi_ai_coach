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16.png"/><Relationship Id="rId6" Type="http://schemas.openxmlformats.org/officeDocument/2006/relationships/image" Target="../media/image7.png"/><Relationship Id="rId7" Type="http://schemas.openxmlformats.org/officeDocument/2006/relationships/image" Target="../media/image9.png"/><Relationship Id="rId8" Type="http://schemas.openxmlformats.org/officeDocument/2006/relationships/image" Target="../media/image20.png"/><Relationship Id="rId9" Type="http://schemas.openxmlformats.org/officeDocument/2006/relationships/image" Target="../media/image1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556000" cy="68580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8000" y="609600"/>
            <a:ext cx="274320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8A95AE"/>
                </a:solidFill>
                <a:latin typeface="Pretendard Variable"/>
              </a:rPr>
              <a:t>2026 SEOUL BIG DATA
COMPETITION · 창업부문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8000" y="5613400"/>
            <a:ext cx="380999" cy="0"/>
          </a:xfrm>
          <a:prstGeom prst="line">
            <a:avLst/>
          </a:prstGeom>
          <a:ln w="25400">
            <a:solidFill>
              <a:srgbClr val="1B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8000" y="5765800"/>
            <a:ext cx="27432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000" b="0">
                <a:solidFill>
                  <a:srgbClr val="8A95AE"/>
                </a:solidFill>
                <a:latin typeface="Pretendard Variable"/>
              </a:rPr>
              <a:t>팀 SSGI
</a:t>
            </a:r>
            <a:r>
              <a:rPr sz="1000" b="0">
                <a:solidFill>
                  <a:srgbClr val="D7DCE7"/>
                </a:solidFill>
                <a:latin typeface="Pretendard Variable"/>
              </a:rPr>
              <a:t>제출 · 2026. 05. 13.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8000" y="650240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4A5878"/>
                </a:solidFill>
                <a:latin typeface="Pretendard Variable"/>
              </a:rPr>
              <a:t>PRODUCT · SERVICE TRACK · 상세기획서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64000" y="1244599"/>
            <a:ext cx="7619999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0F4C92"/>
                </a:solidFill>
                <a:latin typeface="Pretendard Variable"/>
              </a:rPr>
              <a:t>SOSANGGONGIN · AI BUSINESS COACH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4000" y="1523999"/>
            <a:ext cx="7619999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0" b="1">
                <a:solidFill>
                  <a:srgbClr val="0B1A33"/>
                </a:solidFill>
                <a:latin typeface="Pretendard Variable"/>
              </a:rPr>
              <a:t>SSGI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64000" y="2565400"/>
            <a:ext cx="7619999" cy="355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1F2A44"/>
                </a:solidFill>
                <a:latin typeface="Pretendard Variable"/>
              </a:rPr>
              <a:t>소상공인 AI 경영코치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64000" y="3276599"/>
            <a:ext cx="7619999" cy="139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500" b="1">
                <a:solidFill>
                  <a:srgbClr val="0B1A33"/>
                </a:solidFill>
                <a:latin typeface="Pretendard Variable"/>
              </a:rPr>
              <a:t>사장님이 모르고 놓치는 돈,
</a:t>
            </a:r>
            <a:r>
              <a:rPr sz="3500" b="1">
                <a:solidFill>
                  <a:srgbClr val="0F4C92"/>
                </a:solidFill>
                <a:latin typeface="Pretendard Variable"/>
              </a:rPr>
              <a:t>서울시 데이터</a:t>
            </a:r>
            <a:r>
              <a:rPr sz="3500" b="1">
                <a:solidFill>
                  <a:srgbClr val="0B1A33"/>
                </a:solidFill>
                <a:latin typeface="Pretendard Variable"/>
              </a:rPr>
              <a:t>로 찾아드립니다.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064000" y="5308600"/>
            <a:ext cx="7619999" cy="0"/>
          </a:xfrm>
          <a:prstGeom prst="line">
            <a:avLst/>
          </a:prstGeom>
          <a:ln w="12700">
            <a:solidFill>
              <a:srgbClr val="DD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064000" y="5511800"/>
            <a:ext cx="2413000" cy="1777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8A95AE"/>
                </a:solidFill>
                <a:latin typeface="Pretendard Variable"/>
              </a:rPr>
              <a:t>LIVE FEATURES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64000" y="5715000"/>
            <a:ext cx="2413000" cy="533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600" b="1">
                <a:solidFill>
                  <a:srgbClr val="0B1A33"/>
                </a:solidFill>
                <a:latin typeface="Pretendard Variable"/>
              </a:rPr>
              <a:t>10</a:t>
            </a:r>
            <a:r>
              <a:rPr sz="1700" b="1">
                <a:solidFill>
                  <a:srgbClr val="4A5878"/>
                </a:solidFill>
                <a:latin typeface="Pretendard Variable"/>
              </a:rPr>
              <a:t> 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64000" y="6286500"/>
            <a:ext cx="2413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4A5878"/>
                </a:solidFill>
                <a:latin typeface="Pretendard Variable"/>
              </a:rPr>
              <a:t>지금 실제 작동 중인 기능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31000" y="5511800"/>
            <a:ext cx="2413000" cy="1777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8A95AE"/>
                </a:solidFill>
                <a:latin typeface="Pretendard Variable"/>
              </a:rPr>
              <a:t>SEOUL OPEN DATA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1000" y="5715000"/>
            <a:ext cx="2413000" cy="533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600" b="1">
                <a:solidFill>
                  <a:srgbClr val="0F4C92"/>
                </a:solidFill>
                <a:latin typeface="Pretendard Variable"/>
              </a:rPr>
              <a:t>8</a:t>
            </a:r>
            <a:r>
              <a:rPr sz="1700" b="1">
                <a:solidFill>
                  <a:srgbClr val="4A5878"/>
                </a:solidFill>
                <a:latin typeface="Pretendard Variable"/>
              </a:rPr>
              <a:t> 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1000" y="6286500"/>
            <a:ext cx="2413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4A5878"/>
                </a:solidFill>
                <a:latin typeface="Pretendard Variable"/>
              </a:rPr>
              <a:t>열린데이터광장 데이터셋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98000" y="5511800"/>
            <a:ext cx="2413000" cy="1777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8A95AE"/>
                </a:solidFill>
                <a:latin typeface="Pretendard Variable"/>
              </a:rPr>
              <a:t>PAID USERS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98000" y="5715000"/>
            <a:ext cx="2413000" cy="533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600" b="1">
                <a:solidFill>
                  <a:srgbClr val="0B1A33"/>
                </a:solidFill>
                <a:latin typeface="Pretendard Variable"/>
              </a:rPr>
              <a:t>0</a:t>
            </a:r>
            <a:r>
              <a:rPr sz="1700" b="1">
                <a:solidFill>
                  <a:srgbClr val="4A5878"/>
                </a:solidFill>
                <a:latin typeface="Pretendard Variable"/>
              </a:rPr>
              <a:t> 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98000" y="6286500"/>
            <a:ext cx="2413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4A5878"/>
                </a:solidFill>
                <a:latin typeface="Pretendard Variable"/>
              </a:rPr>
              <a:t>베타 · 트랙션 부풀리지 않습니다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457200"/>
            <a:ext cx="6349999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8A95AE"/>
                </a:solidFill>
                <a:latin typeface="Pretendard Variable"/>
              </a:rPr>
              <a:t>02 ·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812800"/>
            <a:ext cx="8254999" cy="76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>
                <a:solidFill>
                  <a:srgbClr val="0B1A33"/>
                </a:solidFill>
                <a:latin typeface="Pretendard Variable"/>
              </a:rPr>
              <a:t>상세기획서 구성 — 평가표 매칭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435100"/>
            <a:ext cx="8254999" cy="380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4A5878"/>
                </a:solidFill>
                <a:latin typeface="Pretendard Variable"/>
              </a:rPr>
              <a:t>분량과 강조는 심사 가중치(배경·취지 10 / 기능 상세 30 / 앱 60)에 맞춰 배분했어요.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42399" y="533399"/>
            <a:ext cx="2540000" cy="124459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20199" y="635000"/>
            <a:ext cx="22098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>
                <a:solidFill>
                  <a:srgbClr val="8A95AE"/>
                </a:solidFill>
                <a:latin typeface="Pretendard Variable"/>
              </a:rPr>
              <a:t>SCORING WEIGHTS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20199" y="825499"/>
            <a:ext cx="7493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1F2A44"/>
                </a:solidFill>
                <a:latin typeface="Pretendard Variable"/>
              </a:rPr>
              <a:t>기능 상세 설명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20299" y="876299"/>
            <a:ext cx="1117600" cy="50800"/>
          </a:xfrm>
          <a:prstGeom prst="roundRect">
            <a:avLst>
              <a:gd name="adj" fmla="val 50000"/>
            </a:avLst>
          </a:prstGeom>
          <a:solidFill>
            <a:srgbClr val="EC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020299" y="876299"/>
            <a:ext cx="1117600" cy="50800"/>
          </a:xfrm>
          <a:prstGeom prst="roundRect">
            <a:avLst>
              <a:gd name="adj" fmla="val 50000"/>
            </a:avLst>
          </a:prstGeom>
          <a:solidFill>
            <a:srgbClr val="0F4C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88700" y="825499"/>
            <a:ext cx="2413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950" b="1">
                <a:solidFill>
                  <a:srgbClr val="1F2A44"/>
                </a:solidFill>
                <a:latin typeface="Pretendard Variable"/>
              </a:rPr>
              <a:t>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20199" y="1009649"/>
            <a:ext cx="7493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1F2A44"/>
                </a:solidFill>
                <a:latin typeface="Pretendard Variable"/>
              </a:rPr>
              <a:t>화면 구동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20299" y="1060450"/>
            <a:ext cx="1117600" cy="50800"/>
          </a:xfrm>
          <a:prstGeom prst="roundRect">
            <a:avLst>
              <a:gd name="adj" fmla="val 50000"/>
            </a:avLst>
          </a:prstGeom>
          <a:solidFill>
            <a:srgbClr val="EC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020299" y="1060450"/>
            <a:ext cx="745066" cy="50800"/>
          </a:xfrm>
          <a:prstGeom prst="roundRect">
            <a:avLst>
              <a:gd name="adj" fmla="val 50000"/>
            </a:avLst>
          </a:prstGeom>
          <a:solidFill>
            <a:srgbClr val="1B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188700" y="1009649"/>
            <a:ext cx="2413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950" b="1">
                <a:solidFill>
                  <a:srgbClr val="1F2A44"/>
                </a:solidFill>
                <a:latin typeface="Pretendard Variable"/>
              </a:rPr>
              <a:t>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20199" y="1193800"/>
            <a:ext cx="7493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1F2A44"/>
                </a:solidFill>
                <a:latin typeface="Pretendard Variable"/>
              </a:rPr>
              <a:t>UI/UX 완성도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20299" y="1244599"/>
            <a:ext cx="1117600" cy="50800"/>
          </a:xfrm>
          <a:prstGeom prst="roundRect">
            <a:avLst>
              <a:gd name="adj" fmla="val 50000"/>
            </a:avLst>
          </a:prstGeom>
          <a:solidFill>
            <a:srgbClr val="EC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020299" y="1244599"/>
            <a:ext cx="745066" cy="50800"/>
          </a:xfrm>
          <a:prstGeom prst="roundRect">
            <a:avLst>
              <a:gd name="adj" fmla="val 50000"/>
            </a:avLst>
          </a:prstGeom>
          <a:solidFill>
            <a:srgbClr val="1B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188700" y="1193800"/>
            <a:ext cx="2413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950" b="1">
                <a:solidFill>
                  <a:srgbClr val="1F2A44"/>
                </a:solidFill>
                <a:latin typeface="Pretendard Variable"/>
              </a:rPr>
              <a:t>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20199" y="1377950"/>
            <a:ext cx="7493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1F2A44"/>
                </a:solidFill>
                <a:latin typeface="Pretendard Variable"/>
              </a:rPr>
              <a:t>공공·AI 활용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20299" y="1428750"/>
            <a:ext cx="1117600" cy="50800"/>
          </a:xfrm>
          <a:prstGeom prst="roundRect">
            <a:avLst>
              <a:gd name="adj" fmla="val 50000"/>
            </a:avLst>
          </a:prstGeom>
          <a:solidFill>
            <a:srgbClr val="EC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0020299" y="1428750"/>
            <a:ext cx="745066" cy="50800"/>
          </a:xfrm>
          <a:prstGeom prst="roundRect">
            <a:avLst>
              <a:gd name="adj" fmla="val 50000"/>
            </a:avLst>
          </a:prstGeom>
          <a:solidFill>
            <a:srgbClr val="1B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188700" y="1377950"/>
            <a:ext cx="2413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950" b="1">
                <a:solidFill>
                  <a:srgbClr val="1F2A44"/>
                </a:solidFill>
                <a:latin typeface="Pretendard Variable"/>
              </a:rPr>
              <a:t>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20199" y="1562100"/>
            <a:ext cx="7493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1F2A44"/>
                </a:solidFill>
                <a:latin typeface="Pretendard Variable"/>
              </a:rPr>
              <a:t>개발 배경·취지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20299" y="1612900"/>
            <a:ext cx="1117600" cy="50800"/>
          </a:xfrm>
          <a:prstGeom prst="roundRect">
            <a:avLst>
              <a:gd name="adj" fmla="val 50000"/>
            </a:avLst>
          </a:prstGeom>
          <a:solidFill>
            <a:srgbClr val="EC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0020299" y="1612900"/>
            <a:ext cx="372533" cy="50800"/>
          </a:xfrm>
          <a:prstGeom prst="roundRect">
            <a:avLst>
              <a:gd name="adj" fmla="val 50000"/>
            </a:avLst>
          </a:prstGeom>
          <a:solidFill>
            <a:srgbClr val="4A58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188700" y="1562100"/>
            <a:ext cx="2413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950" b="1">
                <a:solidFill>
                  <a:srgbClr val="1F2A44"/>
                </a:solidFill>
                <a:latin typeface="Pretendard Variable"/>
              </a:rPr>
              <a:t>10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09600" y="2324100"/>
            <a:ext cx="5334000" cy="0"/>
          </a:xfrm>
          <a:prstGeom prst="line">
            <a:avLst/>
          </a:prstGeom>
          <a:ln w="9525">
            <a:solidFill>
              <a:srgbClr val="DD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09600" y="2006599"/>
            <a:ext cx="3302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F4C92"/>
                </a:solidFill>
                <a:latin typeface="Pretendard Variable"/>
              </a:rPr>
              <a:t>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3299" y="1993899"/>
            <a:ext cx="45720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>
                <a:solidFill>
                  <a:srgbClr val="1F2A44"/>
                </a:solidFill>
                <a:latin typeface="Pretendard Variable"/>
              </a:rPr>
              <a:t>표지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19600" y="2051049"/>
            <a:ext cx="1523999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850" b="0">
                <a:solidFill>
                  <a:srgbClr val="8A95AE"/>
                </a:solidFill>
                <a:latin typeface="Pretendard Variable"/>
              </a:rPr>
              <a:t>COVER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09600" y="2768600"/>
            <a:ext cx="5334000" cy="0"/>
          </a:xfrm>
          <a:prstGeom prst="line">
            <a:avLst/>
          </a:prstGeom>
          <a:ln w="9525">
            <a:solidFill>
              <a:srgbClr val="DD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09600" y="2451100"/>
            <a:ext cx="3302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F4C92"/>
                </a:solidFill>
                <a:latin typeface="Pretendard Variable"/>
              </a:rPr>
              <a:t>03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3299" y="2438400"/>
            <a:ext cx="2730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>
                <a:solidFill>
                  <a:srgbClr val="1F2A44"/>
                </a:solidFill>
                <a:latin typeface="Pretendard Variable"/>
              </a:rPr>
              <a:t>개발 배경 ① — 사장님의 정보 비대칭 3가지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495800" y="2482850"/>
            <a:ext cx="1447800" cy="177799"/>
          </a:xfrm>
          <a:prstGeom prst="roundRect">
            <a:avLst>
              <a:gd name="adj" fmla="val 30000"/>
            </a:avLst>
          </a:prstGeom>
          <a:solidFill>
            <a:srgbClr val="E8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95800" y="2482850"/>
            <a:ext cx="1447800" cy="1777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1">
                <a:solidFill>
                  <a:srgbClr val="0F4C92"/>
                </a:solidFill>
                <a:latin typeface="Pretendard Variable"/>
              </a:rPr>
              <a:t>배경·취지 10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09600" y="3213100"/>
            <a:ext cx="5334000" cy="0"/>
          </a:xfrm>
          <a:prstGeom prst="line">
            <a:avLst/>
          </a:prstGeom>
          <a:ln w="9525">
            <a:solidFill>
              <a:srgbClr val="DD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609600" y="2895600"/>
            <a:ext cx="3302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F4C92"/>
                </a:solidFill>
                <a:latin typeface="Pretendard Variable"/>
              </a:rPr>
              <a:t>04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3299" y="2882900"/>
            <a:ext cx="2730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>
                <a:solidFill>
                  <a:srgbClr val="1F2A44"/>
                </a:solidFill>
                <a:latin typeface="Pretendard Variable"/>
              </a:rPr>
              <a:t>개발 배경 ② — 누가·왜 + 공공데이터 이용 활성화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495800" y="2927350"/>
            <a:ext cx="1447800" cy="177799"/>
          </a:xfrm>
          <a:prstGeom prst="roundRect">
            <a:avLst>
              <a:gd name="adj" fmla="val 30000"/>
            </a:avLst>
          </a:prstGeom>
          <a:solidFill>
            <a:srgbClr val="E8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495800" y="2927350"/>
            <a:ext cx="1447800" cy="1777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1">
                <a:solidFill>
                  <a:srgbClr val="0F4C92"/>
                </a:solidFill>
                <a:latin typeface="Pretendard Variable"/>
              </a:rPr>
              <a:t>배경·취지 10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609600" y="3657600"/>
            <a:ext cx="5334000" cy="0"/>
          </a:xfrm>
          <a:prstGeom prst="line">
            <a:avLst/>
          </a:prstGeom>
          <a:ln w="9525">
            <a:solidFill>
              <a:srgbClr val="DD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609600" y="3340100"/>
            <a:ext cx="3302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F4C92"/>
                </a:solidFill>
                <a:latin typeface="Pretendard Variable"/>
              </a:rPr>
              <a:t>05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3299" y="3327400"/>
            <a:ext cx="2730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>
                <a:solidFill>
                  <a:srgbClr val="1F2A44"/>
                </a:solidFill>
                <a:latin typeface="Pretendard Variable"/>
              </a:rPr>
              <a:t>서비스 개요 — 한 줄 정의 + 전체 기능 지도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495800" y="3371850"/>
            <a:ext cx="1447800" cy="177799"/>
          </a:xfrm>
          <a:prstGeom prst="roundRect">
            <a:avLst>
              <a:gd name="adj" fmla="val 30000"/>
            </a:avLst>
          </a:prstGeom>
          <a:solidFill>
            <a:srgbClr val="0F4C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495800" y="3371850"/>
            <a:ext cx="1447800" cy="1777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1">
                <a:solidFill>
                  <a:srgbClr val="FFFFFF"/>
                </a:solidFill>
                <a:latin typeface="Pretendard Variable"/>
              </a:rPr>
              <a:t>기능 상세 30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609600" y="4102099"/>
            <a:ext cx="5334000" cy="0"/>
          </a:xfrm>
          <a:prstGeom prst="line">
            <a:avLst/>
          </a:prstGeom>
          <a:ln w="9525">
            <a:solidFill>
              <a:srgbClr val="DD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609600" y="3784599"/>
            <a:ext cx="3302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F4C92"/>
                </a:solidFill>
                <a:latin typeface="Pretendard Variable"/>
              </a:rPr>
              <a:t>06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03299" y="3771900"/>
            <a:ext cx="2730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>
                <a:solidFill>
                  <a:srgbClr val="1F2A44"/>
                </a:solidFill>
                <a:latin typeface="Pretendard Variable"/>
              </a:rPr>
              <a:t>활용 공공데이터 — 서울 8종 + 국세청 표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495800" y="3816349"/>
            <a:ext cx="1447800" cy="177799"/>
          </a:xfrm>
          <a:prstGeom prst="roundRect">
            <a:avLst>
              <a:gd name="adj" fmla="val 30000"/>
            </a:avLst>
          </a:prstGeom>
          <a:solidFill>
            <a:srgbClr val="E8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495800" y="3816349"/>
            <a:ext cx="1447800" cy="1777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1">
                <a:solidFill>
                  <a:srgbClr val="0F4C92"/>
                </a:solidFill>
                <a:latin typeface="Pretendard Variable"/>
              </a:rPr>
              <a:t>공공·AI 20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609600" y="4546600"/>
            <a:ext cx="5334000" cy="0"/>
          </a:xfrm>
          <a:prstGeom prst="line">
            <a:avLst/>
          </a:prstGeom>
          <a:ln w="9525">
            <a:solidFill>
              <a:srgbClr val="DD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609600" y="4229100"/>
            <a:ext cx="3302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F4C92"/>
                </a:solidFill>
                <a:latin typeface="Pretendard Variable"/>
              </a:rPr>
              <a:t>07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03299" y="4216400"/>
            <a:ext cx="2730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>
                <a:solidFill>
                  <a:srgbClr val="1F2A44"/>
                </a:solidFill>
                <a:latin typeface="Pretendard Variable"/>
              </a:rPr>
              <a:t>AI 활용 — 결정론 엔진 + RAG + GPT-4o 4층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495800" y="4260850"/>
            <a:ext cx="1447800" cy="177799"/>
          </a:xfrm>
          <a:prstGeom prst="roundRect">
            <a:avLst>
              <a:gd name="adj" fmla="val 30000"/>
            </a:avLst>
          </a:prstGeom>
          <a:solidFill>
            <a:srgbClr val="E8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495800" y="4260850"/>
            <a:ext cx="1447800" cy="1777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1">
                <a:solidFill>
                  <a:srgbClr val="0F4C92"/>
                </a:solidFill>
                <a:latin typeface="Pretendard Variable"/>
              </a:rPr>
              <a:t>공공·AI 20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609600" y="4991100"/>
            <a:ext cx="5334000" cy="0"/>
          </a:xfrm>
          <a:prstGeom prst="line">
            <a:avLst/>
          </a:prstGeom>
          <a:ln w="9525">
            <a:solidFill>
              <a:srgbClr val="DD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609600" y="4673600"/>
            <a:ext cx="3302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F4C92"/>
                </a:solidFill>
                <a:latin typeface="Pretendard Variable"/>
              </a:rPr>
              <a:t>08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03299" y="4660900"/>
            <a:ext cx="27305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>
                <a:solidFill>
                  <a:srgbClr val="1F2A44"/>
                </a:solidFill>
                <a:latin typeface="Pretendard Variable"/>
              </a:rPr>
              <a:t>기능 상세 ① — 폐업 위험도 진단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203700" y="4705350"/>
            <a:ext cx="1739900" cy="177799"/>
          </a:xfrm>
          <a:prstGeom prst="roundRect">
            <a:avLst>
              <a:gd name="adj" fmla="val 30000"/>
            </a:avLst>
          </a:prstGeom>
          <a:solidFill>
            <a:srgbClr val="0F4C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203700" y="4705350"/>
            <a:ext cx="1739900" cy="1777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1">
                <a:solidFill>
                  <a:srgbClr val="FFFFFF"/>
                </a:solidFill>
                <a:latin typeface="Pretendard Variable"/>
              </a:rPr>
              <a:t>기능 상세 30 ★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609600" y="5435599"/>
            <a:ext cx="5334000" cy="0"/>
          </a:xfrm>
          <a:prstGeom prst="line">
            <a:avLst/>
          </a:prstGeom>
          <a:ln w="9525">
            <a:solidFill>
              <a:srgbClr val="DD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609600" y="5118100"/>
            <a:ext cx="3302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F4C92"/>
                </a:solidFill>
                <a:latin typeface="Pretendard Variable"/>
              </a:rPr>
              <a:t>09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03299" y="5105400"/>
            <a:ext cx="27305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>
                <a:solidFill>
                  <a:srgbClr val="1F2A44"/>
                </a:solidFill>
                <a:latin typeface="Pretendard Variable"/>
              </a:rPr>
              <a:t>기능 상세 ② — 매일 1줄 액션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203700" y="5149849"/>
            <a:ext cx="1739900" cy="177799"/>
          </a:xfrm>
          <a:prstGeom prst="roundRect">
            <a:avLst>
              <a:gd name="adj" fmla="val 30000"/>
            </a:avLst>
          </a:prstGeom>
          <a:solidFill>
            <a:srgbClr val="0F4C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203700" y="5149849"/>
            <a:ext cx="1739900" cy="1777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1">
                <a:solidFill>
                  <a:srgbClr val="FFFFFF"/>
                </a:solidFill>
                <a:latin typeface="Pretendard Variable"/>
              </a:rPr>
              <a:t>기능 상세 30 ★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609600" y="5880100"/>
            <a:ext cx="5334000" cy="0"/>
          </a:xfrm>
          <a:prstGeom prst="line">
            <a:avLst/>
          </a:prstGeom>
          <a:ln w="9525">
            <a:solidFill>
              <a:srgbClr val="DD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609600" y="5562600"/>
            <a:ext cx="3302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F4C92"/>
                </a:solidFill>
                <a:latin typeface="Pretendard Variable"/>
              </a:rPr>
              <a:t>10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03299" y="5549899"/>
            <a:ext cx="2730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>
                <a:solidFill>
                  <a:srgbClr val="1F2A44"/>
                </a:solidFill>
                <a:latin typeface="Pretendard Variable"/>
              </a:rPr>
              <a:t>기능 상세 ③ — 지원금 매칭 + AI 사업계획서 초안 (RAG)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4203700" y="5594350"/>
            <a:ext cx="1739900" cy="177799"/>
          </a:xfrm>
          <a:prstGeom prst="roundRect">
            <a:avLst>
              <a:gd name="adj" fmla="val 30000"/>
            </a:avLst>
          </a:prstGeom>
          <a:solidFill>
            <a:srgbClr val="0F4C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203700" y="5594350"/>
            <a:ext cx="1739900" cy="1777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1">
                <a:solidFill>
                  <a:srgbClr val="FFFFFF"/>
                </a:solidFill>
                <a:latin typeface="Pretendard Variable"/>
              </a:rPr>
              <a:t>기능 상세 30 ★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609600" y="6324599"/>
            <a:ext cx="5334000" cy="0"/>
          </a:xfrm>
          <a:prstGeom prst="line">
            <a:avLst/>
          </a:prstGeom>
          <a:ln w="9525">
            <a:solidFill>
              <a:srgbClr val="DD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609600" y="6007099"/>
            <a:ext cx="3302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F4C92"/>
                </a:solidFill>
                <a:latin typeface="Pretendard Variable"/>
              </a:rPr>
              <a:t>11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03299" y="5994400"/>
            <a:ext cx="2730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>
                <a:solidFill>
                  <a:srgbClr val="1F2A44"/>
                </a:solidFill>
                <a:latin typeface="Pretendard Variable"/>
              </a:rPr>
              <a:t>기능 상세 ④ — 인사이트: 경쟁·집중 분석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4203700" y="6038849"/>
            <a:ext cx="1739900" cy="177799"/>
          </a:xfrm>
          <a:prstGeom prst="roundRect">
            <a:avLst>
              <a:gd name="adj" fmla="val 30000"/>
            </a:avLst>
          </a:prstGeom>
          <a:solidFill>
            <a:srgbClr val="0F4C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203700" y="6038849"/>
            <a:ext cx="1739900" cy="1777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1">
                <a:solidFill>
                  <a:srgbClr val="FFFFFF"/>
                </a:solidFill>
                <a:latin typeface="Pretendard Variable"/>
              </a:rPr>
              <a:t>기능 상세 30 ★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6197600" y="2324100"/>
            <a:ext cx="5334000" cy="0"/>
          </a:xfrm>
          <a:prstGeom prst="line">
            <a:avLst/>
          </a:prstGeom>
          <a:ln w="9525">
            <a:solidFill>
              <a:srgbClr val="DD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6197600" y="2006599"/>
            <a:ext cx="3302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F4C92"/>
                </a:solidFill>
                <a:latin typeface="Pretendard Variable"/>
              </a:rP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591300" y="1993899"/>
            <a:ext cx="2730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>
                <a:solidFill>
                  <a:srgbClr val="1F2A44"/>
                </a:solidFill>
                <a:latin typeface="Pretendard Variable"/>
              </a:rPr>
              <a:t>기능 상세 ⑤ — AI 종합 진단 + PREMIUM PDF 진단서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9791700" y="2038349"/>
            <a:ext cx="1739900" cy="177799"/>
          </a:xfrm>
          <a:prstGeom prst="roundRect">
            <a:avLst>
              <a:gd name="adj" fmla="val 30000"/>
            </a:avLst>
          </a:prstGeom>
          <a:solidFill>
            <a:srgbClr val="0F4C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791700" y="2038349"/>
            <a:ext cx="1739900" cy="1777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1">
                <a:solidFill>
                  <a:srgbClr val="FFFFFF"/>
                </a:solidFill>
                <a:latin typeface="Pretendard Variable"/>
              </a:rPr>
              <a:t>기능 상세 30 ★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6197600" y="2768600"/>
            <a:ext cx="5334000" cy="0"/>
          </a:xfrm>
          <a:prstGeom prst="line">
            <a:avLst/>
          </a:prstGeom>
          <a:ln w="9525">
            <a:solidFill>
              <a:srgbClr val="DD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6197600" y="2451100"/>
            <a:ext cx="3302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F4C92"/>
                </a:solidFill>
                <a:latin typeface="Pretendard Variable"/>
              </a:rPr>
              <a:t>13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591300" y="2438400"/>
            <a:ext cx="2730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>
                <a:solidFill>
                  <a:srgbClr val="1F2A44"/>
                </a:solidFill>
                <a:latin typeface="Pretendard Variable"/>
              </a:rPr>
              <a:t>기능 상세 ⑥ — 마케팅 진단: 채널·카피·객단가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9791700" y="2482850"/>
            <a:ext cx="1739900" cy="177799"/>
          </a:xfrm>
          <a:prstGeom prst="roundRect">
            <a:avLst>
              <a:gd name="adj" fmla="val 30000"/>
            </a:avLst>
          </a:prstGeom>
          <a:solidFill>
            <a:srgbClr val="0F4C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9791700" y="2482850"/>
            <a:ext cx="1739900" cy="1777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1">
                <a:solidFill>
                  <a:srgbClr val="FFFFFF"/>
                </a:solidFill>
                <a:latin typeface="Pretendard Variable"/>
              </a:rPr>
              <a:t>기능 상세 30 ★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6197600" y="3213100"/>
            <a:ext cx="5334000" cy="0"/>
          </a:xfrm>
          <a:prstGeom prst="line">
            <a:avLst/>
          </a:prstGeom>
          <a:ln w="9525">
            <a:solidFill>
              <a:srgbClr val="DD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6197600" y="2895600"/>
            <a:ext cx="3302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F4C92"/>
                </a:solidFill>
                <a:latin typeface="Pretendard Variable"/>
              </a:rPr>
              <a:t>14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591300" y="2882900"/>
            <a:ext cx="2730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>
                <a:solidFill>
                  <a:srgbClr val="1F2A44"/>
                </a:solidFill>
                <a:latin typeface="Pretendard Variable"/>
              </a:rPr>
              <a:t>기능 상세 ⑦ — 메뉴 전략: 갭·시즌·차별화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9791700" y="2927350"/>
            <a:ext cx="1739900" cy="177799"/>
          </a:xfrm>
          <a:prstGeom prst="roundRect">
            <a:avLst>
              <a:gd name="adj" fmla="val 30000"/>
            </a:avLst>
          </a:prstGeom>
          <a:solidFill>
            <a:srgbClr val="0F4C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9791700" y="2927350"/>
            <a:ext cx="1739900" cy="1777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1">
                <a:solidFill>
                  <a:srgbClr val="FFFFFF"/>
                </a:solidFill>
                <a:latin typeface="Pretendard Variable"/>
              </a:rPr>
              <a:t>기능 상세 30 ★</a:t>
            </a:r>
          </a:p>
        </p:txBody>
      </p:sp>
      <p:cxnSp>
        <p:nvCxnSpPr>
          <p:cNvPr id="92" name="Connector 91"/>
          <p:cNvCxnSpPr/>
          <p:nvPr/>
        </p:nvCxnSpPr>
        <p:spPr>
          <a:xfrm>
            <a:off x="6197600" y="3657600"/>
            <a:ext cx="5334000" cy="0"/>
          </a:xfrm>
          <a:prstGeom prst="line">
            <a:avLst/>
          </a:prstGeom>
          <a:ln w="9525">
            <a:solidFill>
              <a:srgbClr val="DD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TextBox 92"/>
          <p:cNvSpPr txBox="1"/>
          <p:nvPr/>
        </p:nvSpPr>
        <p:spPr>
          <a:xfrm>
            <a:off x="6197600" y="3340100"/>
            <a:ext cx="3302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F4C92"/>
                </a:solidFill>
                <a:latin typeface="Pretendard Variable"/>
              </a:rPr>
              <a:t>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591300" y="3327400"/>
            <a:ext cx="2730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>
                <a:solidFill>
                  <a:srgbClr val="1F2A44"/>
                </a:solidFill>
                <a:latin typeface="Pretendard Variable"/>
              </a:rPr>
              <a:t>기능 상세 ⑧ — 음성 질문 + 서울 문화행사 알림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9791700" y="3371850"/>
            <a:ext cx="1739900" cy="177799"/>
          </a:xfrm>
          <a:prstGeom prst="roundRect">
            <a:avLst>
              <a:gd name="adj" fmla="val 30000"/>
            </a:avLst>
          </a:prstGeom>
          <a:solidFill>
            <a:srgbClr val="0F4C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9791700" y="3371850"/>
            <a:ext cx="1739900" cy="1777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1">
                <a:solidFill>
                  <a:srgbClr val="FFFFFF"/>
                </a:solidFill>
                <a:latin typeface="Pretendard Variable"/>
              </a:rPr>
              <a:t>기능 상세 30 ★</a:t>
            </a:r>
          </a:p>
        </p:txBody>
      </p:sp>
      <p:cxnSp>
        <p:nvCxnSpPr>
          <p:cNvPr id="97" name="Connector 96"/>
          <p:cNvCxnSpPr/>
          <p:nvPr/>
        </p:nvCxnSpPr>
        <p:spPr>
          <a:xfrm>
            <a:off x="6197600" y="4102099"/>
            <a:ext cx="5334000" cy="0"/>
          </a:xfrm>
          <a:prstGeom prst="line">
            <a:avLst/>
          </a:prstGeom>
          <a:ln w="9525">
            <a:solidFill>
              <a:srgbClr val="DD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/>
          <p:cNvSpPr txBox="1"/>
          <p:nvPr/>
        </p:nvSpPr>
        <p:spPr>
          <a:xfrm>
            <a:off x="6197600" y="3784599"/>
            <a:ext cx="3302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F4C92"/>
                </a:solidFill>
                <a:latin typeface="Pretendard Variable"/>
              </a:rPr>
              <a:t>16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591300" y="3771900"/>
            <a:ext cx="2730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>
                <a:solidFill>
                  <a:srgbClr val="1F2A44"/>
                </a:solidFill>
                <a:latin typeface="Pretendard Variable"/>
              </a:rPr>
              <a:t>기능 상세 ⑨ — 카카오페이 결제 + Pro 업그레이드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9791700" y="3816349"/>
            <a:ext cx="1739900" cy="177799"/>
          </a:xfrm>
          <a:prstGeom prst="roundRect">
            <a:avLst>
              <a:gd name="adj" fmla="val 30000"/>
            </a:avLst>
          </a:prstGeom>
          <a:solidFill>
            <a:srgbClr val="0F4C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9791700" y="3816349"/>
            <a:ext cx="1739900" cy="1777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1">
                <a:solidFill>
                  <a:srgbClr val="FFFFFF"/>
                </a:solidFill>
                <a:latin typeface="Pretendard Variable"/>
              </a:rPr>
              <a:t>기능 상세 30 ★</a:t>
            </a:r>
          </a:p>
        </p:txBody>
      </p:sp>
      <p:cxnSp>
        <p:nvCxnSpPr>
          <p:cNvPr id="102" name="Connector 101"/>
          <p:cNvCxnSpPr/>
          <p:nvPr/>
        </p:nvCxnSpPr>
        <p:spPr>
          <a:xfrm>
            <a:off x="6197600" y="4546600"/>
            <a:ext cx="5334000" cy="0"/>
          </a:xfrm>
          <a:prstGeom prst="line">
            <a:avLst/>
          </a:prstGeom>
          <a:ln w="9525">
            <a:solidFill>
              <a:srgbClr val="DD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TextBox 102"/>
          <p:cNvSpPr txBox="1"/>
          <p:nvPr/>
        </p:nvSpPr>
        <p:spPr>
          <a:xfrm>
            <a:off x="6197600" y="4229100"/>
            <a:ext cx="3302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F4C92"/>
                </a:solidFill>
                <a:latin typeface="Pretendard Variable"/>
              </a:rPr>
              <a:t>17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591300" y="4216400"/>
            <a:ext cx="2730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>
                <a:solidFill>
                  <a:srgbClr val="1F2A44"/>
                </a:solidFill>
                <a:latin typeface="Pretendard Variable"/>
              </a:rPr>
              <a:t>화면 흐름도 — 메인 4탭 → 인사이트 4탭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10083800" y="4260850"/>
            <a:ext cx="1447800" cy="177799"/>
          </a:xfrm>
          <a:prstGeom prst="roundRect">
            <a:avLst>
              <a:gd name="adj" fmla="val 30000"/>
            </a:avLst>
          </a:prstGeom>
          <a:solidFill>
            <a:srgbClr val="E8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10083800" y="4260850"/>
            <a:ext cx="1447800" cy="1777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1">
                <a:solidFill>
                  <a:srgbClr val="0F4C92"/>
                </a:solidFill>
                <a:latin typeface="Pretendard Variable"/>
              </a:rPr>
              <a:t>화면 구동 20</a:t>
            </a:r>
          </a:p>
        </p:txBody>
      </p:sp>
      <p:cxnSp>
        <p:nvCxnSpPr>
          <p:cNvPr id="107" name="Connector 106"/>
          <p:cNvCxnSpPr/>
          <p:nvPr/>
        </p:nvCxnSpPr>
        <p:spPr>
          <a:xfrm>
            <a:off x="6197600" y="4991100"/>
            <a:ext cx="5334000" cy="0"/>
          </a:xfrm>
          <a:prstGeom prst="line">
            <a:avLst/>
          </a:prstGeom>
          <a:ln w="9525">
            <a:solidFill>
              <a:srgbClr val="DD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TextBox 107"/>
          <p:cNvSpPr txBox="1"/>
          <p:nvPr/>
        </p:nvSpPr>
        <p:spPr>
          <a:xfrm>
            <a:off x="6197600" y="4673600"/>
            <a:ext cx="3302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F4C92"/>
                </a:solidFill>
                <a:latin typeface="Pretendard Variable"/>
              </a:rPr>
              <a:t>18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591300" y="4660900"/>
            <a:ext cx="27305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>
                <a:solidFill>
                  <a:srgbClr val="1F2A44"/>
                </a:solidFill>
                <a:latin typeface="Pretendard Variable"/>
              </a:rPr>
              <a:t>라이브 화면 — 실제 캡처 모음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10083800" y="4705350"/>
            <a:ext cx="1447800" cy="177799"/>
          </a:xfrm>
          <a:prstGeom prst="roundRect">
            <a:avLst>
              <a:gd name="adj" fmla="val 30000"/>
            </a:avLst>
          </a:prstGeom>
          <a:solidFill>
            <a:srgbClr val="E8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10083800" y="4705350"/>
            <a:ext cx="1447800" cy="1777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1">
                <a:solidFill>
                  <a:srgbClr val="0F4C92"/>
                </a:solidFill>
                <a:latin typeface="Pretendard Variable"/>
              </a:rPr>
              <a:t>화면 구동 20</a:t>
            </a:r>
          </a:p>
        </p:txBody>
      </p:sp>
      <p:cxnSp>
        <p:nvCxnSpPr>
          <p:cNvPr id="112" name="Connector 111"/>
          <p:cNvCxnSpPr/>
          <p:nvPr/>
        </p:nvCxnSpPr>
        <p:spPr>
          <a:xfrm>
            <a:off x="6197600" y="5435599"/>
            <a:ext cx="5334000" cy="0"/>
          </a:xfrm>
          <a:prstGeom prst="line">
            <a:avLst/>
          </a:prstGeom>
          <a:ln w="9525">
            <a:solidFill>
              <a:srgbClr val="DD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TextBox 112"/>
          <p:cNvSpPr txBox="1"/>
          <p:nvPr/>
        </p:nvSpPr>
        <p:spPr>
          <a:xfrm>
            <a:off x="6197600" y="5118100"/>
            <a:ext cx="3302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F4C92"/>
                </a:solidFill>
                <a:latin typeface="Pretendard Variable"/>
              </a:rPr>
              <a:t>19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6591300" y="5105400"/>
            <a:ext cx="2730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>
                <a:solidFill>
                  <a:srgbClr val="1F2A44"/>
                </a:solidFill>
                <a:latin typeface="Pretendard Variable"/>
              </a:rPr>
              <a:t>UI/UX — 시니어 친화 + 3-클릭 룰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10083800" y="5149849"/>
            <a:ext cx="1447800" cy="177799"/>
          </a:xfrm>
          <a:prstGeom prst="roundRect">
            <a:avLst>
              <a:gd name="adj" fmla="val 30000"/>
            </a:avLst>
          </a:prstGeom>
          <a:solidFill>
            <a:srgbClr val="F1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10083800" y="5149849"/>
            <a:ext cx="1447800" cy="1777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1">
                <a:solidFill>
                  <a:srgbClr val="4A5878"/>
                </a:solidFill>
                <a:latin typeface="Pretendard Variable"/>
              </a:rPr>
              <a:t>UI/UX 20</a:t>
            </a:r>
          </a:p>
        </p:txBody>
      </p:sp>
      <p:cxnSp>
        <p:nvCxnSpPr>
          <p:cNvPr id="117" name="Connector 116"/>
          <p:cNvCxnSpPr/>
          <p:nvPr/>
        </p:nvCxnSpPr>
        <p:spPr>
          <a:xfrm>
            <a:off x="6197600" y="5880100"/>
            <a:ext cx="5334000" cy="0"/>
          </a:xfrm>
          <a:prstGeom prst="line">
            <a:avLst/>
          </a:prstGeom>
          <a:ln w="9525">
            <a:solidFill>
              <a:srgbClr val="DD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TextBox 117"/>
          <p:cNvSpPr txBox="1"/>
          <p:nvPr/>
        </p:nvSpPr>
        <p:spPr>
          <a:xfrm>
            <a:off x="6197600" y="5562600"/>
            <a:ext cx="3302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8A95AE"/>
                </a:solidFill>
                <a:latin typeface="Pretendard Variable"/>
              </a:rPr>
              <a:t>B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591300" y="5549899"/>
            <a:ext cx="457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>
                <a:solidFill>
                  <a:srgbClr val="8A95AE"/>
                </a:solidFill>
                <a:latin typeface="Pretendard Variable"/>
              </a:rPr>
              <a:t>백업 — 시장·로드맵·팀 (2차 발표용)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007600" y="5607049"/>
            <a:ext cx="1523999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850" b="0">
                <a:solidFill>
                  <a:srgbClr val="8A95AE"/>
                </a:solidFill>
                <a:latin typeface="Pretendard Variable"/>
              </a:rPr>
              <a:t>BACKUP</a:t>
            </a:r>
          </a:p>
        </p:txBody>
      </p:sp>
      <p:cxnSp>
        <p:nvCxnSpPr>
          <p:cNvPr id="121" name="Connector 120"/>
          <p:cNvCxnSpPr/>
          <p:nvPr/>
        </p:nvCxnSpPr>
        <p:spPr>
          <a:xfrm>
            <a:off x="609600" y="6464299"/>
            <a:ext cx="10972800" cy="0"/>
          </a:xfrm>
          <a:prstGeom prst="line">
            <a:avLst/>
          </a:prstGeom>
          <a:ln w="12700">
            <a:solidFill>
              <a:srgbClr val="DD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TextBox 121"/>
          <p:cNvSpPr txBox="1"/>
          <p:nvPr/>
        </p:nvSpPr>
        <p:spPr>
          <a:xfrm>
            <a:off x="609600" y="6540500"/>
            <a:ext cx="8254999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8A95AE"/>
                </a:solidFill>
                <a:latin typeface="Pretendard Variable"/>
              </a:rPr>
              <a:t>1차 서류 100점 = 앱 60(공공·AI 20 / 화면 20 / UI·UX 20) + 상세기획서 40(배경·취지 10 / 기능 상세 30) + 결합 가점 2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042399" y="6540500"/>
            <a:ext cx="254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8A95AE"/>
                </a:solidFill>
                <a:latin typeface="Pretendard Variable"/>
              </a:rPr>
              <a:t>팀 SSGI  ·  2 / 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457200"/>
            <a:ext cx="6349999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8A95AE"/>
                </a:solidFill>
                <a:latin typeface="Pretendard Variable"/>
              </a:rPr>
              <a:t>01 · 개발 배경 및 취지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18295" y="431800"/>
            <a:ext cx="2463800" cy="279400"/>
          </a:xfrm>
          <a:prstGeom prst="roundRect">
            <a:avLst>
              <a:gd name="adj" fmla="val 18000"/>
            </a:avLst>
          </a:prstGeom>
          <a:solidFill>
            <a:srgbClr val="1B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18295" y="431800"/>
            <a:ext cx="24638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latin typeface="Pretendard Variable"/>
              </a:rPr>
              <a:t>배경·취지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12800"/>
            <a:ext cx="9525000" cy="76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>
                <a:solidFill>
                  <a:srgbClr val="0B1A33"/>
                </a:solidFill>
                <a:latin typeface="Pretendard Variable"/>
              </a:rPr>
              <a:t>사장님은 </a:t>
            </a:r>
            <a:r>
              <a:rPr sz="2800" b="1">
                <a:solidFill>
                  <a:srgbClr val="0F4C92"/>
                </a:solidFill>
                <a:latin typeface="Pretendard Variable"/>
              </a:rPr>
              <a:t>자기 가게가 위험한지조차</a:t>
            </a:r>
            <a:r>
              <a:rPr sz="2800" b="1">
                <a:solidFill>
                  <a:srgbClr val="0B1A33"/>
                </a:solidFill>
                <a:latin typeface="Pretendard Variable"/>
              </a:rPr>
              <a:t> 모르고 문을 닫습니다.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447800"/>
            <a:ext cx="9398000" cy="380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4A5878"/>
                </a:solidFill>
                <a:latin typeface="Pretendard Variable"/>
              </a:rPr>
              <a:t>소상공인 730만 · 5년 생존율 약 33% — 그런데 정보는 흩어져 있고, raw 해서 못 씁니다.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1968500"/>
            <a:ext cx="9525000" cy="1904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>
                <a:solidFill>
                  <a:srgbClr val="0B1A33"/>
                </a:solidFill>
                <a:latin typeface="Pretendard Variable"/>
              </a:rPr>
              <a:t>사장님이 마주한 정보 비대칭 3가지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9600" y="2260599"/>
            <a:ext cx="3568700" cy="23876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9600" y="2349500"/>
            <a:ext cx="38100" cy="2209800"/>
          </a:xfrm>
          <a:prstGeom prst="rect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2800" y="2362199"/>
            <a:ext cx="3200400" cy="26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>
                <a:solidFill>
                  <a:srgbClr val="0B1A33"/>
                </a:solidFill>
                <a:latin typeface="Pretendard Variable"/>
              </a:rPr>
              <a:t>① 내 가게가 위험한가?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2800" y="2641600"/>
            <a:ext cx="3200400" cy="1904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300" b="0">
                <a:solidFill>
                  <a:srgbClr val="4A5878"/>
                </a:solidFill>
                <a:latin typeface="Pretendard Variable"/>
              </a:rPr>
              <a:t>상권 매출은 줄고, 옆 가게는 늘고 있는데 — 어디서 확인하나요? 통계청·서울 열린데이터에 다 있지만, 사장님이 직접 API 를 뜯어볼 수는 없습니다.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11650" y="2260599"/>
            <a:ext cx="3568700" cy="23876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11650" y="2349500"/>
            <a:ext cx="38100" cy="2209800"/>
          </a:xfrm>
          <a:prstGeom prst="rect">
            <a:avLst/>
          </a:prstGeom>
          <a:solidFill>
            <a:srgbClr val="8B6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4850" y="2362199"/>
            <a:ext cx="3200400" cy="26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>
                <a:solidFill>
                  <a:srgbClr val="0B1A33"/>
                </a:solidFill>
                <a:latin typeface="Pretendard Variable"/>
              </a:rPr>
              <a:t>② 받을 수 있는 돈을 모름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4850" y="2641600"/>
            <a:ext cx="3200400" cy="1904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300" b="0">
                <a:solidFill>
                  <a:srgbClr val="4A5878"/>
                </a:solidFill>
                <a:latin typeface="Pretendard Variable"/>
              </a:rPr>
              <a:t>소상공인시장진흥공단·서울시 지원사업이 매년 수십 건. 자격이 되는데도 공고를 못 찾아 신청 못 한 사장님이 많습니다.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13700" y="2260599"/>
            <a:ext cx="3568700" cy="23876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13700" y="2349500"/>
            <a:ext cx="38100" cy="2209800"/>
          </a:xfrm>
          <a:prstGeom prst="rect">
            <a:avLst/>
          </a:prstGeom>
          <a:solidFill>
            <a:srgbClr val="0F4C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16900" y="2362199"/>
            <a:ext cx="3200400" cy="26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>
                <a:solidFill>
                  <a:srgbClr val="0B1A33"/>
                </a:solidFill>
                <a:latin typeface="Pretendard Variable"/>
              </a:rPr>
              <a:t>③ 그래서 뭘 해야 하나?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16900" y="2641600"/>
            <a:ext cx="3200400" cy="1904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300" b="0">
                <a:solidFill>
                  <a:srgbClr val="4A5878"/>
                </a:solidFill>
                <a:latin typeface="Pretendard Variable"/>
              </a:rPr>
              <a:t>조언은 넘치지만 "우리 동네 우리 업종"에 맞는 한 가지는 없습니다. 정보 과부하 → 결국 아무것도 안 함.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9600" y="4864099"/>
            <a:ext cx="10972800" cy="1130299"/>
          </a:xfrm>
          <a:prstGeom prst="roundRect">
            <a:avLst>
              <a:gd name="adj" fmla="val 4000"/>
            </a:avLst>
          </a:prstGeom>
          <a:solidFill>
            <a:srgbClr val="E8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2800" y="5003800"/>
            <a:ext cx="10566400" cy="88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1">
                <a:solidFill>
                  <a:srgbClr val="0B1A33"/>
                </a:solidFill>
                <a:latin typeface="Pretendard Variable"/>
              </a:rPr>
              <a:t>데이터는 이미 공개돼 있습니다. 문제는 "사장님이 쓸 수 있는 형태"가 아니라는 것.
</a:t>
            </a:r>
            <a:r>
              <a:rPr sz="1700" b="1">
                <a:solidFill>
                  <a:srgbClr val="0F4C92"/>
                </a:solidFill>
                <a:latin typeface="Pretendard Variable"/>
              </a:rPr>
              <a:t>SSGI 는 서울 공공데이터를 사장님 언어로 번역해, 매일 "오늘 이거 하세요" 한 줄로 바꿉니다.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09600" y="6464299"/>
            <a:ext cx="10972800" cy="0"/>
          </a:xfrm>
          <a:prstGeom prst="line">
            <a:avLst/>
          </a:prstGeom>
          <a:ln w="12700">
            <a:solidFill>
              <a:srgbClr val="DD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09600" y="6540500"/>
            <a:ext cx="8254999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8A95AE"/>
                </a:solidFill>
                <a:latin typeface="Pretendard Variable"/>
              </a:rPr>
              <a:t>출처: 통계청 소상공인현황 / 중소벤처기업부 / 서울 열린데이터광장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42399" y="6540500"/>
            <a:ext cx="254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8A95AE"/>
                </a:solidFill>
                <a:latin typeface="Pretendard Variable"/>
              </a:rPr>
              <a:t>팀 SSGI  ·  3 / 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457200"/>
            <a:ext cx="6349999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8A95AE"/>
                </a:solidFill>
                <a:latin typeface="Pretendard Variable"/>
              </a:rPr>
              <a:t>01 · 개발 배경 및 취지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18295" y="431800"/>
            <a:ext cx="2463800" cy="279400"/>
          </a:xfrm>
          <a:prstGeom prst="roundRect">
            <a:avLst>
              <a:gd name="adj" fmla="val 18000"/>
            </a:avLst>
          </a:prstGeom>
          <a:solidFill>
            <a:srgbClr val="1B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18295" y="431800"/>
            <a:ext cx="24638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latin typeface="Pretendard Variable"/>
              </a:rPr>
              <a:t>배경·취지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12800"/>
            <a:ext cx="10795000" cy="76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>
                <a:solidFill>
                  <a:srgbClr val="0B1A33"/>
                </a:solidFill>
                <a:latin typeface="Pretendard Variable"/>
              </a:rPr>
              <a:t>누가 쓰나 — </a:t>
            </a:r>
            <a:r>
              <a:rPr sz="2800" b="1">
                <a:solidFill>
                  <a:srgbClr val="0F4C92"/>
                </a:solidFill>
                <a:latin typeface="Pretendard Variable"/>
              </a:rPr>
              <a:t>컨설팅 받을 여유 없는</a:t>
            </a:r>
            <a:r>
              <a:rPr sz="2800" b="1">
                <a:solidFill>
                  <a:srgbClr val="0B1A33"/>
                </a:solidFill>
                <a:latin typeface="Pretendard Variable"/>
              </a:rPr>
              <a:t> 동네 가게 사장님.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447800"/>
            <a:ext cx="9398000" cy="380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4A5878"/>
                </a:solidFill>
                <a:latin typeface="Pretendard Variable"/>
              </a:rPr>
              <a:t>그리고 이 서비스가 "공공데이터 이용 활성화"에 어떻게 기여하는가.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1968500"/>
            <a:ext cx="5206999" cy="1904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>
                <a:solidFill>
                  <a:srgbClr val="0B1A33"/>
                </a:solidFill>
                <a:latin typeface="Pretendard Variable"/>
              </a:rPr>
              <a:t>타깃 사용자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9600" y="2260599"/>
            <a:ext cx="5206999" cy="11684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9600" y="2349500"/>
            <a:ext cx="38100" cy="990599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2800" y="2362199"/>
            <a:ext cx="4838699" cy="26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B1A33"/>
                </a:solidFill>
                <a:latin typeface="Pretendard Variable"/>
              </a:rPr>
              <a:t>누가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2800" y="2641600"/>
            <a:ext cx="4838699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4A5878"/>
                </a:solidFill>
                <a:latin typeface="Pretendard Variable"/>
              </a:rPr>
              <a:t>서울·수도권 동네 가게 사장님(음식·카페·미용·소매·학원 등). 시뮬 페르소나: 의정부LC 금오동에서 학원을 운영하는 4050 사장님.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9600" y="3517899"/>
            <a:ext cx="5206999" cy="11684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9600" y="3606800"/>
            <a:ext cx="38100" cy="990599"/>
          </a:xfrm>
          <a:prstGeom prst="rect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2800" y="3619499"/>
            <a:ext cx="4838699" cy="26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B1A33"/>
                </a:solidFill>
                <a:latin typeface="Pretendard Variable"/>
              </a:rPr>
              <a:t>왜 못 했나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2800" y="3898899"/>
            <a:ext cx="4838699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4A5878"/>
                </a:solidFill>
                <a:latin typeface="Pretendard Variable"/>
              </a:rPr>
              <a:t>전문 컨설팅은 회당 수십만 원. 공공데이터는 자치구·행정동·상권코드 매핑을 알아야 쓸 수 있음. 사장님에겐 둘 다 장벽.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9600" y="4775200"/>
            <a:ext cx="5206999" cy="11684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09600" y="4864099"/>
            <a:ext cx="38100" cy="990599"/>
          </a:xfrm>
          <a:prstGeom prst="rect">
            <a:avLst/>
          </a:prstGeom>
          <a:solidFill>
            <a:srgbClr val="0F4C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2800" y="4876800"/>
            <a:ext cx="4838699" cy="26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B1A33"/>
                </a:solidFill>
                <a:latin typeface="Pretendard Variable"/>
              </a:rPr>
              <a:t>왜 지금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800" y="5156200"/>
            <a:ext cx="4838699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4A5878"/>
                </a:solidFill>
                <a:latin typeface="Pretendard Variable"/>
              </a:rPr>
              <a:t>GPT-4o 로 "raw 데이터 → 사장님 문장" 번역이 가능해짐. 카카오 OAuth·알림으로 추가 앱 설치 없이 도달.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5999" y="1968500"/>
            <a:ext cx="5486400" cy="1904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>
                <a:solidFill>
                  <a:srgbClr val="0B1A33"/>
                </a:solidFill>
                <a:latin typeface="Pretendard Variable"/>
              </a:rPr>
              <a:t>공공데이터 이용 활성화 기여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95999" y="2260599"/>
            <a:ext cx="5486400" cy="9017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95999" y="2349500"/>
            <a:ext cx="38100" cy="723900"/>
          </a:xfrm>
          <a:prstGeom prst="rect">
            <a:avLst/>
          </a:prstGeom>
          <a:solidFill>
            <a:srgbClr val="1E6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99200" y="2362199"/>
            <a:ext cx="5118100" cy="26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>
                <a:solidFill>
                  <a:srgbClr val="0B1A33"/>
                </a:solidFill>
                <a:latin typeface="Pretendard Variable"/>
              </a:rPr>
              <a:t>데이터 → 의사결정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99200" y="2641600"/>
            <a:ext cx="51181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150" b="0">
                <a:solidFill>
                  <a:srgbClr val="4A5878"/>
                </a:solidFill>
                <a:latin typeface="Pretendard Variable"/>
              </a:rPr>
              <a:t>서울 열린데이터 8종을 한 화면에 결합·해석. "열려는 있지만 안 쓰이던" 데이터를 실제 경영 판단으로 연결.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95999" y="3251200"/>
            <a:ext cx="5486400" cy="9017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095999" y="3340100"/>
            <a:ext cx="38100" cy="723900"/>
          </a:xfrm>
          <a:prstGeom prst="rect">
            <a:avLst/>
          </a:prstGeom>
          <a:solidFill>
            <a:srgbClr val="1E6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99200" y="3352800"/>
            <a:ext cx="5118100" cy="26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>
                <a:solidFill>
                  <a:srgbClr val="0B1A33"/>
                </a:solidFill>
                <a:latin typeface="Pretendard Variable"/>
              </a:rPr>
              <a:t>이용자 저변 확대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99200" y="3632199"/>
            <a:ext cx="51181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150" b="0">
                <a:solidFill>
                  <a:srgbClr val="4A5878"/>
                </a:solidFill>
                <a:latin typeface="Pretendard Variable"/>
              </a:rPr>
              <a:t>API 를 다룰 줄 모르는 소상공인을 새 공공데이터 수요자로 편입. 사장님은 데이터를 "읽지" 않고 "받아" 씀.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095999" y="4241800"/>
            <a:ext cx="5486400" cy="9017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095999" y="4330700"/>
            <a:ext cx="38100" cy="723900"/>
          </a:xfrm>
          <a:prstGeom prst="rect">
            <a:avLst/>
          </a:prstGeom>
          <a:solidFill>
            <a:srgbClr val="1E6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99200" y="4343400"/>
            <a:ext cx="5118100" cy="26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>
                <a:solidFill>
                  <a:srgbClr val="0B1A33"/>
                </a:solidFill>
                <a:latin typeface="Pretendard Variable"/>
              </a:rPr>
              <a:t>재사용 파이프라인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99200" y="4622800"/>
            <a:ext cx="51181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150" b="0">
                <a:solidFill>
                  <a:srgbClr val="4A5878"/>
                </a:solidFill>
                <a:latin typeface="Pretendard Variable"/>
              </a:rPr>
              <a:t>상권코드↔행정동 매핑·분기 캐싱·업종 코드명 정규화를 모듈화 — 다른 서비스도 같은 방식으로 서울 데이터 활용.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095999" y="5232400"/>
            <a:ext cx="5486400" cy="9017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095999" y="5321299"/>
            <a:ext cx="38100" cy="723900"/>
          </a:xfrm>
          <a:prstGeom prst="rect">
            <a:avLst/>
          </a:prstGeom>
          <a:solidFill>
            <a:srgbClr val="1E6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99200" y="5334000"/>
            <a:ext cx="5118100" cy="26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>
                <a:solidFill>
                  <a:srgbClr val="0B1A33"/>
                </a:solidFill>
                <a:latin typeface="Pretendard Variable"/>
              </a:rPr>
              <a:t>개방 데이터 가치 입증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99200" y="5613400"/>
            <a:ext cx="51181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150" b="0">
                <a:solidFill>
                  <a:srgbClr val="4A5878"/>
                </a:solidFill>
                <a:latin typeface="Pretendard Variable"/>
              </a:rPr>
              <a:t>"공개했더니 이렇게 쓰이더라"의 사례. 데이터 1건이 사장님 1명의 폐업 위험 신호로 바뀌는 경로를 보여줌.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09600" y="6464299"/>
            <a:ext cx="10972800" cy="0"/>
          </a:xfrm>
          <a:prstGeom prst="line">
            <a:avLst/>
          </a:prstGeom>
          <a:ln w="12700">
            <a:solidFill>
              <a:srgbClr val="DD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609600" y="6540500"/>
            <a:ext cx="8254999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8A95AE"/>
                </a:solidFill>
                <a:latin typeface="Pretendard Variable"/>
              </a:rPr>
              <a:t>공고 5번 의무: 활용한 공공데이터 목록 정확 기재 / 데이터 이용 활성화 기여 서술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042399" y="6540500"/>
            <a:ext cx="254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8A95AE"/>
                </a:solidFill>
                <a:latin typeface="Pretendard Variable"/>
              </a:rPr>
              <a:t>팀 SSGI  ·  4 / 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457200"/>
            <a:ext cx="6349999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8A95AE"/>
                </a:solidFill>
                <a:latin typeface="Pretendard Variable"/>
              </a:rPr>
              <a:t>02 · 서비스 개요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18295" y="431800"/>
            <a:ext cx="2463800" cy="279400"/>
          </a:xfrm>
          <a:prstGeom prst="roundRect">
            <a:avLst>
              <a:gd name="adj" fmla="val 18000"/>
            </a:avLst>
          </a:prstGeom>
          <a:solidFill>
            <a:srgbClr val="1B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18295" y="431800"/>
            <a:ext cx="24638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latin typeface="Pretendard Variable"/>
              </a:rPr>
              <a:t>기능 상세 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12800"/>
            <a:ext cx="10795000" cy="76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>
                <a:solidFill>
                  <a:srgbClr val="0B1A33"/>
                </a:solidFill>
                <a:latin typeface="Pretendard Variable"/>
              </a:rPr>
              <a:t>한 줄 정의 — </a:t>
            </a:r>
            <a:r>
              <a:rPr sz="2800" b="1">
                <a:solidFill>
                  <a:srgbClr val="0F4C92"/>
                </a:solidFill>
                <a:latin typeface="Pretendard Variable"/>
              </a:rPr>
              <a:t>"서울 공공데이터로 진단하는, 매일 1줄 AI 경영코치"</a:t>
            </a:r>
            <a:r>
              <a:rPr sz="2800" b="1">
                <a:solidFill>
                  <a:srgbClr val="0B1A33"/>
                </a:solidFill>
                <a:latin typeface="Pretendard Variable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447800"/>
            <a:ext cx="9398000" cy="380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4A5878"/>
                </a:solidFill>
                <a:latin typeface="Pretendard Variable"/>
              </a:rPr>
              <a:t>온보딩 한 번 → 가게 자동 분석 → 매일·매주 액션. 10개 기능이 한 흐름으로 연결됩니다.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9600" y="1981199"/>
            <a:ext cx="2628900" cy="36068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600" y="1981199"/>
            <a:ext cx="2628900" cy="50800"/>
          </a:xfrm>
          <a:prstGeom prst="rect">
            <a:avLst/>
          </a:prstGeom>
          <a:solidFill>
            <a:srgbClr val="1B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7400" y="2146299"/>
            <a:ext cx="2311400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>
                <a:solidFill>
                  <a:srgbClr val="0B1A33"/>
                </a:solidFill>
                <a:latin typeface="Pretendard Variable"/>
              </a:rPr>
              <a:t>진단 · 자동 (GPT 미사용)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4700" y="2749550"/>
            <a:ext cx="127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1B6FD0"/>
                </a:solidFill>
                <a:latin typeface="Pretendard Variable"/>
              </a:rPr>
              <a:t>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724150"/>
            <a:ext cx="2184400" cy="863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4A5878"/>
                </a:solidFill>
                <a:latin typeface="Pretendard Variable"/>
              </a:rPr>
              <a:t>폐업 위험도 점수 0~100 + 위험 신호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4700" y="3651250"/>
            <a:ext cx="127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1B6FD0"/>
                </a:solidFill>
                <a:latin typeface="Pretendard Variable"/>
              </a:rPr>
              <a:t>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625850"/>
            <a:ext cx="2184400" cy="863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4A5878"/>
                </a:solidFill>
                <a:latin typeface="Pretendard Variable"/>
              </a:rPr>
              <a:t>5차원 입지 분석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4700" y="4552949"/>
            <a:ext cx="127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1B6FD0"/>
                </a:solidFill>
                <a:latin typeface="Pretendard Variable"/>
              </a:rPr>
              <a:t>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527550"/>
            <a:ext cx="2184400" cy="863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4A5878"/>
                </a:solidFill>
                <a:latin typeface="Pretendard Variable"/>
              </a:rPr>
              <a:t>경쟁 비교 — 같은 동네·같은 업종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78200" y="1981199"/>
            <a:ext cx="2628900" cy="36068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378200" y="1981199"/>
            <a:ext cx="2628900" cy="50800"/>
          </a:xfrm>
          <a:prstGeom prst="rect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56000" y="2146299"/>
            <a:ext cx="2311400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>
                <a:solidFill>
                  <a:srgbClr val="0B1A33"/>
                </a:solidFill>
                <a:latin typeface="Pretendard Variable"/>
              </a:rPr>
              <a:t>매일·매주 액션 (GPT-4o)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43300" y="2749550"/>
            <a:ext cx="127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B3261E"/>
                </a:solidFill>
                <a:latin typeface="Pretendard Variable"/>
              </a:rPr>
              <a:t>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83000" y="2724150"/>
            <a:ext cx="2184400" cy="863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4A5878"/>
                </a:solidFill>
                <a:latin typeface="Pretendard Variable"/>
              </a:rPr>
              <a:t>매일 아침 7시 — 오늘 할 일 1개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43300" y="3651250"/>
            <a:ext cx="127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B3261E"/>
                </a:solidFill>
                <a:latin typeface="Pretendard Variable"/>
              </a:rPr>
              <a:t>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83000" y="3625850"/>
            <a:ext cx="2184400" cy="863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4A5878"/>
                </a:solidFill>
                <a:latin typeface="Pretendard Variable"/>
              </a:rPr>
              <a:t>이번 주 1가지 — 집중분석 우선순위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43300" y="4552949"/>
            <a:ext cx="127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B3261E"/>
                </a:solidFill>
                <a:latin typeface="Pretendard Variable"/>
              </a:rPr>
              <a:t>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83000" y="4527550"/>
            <a:ext cx="2184400" cy="863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4A5878"/>
                </a:solidFill>
                <a:latin typeface="Pretendard Variable"/>
              </a:rPr>
              <a:t>손실 프레이밍 — "놓치고 있어요"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6799" y="1981199"/>
            <a:ext cx="2628900" cy="36068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6799" y="1981199"/>
            <a:ext cx="2628900" cy="50800"/>
          </a:xfrm>
          <a:prstGeom prst="rect">
            <a:avLst/>
          </a:prstGeom>
          <a:solidFill>
            <a:srgbClr val="0F4C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24599" y="2146299"/>
            <a:ext cx="2311400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>
                <a:solidFill>
                  <a:srgbClr val="0B1A33"/>
                </a:solidFill>
                <a:latin typeface="Pretendard Variable"/>
              </a:rPr>
              <a:t>돈·성장 (RAG + GPT-4o)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11900" y="2749550"/>
            <a:ext cx="127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0F4C92"/>
                </a:solidFill>
                <a:latin typeface="Pretendard Variable"/>
              </a:rPr>
              <a:t>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51600" y="2724150"/>
            <a:ext cx="2184400" cy="863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4A5878"/>
                </a:solidFill>
                <a:latin typeface="Pretendard Variable"/>
              </a:rPr>
              <a:t>지원금 매칭 + AI 사업계획서 초안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11900" y="3651250"/>
            <a:ext cx="127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0F4C92"/>
                </a:solidFill>
                <a:latin typeface="Pretendard Variable"/>
              </a:rPr>
              <a:t>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51600" y="3625850"/>
            <a:ext cx="2184400" cy="863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4A5878"/>
                </a:solidFill>
                <a:latin typeface="Pretendard Variable"/>
              </a:rPr>
              <a:t>마케팅 진단 — 채널·카피·객단가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11900" y="4552949"/>
            <a:ext cx="127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0F4C92"/>
                </a:solidFill>
                <a:latin typeface="Pretendard Variable"/>
              </a:rPr>
              <a:t>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51600" y="4527550"/>
            <a:ext cx="2184400" cy="863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4A5878"/>
                </a:solidFill>
                <a:latin typeface="Pretendard Variable"/>
              </a:rPr>
              <a:t>메뉴 전략 — 갭·시즌·차별화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15400" y="1981199"/>
            <a:ext cx="2628900" cy="36068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915400" y="1981199"/>
            <a:ext cx="2628900" cy="50800"/>
          </a:xfrm>
          <a:prstGeom prst="rect">
            <a:avLst/>
          </a:prstGeom>
          <a:solidFill>
            <a:srgbClr val="8B6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93200" y="2146299"/>
            <a:ext cx="2311400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>
                <a:solidFill>
                  <a:srgbClr val="0B1A33"/>
                </a:solidFill>
                <a:latin typeface="Pretendard Variable"/>
              </a:rPr>
              <a:t>접근 · 증빙 · 결제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80500" y="2749550"/>
            <a:ext cx="127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B6B1F"/>
                </a:solidFill>
                <a:latin typeface="Pretendard Variable"/>
              </a:rPr>
              <a:t>●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20199" y="2724150"/>
            <a:ext cx="2184400" cy="863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4A5878"/>
                </a:solidFill>
                <a:latin typeface="Pretendard Variable"/>
              </a:rPr>
              <a:t>음성 질문 — 마이크 한 번 → 답변+화면 이동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080500" y="3651250"/>
            <a:ext cx="127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B6B1F"/>
                </a:solidFill>
                <a:latin typeface="Pretendard Variable"/>
              </a:rPr>
              <a:t>●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20199" y="3625850"/>
            <a:ext cx="2184400" cy="863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4A5878"/>
                </a:solidFill>
                <a:latin typeface="Pretendard Variable"/>
              </a:rPr>
              <a:t>PREMIUM PDF 진단서 + 서울 문화행사 알림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080500" y="4552949"/>
            <a:ext cx="127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B6B1F"/>
                </a:solidFill>
                <a:latin typeface="Pretendard Variable"/>
              </a:rPr>
              <a:t>●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20199" y="4527550"/>
            <a:ext cx="2184400" cy="863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4A5878"/>
                </a:solidFill>
                <a:latin typeface="Pretendard Variable"/>
              </a:rPr>
              <a:t>카카오페이 결제 — Pro 업그레이드(테스트)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09600" y="5727700"/>
            <a:ext cx="10972800" cy="622299"/>
          </a:xfrm>
          <a:prstGeom prst="roundRect">
            <a:avLst>
              <a:gd name="adj" fmla="val 4000"/>
            </a:avLst>
          </a:prstGeom>
          <a:solidFill>
            <a:srgbClr val="E8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87400" y="5842000"/>
            <a:ext cx="10617200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1">
                <a:solidFill>
                  <a:srgbClr val="0B1A33"/>
                </a:solidFill>
                <a:latin typeface="Pretendard Variable"/>
              </a:rPr>
              <a:t>온보딩(가게 검색·등록) → 자치구·행정동·업종 매핑 → </a:t>
            </a:r>
            <a:r>
              <a:rPr sz="1550" b="1">
                <a:solidFill>
                  <a:srgbClr val="0F4C92"/>
                </a:solidFill>
                <a:latin typeface="Pretendard Variable"/>
              </a:rPr>
              <a:t>4개 그룹이 같은 데이터를 공유하며 매일 갱신.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09600" y="6464299"/>
            <a:ext cx="10972800" cy="0"/>
          </a:xfrm>
          <a:prstGeom prst="line">
            <a:avLst/>
          </a:prstGeom>
          <a:ln w="12700">
            <a:solidFill>
              <a:srgbClr val="DD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609600" y="6540500"/>
            <a:ext cx="8254999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8A95AE"/>
                </a:solidFill>
                <a:latin typeface="Pretendard Variable"/>
              </a:rPr>
              <a:t>라이브 배포: ssgi-ai-coach.vercel.app — 31개 API 라우트 구동 중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042399" y="6540500"/>
            <a:ext cx="254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8A95AE"/>
                </a:solidFill>
                <a:latin typeface="Pretendard Variable"/>
              </a:rPr>
              <a:t>팀 SSGI  ·  5 / 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457200"/>
            <a:ext cx="6349999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8A95AE"/>
                </a:solidFill>
                <a:latin typeface="Pretendard Variable"/>
              </a:rPr>
              <a:t>03 · 활용 공공데이터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18295" y="431800"/>
            <a:ext cx="2463800" cy="279400"/>
          </a:xfrm>
          <a:prstGeom prst="roundRect">
            <a:avLst>
              <a:gd name="adj" fmla="val 18000"/>
            </a:avLst>
          </a:prstGeom>
          <a:solidFill>
            <a:srgbClr val="1B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18295" y="431800"/>
            <a:ext cx="24638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latin typeface="Pretendard Variable"/>
              </a:rPr>
              <a:t>공공·AI 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12800"/>
            <a:ext cx="10795000" cy="76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>
                <a:solidFill>
                  <a:srgbClr val="0B1A33"/>
                </a:solidFill>
                <a:latin typeface="Pretendard Variable"/>
              </a:rPr>
              <a:t>서울 열린데이터광장 </a:t>
            </a:r>
            <a:r>
              <a:rPr sz="2800" b="1">
                <a:solidFill>
                  <a:srgbClr val="0F4C92"/>
                </a:solidFill>
                <a:latin typeface="Pretendard Variable"/>
              </a:rPr>
              <a:t>8종</a:t>
            </a:r>
            <a:r>
              <a:rPr sz="2800" b="1">
                <a:solidFill>
                  <a:srgbClr val="0B1A33"/>
                </a:solidFill>
                <a:latin typeface="Pretendard Variable"/>
              </a:rPr>
              <a:t> + 국세청 + 카카오 — 모두 라이브 호출 중.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447800"/>
            <a:ext cx="9398000" cy="380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4A5878"/>
                </a:solidFill>
                <a:latin typeface="Pretendard Variable"/>
              </a:rPr>
              <a:t>상권코드↔행정동 매핑(TbgisTrdarRelm)으로 "우리 동네"만 골라냅니다.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09600" y="1968500"/>
            <a:ext cx="10972800" cy="0"/>
          </a:xfrm>
          <a:prstGeom prst="line">
            <a:avLst/>
          </a:prstGeom>
          <a:ln w="12700">
            <a:solidFill>
              <a:srgbClr val="DD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09600" y="2019299"/>
            <a:ext cx="2286000" cy="165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0B1A33"/>
                </a:solidFill>
                <a:latin typeface="Pretendard Variable"/>
              </a:rPr>
              <a:t>제공처 / API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47999" y="2019299"/>
            <a:ext cx="2286000" cy="165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0B1A33"/>
                </a:solidFill>
                <a:latin typeface="Pretendard Variable"/>
              </a:rPr>
              <a:t>데이터셋 (호출 식별자)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62999" y="2019299"/>
            <a:ext cx="2286000" cy="165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0B1A33"/>
                </a:solidFill>
                <a:latin typeface="Pretendard Variable"/>
              </a:rPr>
              <a:t>쓰는 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95000" y="2019299"/>
            <a:ext cx="2286000" cy="165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0B1A33"/>
                </a:solidFill>
                <a:latin typeface="Pretendard Variable"/>
              </a:rPr>
              <a:t>주기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2235200"/>
            <a:ext cx="10972800" cy="3555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2273300"/>
            <a:ext cx="2413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4C92"/>
                </a:solidFill>
                <a:latin typeface="Pretendard Variable"/>
              </a:rPr>
              <a:t>서울 열린데이터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47999" y="2273300"/>
            <a:ext cx="5588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4A5878"/>
                </a:solidFill>
                <a:latin typeface="Pretendard Variable"/>
              </a:rPr>
              <a:t>VwsmTrdarSelngQq · 우리마을가게 상권분석(추정매출)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62999" y="2273300"/>
            <a:ext cx="19685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4A5878"/>
                </a:solidFill>
                <a:latin typeface="Pretendard Variable"/>
              </a:rPr>
              <a:t>위험도·경쟁·객단가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95000" y="2273300"/>
            <a:ext cx="787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A95AE"/>
                </a:solidFill>
                <a:latin typeface="Pretendard Variable"/>
              </a:rPr>
              <a:t>분기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600" y="2654300"/>
            <a:ext cx="2413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4C92"/>
                </a:solidFill>
                <a:latin typeface="Pretendard Variable"/>
              </a:rPr>
              <a:t>서울 열린데이터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47999" y="2654300"/>
            <a:ext cx="5588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4A5878"/>
                </a:solidFill>
                <a:latin typeface="Pretendard Variable"/>
              </a:rPr>
              <a:t>VwsmTrdarStorQq · 우리마을가게 상권분석(점포수·개폐업)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62999" y="2654300"/>
            <a:ext cx="19685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4A5878"/>
                </a:solidFill>
                <a:latin typeface="Pretendard Variable"/>
              </a:rPr>
              <a:t>위험도·경쟁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95000" y="2654300"/>
            <a:ext cx="787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A95AE"/>
                </a:solidFill>
                <a:latin typeface="Pretendard Variable"/>
              </a:rPr>
              <a:t>분기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9600" y="2997200"/>
            <a:ext cx="10972800" cy="3555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9600" y="3035300"/>
            <a:ext cx="2413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4C92"/>
                </a:solidFill>
                <a:latin typeface="Pretendard Variable"/>
              </a:rPr>
              <a:t>서울 열린데이터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47999" y="3035300"/>
            <a:ext cx="5588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4A5878"/>
                </a:solidFill>
                <a:latin typeface="Pretendard Variable"/>
              </a:rPr>
              <a:t>VwsmTrdarIxQq · 상권변화지표(활성/정체/축소/다이나믹)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62999" y="3035300"/>
            <a:ext cx="19685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4A5878"/>
                </a:solidFill>
                <a:latin typeface="Pretendard Variable"/>
              </a:rPr>
              <a:t>위험도 2×2 매트릭스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95000" y="3035300"/>
            <a:ext cx="787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A95AE"/>
                </a:solidFill>
                <a:latin typeface="Pretendard Variable"/>
              </a:rPr>
              <a:t>분기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3416299"/>
            <a:ext cx="2413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4C92"/>
                </a:solidFill>
                <a:latin typeface="Pretendard Variable"/>
              </a:rPr>
              <a:t>서울 열린데이터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47999" y="3416299"/>
            <a:ext cx="5588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4A5878"/>
                </a:solidFill>
                <a:latin typeface="Pretendard Variable"/>
              </a:rPr>
              <a:t>VwsmTrdarFlpopQq · 상권 유동인구(시간대·요일·성·연령)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62999" y="3416299"/>
            <a:ext cx="19685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4A5878"/>
                </a:solidFill>
                <a:latin typeface="Pretendard Variable"/>
              </a:rPr>
              <a:t>마케팅 피크 타게팅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95000" y="3416299"/>
            <a:ext cx="787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A95AE"/>
                </a:solidFill>
                <a:latin typeface="Pretendard Variable"/>
              </a:rPr>
              <a:t>분기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9600" y="3759199"/>
            <a:ext cx="10972800" cy="3555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9600" y="3797300"/>
            <a:ext cx="2413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4C92"/>
                </a:solidFill>
                <a:latin typeface="Pretendard Variable"/>
              </a:rPr>
              <a:t>서울 열린데이터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47999" y="3797300"/>
            <a:ext cx="5588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4A5878"/>
                </a:solidFill>
                <a:latin typeface="Pretendard Variable"/>
              </a:rPr>
              <a:t>SPOP_LOCAL_RESD_DONG · 행정동 생활인구(거주)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62999" y="3797300"/>
            <a:ext cx="19685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4A5878"/>
                </a:solidFill>
                <a:latin typeface="Pretendard Variable"/>
              </a:rPr>
              <a:t>5차원 입지 분석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795000" y="3797300"/>
            <a:ext cx="787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A95AE"/>
                </a:solidFill>
                <a:latin typeface="Pretendard Variable"/>
              </a:rPr>
              <a:t>일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9600" y="4178299"/>
            <a:ext cx="2413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4C92"/>
                </a:solidFill>
                <a:latin typeface="Pretendard Variable"/>
              </a:rPr>
              <a:t>서울 열린데이터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047999" y="4178299"/>
            <a:ext cx="5588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4A5878"/>
                </a:solidFill>
                <a:latin typeface="Pretendard Variable"/>
              </a:rPr>
              <a:t>TbgisTrdarRelm · 상권영역-행정동 매핑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762999" y="4178299"/>
            <a:ext cx="19685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4A5878"/>
                </a:solidFill>
                <a:latin typeface="Pretendard Variable"/>
              </a:rPr>
              <a:t>지역 필터링(전 기능)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795000" y="4178299"/>
            <a:ext cx="787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A95AE"/>
                </a:solidFill>
                <a:latin typeface="Pretendard Variable"/>
              </a:rPr>
              <a:t>정적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09600" y="4521199"/>
            <a:ext cx="10972800" cy="3555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9600" y="4559300"/>
            <a:ext cx="2413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4C92"/>
                </a:solidFill>
                <a:latin typeface="Pretendard Variable"/>
              </a:rPr>
              <a:t>서울 열린데이터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047999" y="4559300"/>
            <a:ext cx="5588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4A5878"/>
                </a:solidFill>
                <a:latin typeface="Pretendard Variable"/>
              </a:rPr>
              <a:t>culturalEventInfo · 서울 문화행사 정보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762999" y="4559300"/>
            <a:ext cx="19685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4A5878"/>
                </a:solidFill>
                <a:latin typeface="Pretendard Variable"/>
              </a:rPr>
              <a:t>이벤트 알림·메뉴 시즌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795000" y="4559300"/>
            <a:ext cx="787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A95AE"/>
                </a:solidFill>
                <a:latin typeface="Pretendard Variable"/>
              </a:rPr>
              <a:t>수시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4940300"/>
            <a:ext cx="2413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4C92"/>
                </a:solidFill>
                <a:latin typeface="Pretendard Variable"/>
              </a:rPr>
              <a:t>서울 열린데이터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047999" y="4940300"/>
            <a:ext cx="5588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4A5878"/>
                </a:solidFill>
                <a:latin typeface="Pretendard Variable"/>
              </a:rPr>
              <a:t>VwsmTrdarWrcPopltnQq · 상권 직장인구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762999" y="4940300"/>
            <a:ext cx="19685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4A5878"/>
                </a:solidFill>
                <a:latin typeface="Pretendard Variable"/>
              </a:rPr>
              <a:t>직주비율 산출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795000" y="4940300"/>
            <a:ext cx="787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A95AE"/>
                </a:solidFill>
                <a:latin typeface="Pretendard Variable"/>
              </a:rPr>
              <a:t>분기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9600" y="5283200"/>
            <a:ext cx="10972800" cy="3555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09600" y="5321299"/>
            <a:ext cx="2413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8A95AE"/>
                </a:solidFill>
                <a:latin typeface="Pretendard Variable"/>
              </a:rPr>
              <a:t>공공데이터포털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047999" y="5321299"/>
            <a:ext cx="5588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4A5878"/>
                </a:solidFill>
                <a:latin typeface="Pretendard Variable"/>
              </a:rPr>
              <a:t>국세청 사업자등록정보 진위확인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762999" y="5321299"/>
            <a:ext cx="19685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4A5878"/>
                </a:solidFill>
                <a:latin typeface="Pretendard Variable"/>
              </a:rPr>
              <a:t>온보딩 가게 검증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795000" y="5321299"/>
            <a:ext cx="787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A95AE"/>
                </a:solidFill>
                <a:latin typeface="Pretendard Variable"/>
              </a:rPr>
              <a:t>실시간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09600" y="5702300"/>
            <a:ext cx="2413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8A95AE"/>
                </a:solidFill>
                <a:latin typeface="Pretendard Variable"/>
              </a:rPr>
              <a:t>민간 API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047999" y="5702300"/>
            <a:ext cx="5588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4A5878"/>
                </a:solidFill>
                <a:latin typeface="Pretendard Variable"/>
              </a:rPr>
              <a:t>Kakao Local Search · 카카오 디벨로퍼스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762999" y="5702300"/>
            <a:ext cx="19685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4A5878"/>
                </a:solidFill>
                <a:latin typeface="Pretendard Variable"/>
              </a:rPr>
              <a:t>가게 검색·좌표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795000" y="5702300"/>
            <a:ext cx="787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A95AE"/>
                </a:solidFill>
                <a:latin typeface="Pretendard Variable"/>
              </a:rPr>
              <a:t>실시간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9600" y="6134100"/>
            <a:ext cx="9525000" cy="1904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E6E4A"/>
                </a:solidFill>
                <a:latin typeface="Pretendard Variable"/>
              </a:rPr>
              <a:t>공공데이터 8종 결합 — 경진대회 결합 활용 가점(+2) 요건 충족. 추출일 2026-04.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609600" y="6464299"/>
            <a:ext cx="10972800" cy="0"/>
          </a:xfrm>
          <a:prstGeom prst="line">
            <a:avLst/>
          </a:prstGeom>
          <a:ln w="12700">
            <a:solidFill>
              <a:srgbClr val="DD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609600" y="6540500"/>
            <a:ext cx="8254999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8A95AE"/>
                </a:solidFill>
                <a:latin typeface="Pretendard Variable"/>
              </a:rPr>
              <a:t>전 API 는 backend/app/services/seoul_api_service.py 에서 retry+fallback 패턴으로 호출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042399" y="6540500"/>
            <a:ext cx="254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8A95AE"/>
                </a:solidFill>
                <a:latin typeface="Pretendard Variable"/>
              </a:rPr>
              <a:t>팀 SSGI  ·  6 / 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457200"/>
            <a:ext cx="6349999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8A95AE"/>
                </a:solidFill>
                <a:latin typeface="Pretendard Variable"/>
              </a:rPr>
              <a:t>04 · AI 활용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18295" y="431800"/>
            <a:ext cx="2463800" cy="279400"/>
          </a:xfrm>
          <a:prstGeom prst="roundRect">
            <a:avLst>
              <a:gd name="adj" fmla="val 18000"/>
            </a:avLst>
          </a:prstGeom>
          <a:solidFill>
            <a:srgbClr val="1B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18295" y="431800"/>
            <a:ext cx="24638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latin typeface="Pretendard Variable"/>
              </a:rPr>
              <a:t>공공·AI 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12800"/>
            <a:ext cx="10795000" cy="76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>
                <a:solidFill>
                  <a:srgbClr val="0B1A33"/>
                </a:solidFill>
                <a:latin typeface="Pretendard Variable"/>
              </a:rPr>
              <a:t>AI 를 두 층으로 — </a:t>
            </a:r>
            <a:r>
              <a:rPr sz="2800" b="1">
                <a:solidFill>
                  <a:srgbClr val="0F4C92"/>
                </a:solidFill>
                <a:latin typeface="Pretendard Variable"/>
              </a:rPr>
              <a:t>"숫자는 결정론, 말은 GPT"</a:t>
            </a:r>
            <a:r>
              <a:rPr sz="2800" b="1">
                <a:solidFill>
                  <a:srgbClr val="0B1A33"/>
                </a:solidFill>
                <a:latin typeface="Pretendard Variable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447800"/>
            <a:ext cx="9398000" cy="380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4A5878"/>
                </a:solidFill>
                <a:latin typeface="Pretendard Variable"/>
              </a:rPr>
              <a:t>거짓말 안 하게 만드는 구조: 점수는 코드가 계산하고, GPT 는 그 위에서 사장님 문장만 씁니다.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9600" y="2108200"/>
            <a:ext cx="5435599" cy="18415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600" y="2197100"/>
            <a:ext cx="38100" cy="1663700"/>
          </a:xfrm>
          <a:prstGeom prst="rect">
            <a:avLst/>
          </a:prstGeom>
          <a:solidFill>
            <a:srgbClr val="1B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100" y="2222500"/>
            <a:ext cx="3848099" cy="241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50" b="1">
                <a:solidFill>
                  <a:srgbClr val="0B1A33"/>
                </a:solidFill>
                <a:latin typeface="Pretendard Variable"/>
              </a:rPr>
              <a:t>① 결정론 위험 엔진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08500" y="2235200"/>
            <a:ext cx="1371600" cy="190499"/>
          </a:xfrm>
          <a:prstGeom prst="roundRect">
            <a:avLst>
              <a:gd name="adj" fmla="val 30000"/>
            </a:avLst>
          </a:prstGeom>
          <a:solidFill>
            <a:srgbClr val="F1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8500" y="2235200"/>
            <a:ext cx="1371600" cy="1904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1">
                <a:solidFill>
                  <a:srgbClr val="4A5878"/>
                </a:solidFill>
                <a:latin typeface="Pretendard Variable"/>
              </a:rPr>
              <a:t>재현성·신뢰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" y="2514600"/>
            <a:ext cx="5080000" cy="1346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300" b="0">
                <a:solidFill>
                  <a:srgbClr val="4A5878"/>
                </a:solidFill>
                <a:latin typeface="Pretendard Variable"/>
              </a:rPr>
              <a:t>GPT 미사용. 매출↓ · 개폐업률 · 상권변화지표 2×2(생존기간×폐업기간 vs 서울평균) · 지원금 마감 임박 · 유동인구↓ — 5개 시그널 가중합 → 0~100점. 같은 입력이면 항상 같은 점수.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46799" y="2108200"/>
            <a:ext cx="5435599" cy="18415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6799" y="2197100"/>
            <a:ext cx="38100" cy="1663700"/>
          </a:xfrm>
          <a:prstGeom prst="rect">
            <a:avLst/>
          </a:prstGeom>
          <a:solidFill>
            <a:srgbClr val="1E6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37300" y="2222500"/>
            <a:ext cx="3848099" cy="241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50" b="1">
                <a:solidFill>
                  <a:srgbClr val="0B1A33"/>
                </a:solidFill>
                <a:latin typeface="Pretendard Variable"/>
              </a:rPr>
              <a:t>② RAG 검색 레이어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223500" y="2235200"/>
            <a:ext cx="1193800" cy="190499"/>
          </a:xfrm>
          <a:prstGeom prst="roundRect">
            <a:avLst>
              <a:gd name="adj" fmla="val 30000"/>
            </a:avLst>
          </a:prstGeom>
          <a:solidFill>
            <a:srgbClr val="F1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23500" y="2235200"/>
            <a:ext cx="1193800" cy="1904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1">
                <a:solidFill>
                  <a:srgbClr val="4A5878"/>
                </a:solidFill>
                <a:latin typeface="Pretendard Variable"/>
              </a:rPr>
              <a:t>환각 차단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37300" y="2514600"/>
            <a:ext cx="5080000" cy="1346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300" b="0">
                <a:solidFill>
                  <a:srgbClr val="4A5878"/>
                </a:solidFill>
                <a:latin typeface="Pretendard Variable"/>
              </a:rPr>
              <a:t>지원사업 공고를 text-embedding-3-small 로 임베딩 → ChromaDB(코사인)에 인덱싱. 사장님 업종·매출·사업기간을 쿼리로 top-k 매칭. "왜 맞는지" 근거 문장도 함께.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9600" y="4076699"/>
            <a:ext cx="5435599" cy="18415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9600" y="4165600"/>
            <a:ext cx="38100" cy="1663700"/>
          </a:xfrm>
          <a:prstGeom prst="rect">
            <a:avLst/>
          </a:prstGeom>
          <a:solidFill>
            <a:srgbClr val="0F4C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0100" y="4190999"/>
            <a:ext cx="3848099" cy="241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50" b="1">
                <a:solidFill>
                  <a:srgbClr val="0B1A33"/>
                </a:solidFill>
                <a:latin typeface="Pretendard Variable"/>
              </a:rPr>
              <a:t>③ GPT-4o 생성 레이어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08500" y="4203700"/>
            <a:ext cx="1371600" cy="190499"/>
          </a:xfrm>
          <a:prstGeom prst="roundRect">
            <a:avLst>
              <a:gd name="adj" fmla="val 30000"/>
            </a:avLst>
          </a:prstGeom>
          <a:solidFill>
            <a:srgbClr val="F1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08500" y="4203700"/>
            <a:ext cx="1371600" cy="1904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1">
                <a:solidFill>
                  <a:srgbClr val="4A5878"/>
                </a:solidFill>
                <a:latin typeface="Pretendard Variable"/>
              </a:rPr>
              <a:t>사장님 언어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0100" y="4483100"/>
            <a:ext cx="5080000" cy="1346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300" b="0">
                <a:solidFill>
                  <a:srgbClr val="4A5878"/>
                </a:solidFill>
                <a:latin typeface="Pretendard Variable"/>
              </a:rPr>
              <a:t>매일 1줄 액션 · AI 종합진단 · 마케팅/메뉴 전략. 시스템 프롬프트에 "업종 분기 가이드(6대 업종군 KPI·채널)" + "손실 프레이밍 어법" 임베드. 추정치는 amber "AI 추정" 라벨 강제.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6799" y="4076699"/>
            <a:ext cx="5435599" cy="18415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6799" y="4165600"/>
            <a:ext cx="38100" cy="1663700"/>
          </a:xfrm>
          <a:prstGeom prst="rect">
            <a:avLst/>
          </a:prstGeom>
          <a:solidFill>
            <a:srgbClr val="8B6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37300" y="4190999"/>
            <a:ext cx="3848099" cy="241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50" b="1">
                <a:solidFill>
                  <a:srgbClr val="0B1A33"/>
                </a:solidFill>
                <a:latin typeface="Pretendard Variable"/>
              </a:rPr>
              <a:t>④ 가드레일 레이어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579100" y="4203700"/>
            <a:ext cx="838200" cy="190499"/>
          </a:xfrm>
          <a:prstGeom prst="roundRect">
            <a:avLst>
              <a:gd name="adj" fmla="val 30000"/>
            </a:avLst>
          </a:prstGeom>
          <a:solidFill>
            <a:srgbClr val="F1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579100" y="4203700"/>
            <a:ext cx="838200" cy="1904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1">
                <a:solidFill>
                  <a:srgbClr val="4A5878"/>
                </a:solidFill>
                <a:latin typeface="Pretendard Variable"/>
              </a:rPr>
              <a:t>정직성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37300" y="4483100"/>
            <a:ext cx="5080000" cy="1346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300" b="0">
                <a:solidFill>
                  <a:srgbClr val="4A5878"/>
                </a:solidFill>
                <a:latin typeface="Pretendard Variable"/>
              </a:rPr>
              <a:t>하루 1액션(UniqueConstraint) · 사회적 증거 k≥10일 때만 노출 · 한자 0건 검수 · 결제 0건 사실 그대로 표기. 시스템 설계로 폭주·과장 방지.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09600" y="6464299"/>
            <a:ext cx="10972800" cy="0"/>
          </a:xfrm>
          <a:prstGeom prst="line">
            <a:avLst/>
          </a:prstGeom>
          <a:ln w="12700">
            <a:solidFill>
              <a:srgbClr val="DD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09600" y="6540500"/>
            <a:ext cx="8254999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8A95AE"/>
                </a:solidFill>
                <a:latin typeface="Pretendard Variable"/>
              </a:rPr>
              <a:t>GPT-4o · text-embedding-3-small / 프롬프트: backend/app/routers/insights.py · services/action_generator.py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42399" y="6540500"/>
            <a:ext cx="254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8A95AE"/>
                </a:solidFill>
                <a:latin typeface="Pretendard Variable"/>
              </a:rPr>
              <a:t>팀 SSGI  ·  7 / 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457200"/>
            <a:ext cx="6349999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8A95AE"/>
                </a:solidFill>
                <a:latin typeface="Pretendard Variable"/>
              </a:rPr>
              <a:t>05 · 기능 상세 ① — 폐업 위험도 진단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18295" y="431800"/>
            <a:ext cx="2463800" cy="279400"/>
          </a:xfrm>
          <a:prstGeom prst="roundRect">
            <a:avLst>
              <a:gd name="adj" fmla="val 18000"/>
            </a:avLst>
          </a:prstGeom>
          <a:solidFill>
            <a:srgbClr val="1B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18295" y="431800"/>
            <a:ext cx="24638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latin typeface="Pretendard Variable"/>
              </a:rPr>
              <a:t>기능 상세 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00100"/>
            <a:ext cx="6629400" cy="76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>
                <a:solidFill>
                  <a:srgbClr val="0B1A33"/>
                </a:solidFill>
                <a:latin typeface="Pretendard Variable"/>
              </a:rPr>
              <a:t>홈을 열면 제일 먼저: </a:t>
            </a:r>
            <a:r>
              <a:rPr sz="2600" b="1">
                <a:solidFill>
                  <a:srgbClr val="0F4C92"/>
                </a:solidFill>
                <a:latin typeface="Pretendard Variable"/>
              </a:rPr>
              <a:t>"내 가게 위험도 100점 중 ○○점"</a:t>
            </a:r>
            <a:r>
              <a:rPr sz="2600" b="1">
                <a:solidFill>
                  <a:srgbClr val="0B1A33"/>
                </a:solidFill>
                <a:latin typeface="Pretendard Variable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778000"/>
            <a:ext cx="66294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50" b="0">
                <a:solidFill>
                  <a:srgbClr val="4A5878"/>
                </a:solidFill>
                <a:latin typeface="Pretendard Variable"/>
              </a:rPr>
              <a:t>GPT 가 아니라 결정론 엔진이 계산한 점수 + 위험 신호 5개를 카드로.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9600" y="2273300"/>
            <a:ext cx="3219449" cy="201929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600" y="2362199"/>
            <a:ext cx="38100" cy="18415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2800" y="2374899"/>
            <a:ext cx="2851150" cy="26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B1A33"/>
                </a:solidFill>
                <a:latin typeface="Pretendard Variable"/>
              </a:rPr>
              <a:t>무엇을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2800" y="2654300"/>
            <a:ext cx="2851150" cy="153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4A5878"/>
                </a:solidFill>
                <a:latin typeface="Pretendard Variable"/>
              </a:rPr>
              <a:t>가게 폐업 위험을 0~100 점수로. 무엇이 위험을 끌어올렸는지 "위험 신호"로 분해해 보여줌.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19549" y="2273300"/>
            <a:ext cx="3219449" cy="201929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019549" y="2362199"/>
            <a:ext cx="38100" cy="1841500"/>
          </a:xfrm>
          <a:prstGeom prst="rect">
            <a:avLst/>
          </a:prstGeom>
          <a:solidFill>
            <a:srgbClr val="1E6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22750" y="2374899"/>
            <a:ext cx="2851150" cy="26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B1A33"/>
                </a:solidFill>
                <a:latin typeface="Pretendard Variable"/>
              </a:rPr>
              <a:t>어떤 서울 데이터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2750" y="2654300"/>
            <a:ext cx="2851150" cy="153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4A5878"/>
                </a:solidFill>
                <a:latin typeface="Pretendard Variable"/>
              </a:rPr>
              <a:t>우리마을가게 상권분석(추정매출 VwsmTrdarSelngQq·점포수 VwsmTrdarStorQq) · 상권변화지표(VwsmTrdarIxQq) · 상권 유동인구(VwsmTrdarFlpopQq).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9600" y="4445000"/>
            <a:ext cx="3219449" cy="201929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9600" y="4533900"/>
            <a:ext cx="38100" cy="1841500"/>
          </a:xfrm>
          <a:prstGeom prst="rect">
            <a:avLst/>
          </a:prstGeom>
          <a:solidFill>
            <a:srgbClr val="0F4C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2800" y="4546600"/>
            <a:ext cx="2851150" cy="26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B1A33"/>
                </a:solidFill>
                <a:latin typeface="Pretendard Variable"/>
              </a:rPr>
              <a:t>어떤 AI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800" y="4826000"/>
            <a:ext cx="2851150" cy="153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4A5878"/>
                </a:solidFill>
                <a:latin typeface="Pretendard Variable"/>
              </a:rPr>
              <a:t>결정론 위험 엔진 — GPT 미사용. 5개 시그널 가중합. 상권변화지표는 2×2 매트릭스(생존기간×폐업기간 vs 서울평균)로 판정. 개점 1년 미만 사장님은 통계 폐업률 반영해 가산.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019549" y="4445000"/>
            <a:ext cx="3219449" cy="201929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019549" y="4533900"/>
            <a:ext cx="38100" cy="1841500"/>
          </a:xfrm>
          <a:prstGeom prst="rect">
            <a:avLst/>
          </a:prstGeom>
          <a:solidFill>
            <a:srgbClr val="1B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22750" y="4546600"/>
            <a:ext cx="2851150" cy="26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B1A33"/>
                </a:solidFill>
                <a:latin typeface="Pretendard Variable"/>
              </a:rPr>
              <a:t>동작 흐름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2750" y="4826000"/>
            <a:ext cx="2851150" cy="153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4A5878"/>
                </a:solidFill>
                <a:latin typeface="Pretendard Variable"/>
              </a:rPr>
              <a:t>온보딩에서 가게 검색·등록 → 자치구·행정동·상권코드 매핑 → 분기 데이터 갱신 시 재계산 → 홈 상단 점수 카드 렌더.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68082" y="1670050"/>
            <a:ext cx="2139234" cy="4533900"/>
          </a:xfrm>
          <a:prstGeom prst="roundRect">
            <a:avLst>
              <a:gd name="adj" fmla="val 7000"/>
            </a:avLst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KakaoTalk_Photo_2026-05-11-16-36-58 0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12532" y="1714500"/>
            <a:ext cx="2050334" cy="4445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7493000" y="6248400"/>
            <a:ext cx="40894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</a:pPr>
            <a:r>
              <a:rPr sz="1100" b="0">
                <a:solidFill>
                  <a:srgbClr val="8A95AE"/>
                </a:solidFill>
                <a:latin typeface="Pretendard Variable"/>
              </a:rPr>
              <a:t>홈 화면 — 폐업 위험도 점수 + 위험 신호 카드 (라이브 배포 실제 화면, 시뮬 계정)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09600" y="6464299"/>
            <a:ext cx="10972800" cy="0"/>
          </a:xfrm>
          <a:prstGeom prst="line">
            <a:avLst/>
          </a:prstGeom>
          <a:ln w="12700">
            <a:solidFill>
              <a:srgbClr val="DD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09600" y="6540500"/>
            <a:ext cx="8254999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8A95AE"/>
                </a:solidFill>
                <a:latin typeface="Pretendard Variable"/>
              </a:rPr>
              <a:t>risk_score_engine.py — 결정론 산출 / 점수는 GPT 호출 없이 재현 가능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42399" y="6540500"/>
            <a:ext cx="254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8A95AE"/>
                </a:solidFill>
                <a:latin typeface="Pretendard Variable"/>
              </a:rPr>
              <a:t>팀 SSGI  ·  8 / 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457200"/>
            <a:ext cx="6349999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8A95AE"/>
                </a:solidFill>
                <a:latin typeface="Pretendard Variable"/>
              </a:rPr>
              <a:t>06 · 기능 상세 ② — 매일 1줄 액션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18295" y="431800"/>
            <a:ext cx="2463800" cy="279400"/>
          </a:xfrm>
          <a:prstGeom prst="roundRect">
            <a:avLst>
              <a:gd name="adj" fmla="val 18000"/>
            </a:avLst>
          </a:prstGeom>
          <a:solidFill>
            <a:srgbClr val="1B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18295" y="431800"/>
            <a:ext cx="24638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latin typeface="Pretendard Variable"/>
              </a:rPr>
              <a:t>기능 상세 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00100"/>
            <a:ext cx="6629400" cy="76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>
                <a:solidFill>
                  <a:srgbClr val="0B1A33"/>
                </a:solidFill>
                <a:latin typeface="Pretendard Variable"/>
              </a:rPr>
              <a:t>매일 아침 7시, </a:t>
            </a:r>
            <a:r>
              <a:rPr sz="2600" b="1">
                <a:solidFill>
                  <a:srgbClr val="0F4C92"/>
                </a:solidFill>
                <a:latin typeface="Pretendard Variable"/>
              </a:rPr>
              <a:t>오늘 할 일 딱 1개</a:t>
            </a:r>
            <a:r>
              <a:rPr sz="2600" b="1">
                <a:solidFill>
                  <a:srgbClr val="0B1A33"/>
                </a:solidFill>
                <a:latin typeface="Pretendard Variable"/>
              </a:rPr>
              <a:t>. 그 이상은 안 줍니다.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778000"/>
            <a:ext cx="66294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50" b="0">
                <a:solidFill>
                  <a:srgbClr val="4A5878"/>
                </a:solidFill>
                <a:latin typeface="Pretendard Variable"/>
              </a:rPr>
              <a:t>정보 과부하 방지가 설계 원칙 — "추천합니다"가 아니라 "놓치고 있습니다".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9600" y="2273300"/>
            <a:ext cx="3219449" cy="201929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600" y="2362199"/>
            <a:ext cx="38100" cy="18415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2800" y="2374899"/>
            <a:ext cx="2851150" cy="26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B1A33"/>
                </a:solidFill>
                <a:latin typeface="Pretendard Variable"/>
              </a:rPr>
              <a:t>무엇을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2800" y="2654300"/>
            <a:ext cx="2851150" cy="153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4A5878"/>
                </a:solidFill>
                <a:latin typeface="Pretendard Variable"/>
              </a:rPr>
              <a:t>매일 1개 액션 + 왜 해야 하는지 1줄 근거. 카카오 알림으로 도달. 하루에 1개만(중복 제약).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19549" y="2273300"/>
            <a:ext cx="3219449" cy="201929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019549" y="2362199"/>
            <a:ext cx="38100" cy="1841500"/>
          </a:xfrm>
          <a:prstGeom prst="rect">
            <a:avLst/>
          </a:prstGeom>
          <a:solidFill>
            <a:srgbClr val="1E6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22750" y="2374899"/>
            <a:ext cx="2851150" cy="26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B1A33"/>
                </a:solidFill>
                <a:latin typeface="Pretendard Variable"/>
              </a:rPr>
              <a:t>어떤 서울 데이터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2750" y="2654300"/>
            <a:ext cx="2851150" cy="153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4A5878"/>
                </a:solidFill>
                <a:latin typeface="Pretendard Variable"/>
              </a:rPr>
              <a:t>위험 신호 · 매칭된 지원사업(마감 임박) · 서울 문화행사(culturalEventInfo) 를 종합.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9600" y="4445000"/>
            <a:ext cx="3219449" cy="201929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9600" y="4533900"/>
            <a:ext cx="38100" cy="1841500"/>
          </a:xfrm>
          <a:prstGeom prst="rect">
            <a:avLst/>
          </a:prstGeom>
          <a:solidFill>
            <a:srgbClr val="0F4C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2800" y="4546600"/>
            <a:ext cx="2851150" cy="26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B1A33"/>
                </a:solidFill>
                <a:latin typeface="Pretendard Variable"/>
              </a:rPr>
              <a:t>어떤 AI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800" y="4826000"/>
            <a:ext cx="2851150" cy="153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4A5878"/>
                </a:solidFill>
                <a:latin typeface="Pretendard Variable"/>
              </a:rPr>
              <a:t>GPT-4o. 시스템 프롬프트에 6대 업종군 분기 가이드(업종별 다른 KPI·채널) + 손실 프레이밍 어법 임베드. 같은 가게에 같은 액션 반복 방지.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019549" y="4445000"/>
            <a:ext cx="3219449" cy="201929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019549" y="4533900"/>
            <a:ext cx="38100" cy="1841500"/>
          </a:xfrm>
          <a:prstGeom prst="rect">
            <a:avLst/>
          </a:prstGeom>
          <a:solidFill>
            <a:srgbClr val="1B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22750" y="4546600"/>
            <a:ext cx="2851150" cy="26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B1A33"/>
                </a:solidFill>
                <a:latin typeface="Pretendard Variable"/>
              </a:rPr>
              <a:t>동작 흐름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2750" y="4826000"/>
            <a:ext cx="2851150" cy="153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4A5878"/>
                </a:solidFill>
                <a:latin typeface="Pretendard Variable"/>
              </a:rPr>
              <a:t>APScheduler 크론 07:00 → 사용자별 데이터 수집 → GPT-4o 액션 1줄 → DB UniqueConstraint(가게,날짜) 저장 → 카카오 알림(실패 시 FCM → 조용히 패스).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68082" y="1670050"/>
            <a:ext cx="2139234" cy="4533900"/>
          </a:xfrm>
          <a:prstGeom prst="roundRect">
            <a:avLst>
              <a:gd name="adj" fmla="val 7000"/>
            </a:avLst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KakaoTalk_Photo_2026-05-11-16-36-58 0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12532" y="1714500"/>
            <a:ext cx="2050334" cy="4445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7493000" y="6248400"/>
            <a:ext cx="40894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</a:pPr>
            <a:r>
              <a:rPr sz="1100" b="0">
                <a:solidFill>
                  <a:srgbClr val="8A95AE"/>
                </a:solidFill>
                <a:latin typeface="Pretendard Variable"/>
              </a:rPr>
              <a:t>홈 화면 — 오늘의 액션 (예: "1,040만원 지원금, 신청 마감 전")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09600" y="6464299"/>
            <a:ext cx="10972800" cy="0"/>
          </a:xfrm>
          <a:prstGeom prst="line">
            <a:avLst/>
          </a:prstGeom>
          <a:ln w="12700">
            <a:solidFill>
              <a:srgbClr val="DD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09600" y="6540500"/>
            <a:ext cx="8254999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8A95AE"/>
                </a:solidFill>
                <a:latin typeface="Pretendard Variable"/>
              </a:rPr>
              <a:t>action_generator.py — daily action 시스템 프롬프트 / ADR 003: 하루 1액션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42399" y="6540500"/>
            <a:ext cx="254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8A95AE"/>
                </a:solidFill>
                <a:latin typeface="Pretendard Variable"/>
              </a:rPr>
              <a:t>팀 SSGI  ·  9 / 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457200"/>
            <a:ext cx="6349999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8A95AE"/>
                </a:solidFill>
                <a:latin typeface="Pretendard Variable"/>
              </a:rPr>
              <a:t>07 · 기능 상세 ③ — 지원금 매칭 + AI 사업계획서 초안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18295" y="431800"/>
            <a:ext cx="2463800" cy="279400"/>
          </a:xfrm>
          <a:prstGeom prst="roundRect">
            <a:avLst>
              <a:gd name="adj" fmla="val 18000"/>
            </a:avLst>
          </a:prstGeom>
          <a:solidFill>
            <a:srgbClr val="1B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18295" y="431800"/>
            <a:ext cx="24638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latin typeface="Pretendard Variable"/>
              </a:rPr>
              <a:t>기능 상세 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00100"/>
            <a:ext cx="5613400" cy="76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>
                <a:solidFill>
                  <a:srgbClr val="0B1A33"/>
                </a:solidFill>
                <a:latin typeface="Pretendard Variable"/>
              </a:rPr>
              <a:t>받을 수 있는 지원사업을 찾고, </a:t>
            </a:r>
            <a:r>
              <a:rPr sz="2600" b="1">
                <a:solidFill>
                  <a:srgbClr val="0F4C92"/>
                </a:solidFill>
                <a:latin typeface="Pretendard Variable"/>
              </a:rPr>
              <a:t>사업계획서 초안까지</a:t>
            </a:r>
            <a:r>
              <a:rPr sz="2600" b="1">
                <a:solidFill>
                  <a:srgbClr val="0B1A33"/>
                </a:solidFill>
                <a:latin typeface="Pretendard Variable"/>
              </a:rPr>
              <a:t> 써줍니다.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778000"/>
            <a:ext cx="56134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50" b="0">
                <a:solidFill>
                  <a:srgbClr val="4A5878"/>
                </a:solidFill>
                <a:latin typeface="Pretendard Variable"/>
              </a:rPr>
              <a:t>공고를 벡터로 인덱싱(RAG) → 사장님 자격으로 검색 → GPT 가 매칭 사유 + 사업계획서 초안 작성.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9600" y="2273300"/>
            <a:ext cx="2711450" cy="201929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600" y="2362199"/>
            <a:ext cx="38100" cy="18415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2800" y="2374899"/>
            <a:ext cx="2343150" cy="26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B1A33"/>
                </a:solidFill>
                <a:latin typeface="Pretendard Variable"/>
              </a:rPr>
              <a:t>무엇을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2800" y="2654300"/>
            <a:ext cx="2343150" cy="153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4A5878"/>
                </a:solidFill>
                <a:latin typeface="Pretendard Variable"/>
              </a:rPr>
              <a:t>소상공인시장진흥공단·서울시 지원사업을 업종·매출·사업기간으로 매칭. 카드마다 "왜 맞는지" 사유 + "초안 받기". 초안은 가게 개요·경영 현황 빈칸을 아는 정보로 자동 채움(나머지는 [사장님 작성 필요] 표시).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11550" y="2273300"/>
            <a:ext cx="2711450" cy="201929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11550" y="2362199"/>
            <a:ext cx="38100" cy="1841500"/>
          </a:xfrm>
          <a:prstGeom prst="rect">
            <a:avLst/>
          </a:prstGeom>
          <a:solidFill>
            <a:srgbClr val="1E6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14750" y="2374899"/>
            <a:ext cx="2343150" cy="26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B1A33"/>
                </a:solidFill>
                <a:latin typeface="Pretendard Variable"/>
              </a:rPr>
              <a:t>어떤 서울 데이터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14750" y="2654300"/>
            <a:ext cx="2343150" cy="153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4A5878"/>
                </a:solidFill>
                <a:latin typeface="Pretendard Variable"/>
              </a:rPr>
              <a:t>공공 지원사업 공고(소상공인시장진흥공단·서울시 등) 15건+ 를 시드로 적재. 가게 자격·개요는 온보딩·국세청 검증값 사용.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9600" y="4445000"/>
            <a:ext cx="2711450" cy="201929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9600" y="4533900"/>
            <a:ext cx="38100" cy="1841500"/>
          </a:xfrm>
          <a:prstGeom prst="rect">
            <a:avLst/>
          </a:prstGeom>
          <a:solidFill>
            <a:srgbClr val="0F4C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2800" y="4546600"/>
            <a:ext cx="2343150" cy="26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B1A33"/>
                </a:solidFill>
                <a:latin typeface="Pretendard Variable"/>
              </a:rPr>
              <a:t>어떤 AI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800" y="4826000"/>
            <a:ext cx="2343150" cy="153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4A5878"/>
                </a:solidFill>
                <a:latin typeface="Pretendard Variable"/>
              </a:rPr>
              <a:t>text-embedding-3-small 로 공고 임베딩 → ChromaDB(코사인)에 인덱싱 → 사장님 조건을 쿼리로 top-k 검색 → GPT-4o 가 매칭 사유 + 사업계획서 초안(개요/현황/차별점 섹션) 생성.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11550" y="4445000"/>
            <a:ext cx="2711450" cy="201929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511550" y="4533900"/>
            <a:ext cx="38100" cy="1841500"/>
          </a:xfrm>
          <a:prstGeom prst="rect">
            <a:avLst/>
          </a:prstGeom>
          <a:solidFill>
            <a:srgbClr val="1B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714750" y="4546600"/>
            <a:ext cx="2343150" cy="26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B1A33"/>
                </a:solidFill>
                <a:latin typeface="Pretendard Variable"/>
              </a:rPr>
              <a:t>동작 흐름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14750" y="4826000"/>
            <a:ext cx="2343150" cy="153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4A5878"/>
                </a:solidFill>
                <a:latin typeface="Pretendard Variable"/>
              </a:rPr>
              <a:t>인덱싱 크론(주 1회) → 지원사업 탭 → 자격 임베딩 쿼리 → 매칭 카드(홈에도 상위 노출) → "초안 받기" → GPT-4o 초안(절약 시간 표시).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23248" y="1860550"/>
            <a:ext cx="1729167" cy="3644899"/>
          </a:xfrm>
          <a:prstGeom prst="roundRect">
            <a:avLst>
              <a:gd name="adj" fmla="val 7000"/>
            </a:avLst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KakaoTalk_Photo_2026-05-11-16-36-59 0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7698" y="1904999"/>
            <a:ext cx="1640267" cy="3556000"/>
          </a:xfrm>
          <a:prstGeom prst="rect">
            <a:avLst/>
          </a:prstGeom>
        </p:spPr>
      </p:pic>
      <p:sp>
        <p:nvSpPr>
          <p:cNvPr id="26" name="Rounded Rectangle 25"/>
          <p:cNvSpPr/>
          <p:nvPr/>
        </p:nvSpPr>
        <p:spPr>
          <a:xfrm>
            <a:off x="8165116" y="1860550"/>
            <a:ext cx="1729167" cy="3644899"/>
          </a:xfrm>
          <a:prstGeom prst="roundRect">
            <a:avLst>
              <a:gd name="adj" fmla="val 7000"/>
            </a:avLst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KakaoTalk_Photo_2026-05-11-16-36-59 0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09566" y="1904999"/>
            <a:ext cx="1640267" cy="3556000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9906983" y="1860550"/>
            <a:ext cx="1729167" cy="3644899"/>
          </a:xfrm>
          <a:prstGeom prst="roundRect">
            <a:avLst>
              <a:gd name="adj" fmla="val 7000"/>
            </a:avLst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KakaoTalk_Photo_2026-05-11-19-43-37 0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51433" y="1904999"/>
            <a:ext cx="1640267" cy="35560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477000" y="6248400"/>
            <a:ext cx="51054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</a:pPr>
            <a:r>
              <a:rPr sz="1100" b="0">
                <a:solidFill>
                  <a:srgbClr val="8A95AE"/>
                </a:solidFill>
                <a:latin typeface="Pretendard Variable"/>
              </a:rPr>
              <a:t>홈 매칭 3건(좌) · 지원사업 탭 — 최대 31,400만원·신청하기·초안 받기(중) · AI 사업계획서 초안 — 빈칸 자동 채움·절약 약 2시간(우)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09600" y="6464299"/>
            <a:ext cx="10972800" cy="0"/>
          </a:xfrm>
          <a:prstGeom prst="line">
            <a:avLst/>
          </a:prstGeom>
          <a:ln w="12700">
            <a:solidFill>
              <a:srgbClr val="DD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09600" y="6540500"/>
            <a:ext cx="8254999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8A95AE"/>
                </a:solidFill>
                <a:latin typeface="Pretendard Variable"/>
              </a:rPr>
              <a:t>rag_service.py · ChromaDB PersistentClient / scripts/seed_subsidies.py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42399" y="6540500"/>
            <a:ext cx="254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8A95AE"/>
                </a:solidFill>
                <a:latin typeface="Pretendard Variable"/>
              </a:rPr>
              <a:t>팀 SSGI  ·  10 / 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457200"/>
            <a:ext cx="6349999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8A95AE"/>
                </a:solidFill>
                <a:latin typeface="Pretendard Variable"/>
              </a:rPr>
              <a:t>08 · 기능 상세 ④ — 인사이트: 경쟁·집중 분석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18295" y="431800"/>
            <a:ext cx="2463800" cy="279400"/>
          </a:xfrm>
          <a:prstGeom prst="roundRect">
            <a:avLst>
              <a:gd name="adj" fmla="val 18000"/>
            </a:avLst>
          </a:prstGeom>
          <a:solidFill>
            <a:srgbClr val="1B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18295" y="431800"/>
            <a:ext cx="24638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latin typeface="Pretendard Variable"/>
              </a:rPr>
              <a:t>기능 상세 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00100"/>
            <a:ext cx="6629400" cy="76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>
                <a:solidFill>
                  <a:srgbClr val="0B1A33"/>
                </a:solidFill>
                <a:latin typeface="Pretendard Variable"/>
              </a:rPr>
              <a:t>같은 동네, 같은 업종과 비교해서 — </a:t>
            </a:r>
            <a:r>
              <a:rPr sz="2600" b="1">
                <a:solidFill>
                  <a:srgbClr val="0F4C92"/>
                </a:solidFill>
                <a:latin typeface="Pretendard Variable"/>
              </a:rPr>
              <a:t>강점·약점·우리 가게 자리</a:t>
            </a:r>
            <a:r>
              <a:rPr sz="2600" b="1">
                <a:solidFill>
                  <a:srgbClr val="0B1A33"/>
                </a:solidFill>
                <a:latin typeface="Pretendard Variable"/>
              </a:rPr>
              <a:t>를 보여줍니다.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778000"/>
            <a:ext cx="66294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50" b="0">
                <a:solidFill>
                  <a:srgbClr val="4A5878"/>
                </a:solidFill>
                <a:latin typeface="Pretendard Variable"/>
              </a:rPr>
              <a:t>5차원 입지 분석은 코드가 계산하고, 강점/약점 해석만 GPT 가 합니다. 데이터 출처도 화면에 명시.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9600" y="2273300"/>
            <a:ext cx="3219449" cy="201929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600" y="2362199"/>
            <a:ext cx="38100" cy="18415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2800" y="2374899"/>
            <a:ext cx="2851150" cy="26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B1A33"/>
                </a:solidFill>
                <a:latin typeface="Pretendard Variable"/>
              </a:rPr>
              <a:t>무엇을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2800" y="2654300"/>
            <a:ext cx="2851150" cy="153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4A5878"/>
                </a:solidFill>
                <a:latin typeface="Pretendard Variable"/>
              </a:rPr>
              <a:t>경쟁 탭: 같은 상권·같은 업종 매출/점포수 비교. 집중분석 탭: 강점·약점·"우리 가게 자리"·시급한 신호.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19549" y="2273300"/>
            <a:ext cx="3219449" cy="201929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019549" y="2362199"/>
            <a:ext cx="38100" cy="1841500"/>
          </a:xfrm>
          <a:prstGeom prst="rect">
            <a:avLst/>
          </a:prstGeom>
          <a:solidFill>
            <a:srgbClr val="1E6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22750" y="2374899"/>
            <a:ext cx="2851150" cy="26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B1A33"/>
                </a:solidFill>
                <a:latin typeface="Pretendard Variable"/>
              </a:rPr>
              <a:t>어떤 서울 데이터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2750" y="2654300"/>
            <a:ext cx="2851150" cy="153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4A5878"/>
                </a:solidFill>
                <a:latin typeface="Pretendard Variable"/>
              </a:rPr>
              <a:t>우리마을가게 상권분석(매출·점포수) · 행정동 생활인구(SPOP_LOCAL_RESD_DONG) · 상권 유동인구·직장인구.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9600" y="4445000"/>
            <a:ext cx="3219449" cy="201929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9600" y="4533900"/>
            <a:ext cx="38100" cy="1841500"/>
          </a:xfrm>
          <a:prstGeom prst="rect">
            <a:avLst/>
          </a:prstGeom>
          <a:solidFill>
            <a:srgbClr val="0F4C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2800" y="4546600"/>
            <a:ext cx="2851150" cy="26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B1A33"/>
                </a:solidFill>
                <a:latin typeface="Pretendard Variable"/>
              </a:rPr>
              <a:t>어떤 AI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800" y="4826000"/>
            <a:ext cx="2851150" cy="153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4A5878"/>
                </a:solidFill>
                <a:latin typeface="Pretendard Variable"/>
              </a:rPr>
              <a:t>5차원 입지 분석(직주비율·다양성·집객력·동선효율·시간집중 + 서울 포지셔닝·생애주기)은 결정론 산출 → GPT-4o 가 강점/약점만 사장님 문장으로 해석. 맛·친절 등 데이터 밖은 모른다고 명시.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019549" y="4445000"/>
            <a:ext cx="3219449" cy="201929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019549" y="4533900"/>
            <a:ext cx="38100" cy="1841500"/>
          </a:xfrm>
          <a:prstGeom prst="rect">
            <a:avLst/>
          </a:prstGeom>
          <a:solidFill>
            <a:srgbClr val="1B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22750" y="4546600"/>
            <a:ext cx="2851150" cy="26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B1A33"/>
                </a:solidFill>
                <a:latin typeface="Pretendard Variable"/>
              </a:rPr>
              <a:t>동작 흐름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2750" y="4826000"/>
            <a:ext cx="2851150" cy="153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4A5878"/>
                </a:solidFill>
                <a:latin typeface="Pretendard Variable"/>
              </a:rPr>
              <a:t>인사이트 탭 → 경쟁/집중분석 → 상권코드 기준 동종업종 집계 → 5차원 산출 → GPT 해석 → 카드 + 데이터 출처 표기.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40570" y="1733550"/>
            <a:ext cx="1846329" cy="3898899"/>
          </a:xfrm>
          <a:prstGeom prst="roundRect">
            <a:avLst>
              <a:gd name="adj" fmla="val 7000"/>
            </a:avLst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KakaoTalk_Photo_2026-05-11-16-36-59 0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5020" y="1778000"/>
            <a:ext cx="1757429" cy="3809999"/>
          </a:xfrm>
          <a:prstGeom prst="rect">
            <a:avLst/>
          </a:prstGeom>
        </p:spPr>
      </p:pic>
      <p:sp>
        <p:nvSpPr>
          <p:cNvPr id="26" name="Rounded Rectangle 25"/>
          <p:cNvSpPr/>
          <p:nvPr/>
        </p:nvSpPr>
        <p:spPr>
          <a:xfrm>
            <a:off x="9588500" y="1733550"/>
            <a:ext cx="1846329" cy="3898899"/>
          </a:xfrm>
          <a:prstGeom prst="roundRect">
            <a:avLst>
              <a:gd name="adj" fmla="val 7000"/>
            </a:avLst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KakaoTalk_Photo_2026-05-11-16-37-00 00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32950" y="1778000"/>
            <a:ext cx="1757429" cy="3809999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7493000" y="6248400"/>
            <a:ext cx="40894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</a:pPr>
            <a:r>
              <a:rPr sz="1100" b="0">
                <a:solidFill>
                  <a:srgbClr val="8A95AE"/>
                </a:solidFill>
                <a:latin typeface="Pretendard Variable"/>
              </a:rPr>
              <a:t>경쟁 탭 — 데이터 출처 명시(좌) · 집중분석 — 강점·약점·우리 가게 자리(우)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09600" y="6464299"/>
            <a:ext cx="10972800" cy="0"/>
          </a:xfrm>
          <a:prstGeom prst="line">
            <a:avLst/>
          </a:prstGeom>
          <a:ln w="12700">
            <a:solidFill>
              <a:srgbClr val="DD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09600" y="6540500"/>
            <a:ext cx="8254999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8A95AE"/>
                </a:solidFill>
                <a:latin typeface="Pretendard Variable"/>
              </a:rPr>
              <a:t>insights.py(deep-report 영역) · 5차원 location_analysis 결정론 / 출처 화면 노출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42399" y="6540500"/>
            <a:ext cx="254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8A95AE"/>
                </a:solidFill>
                <a:latin typeface="Pretendard Variable"/>
              </a:rPr>
              <a:t>팀 SSGI  ·  11 / 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457200"/>
            <a:ext cx="6349999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8A95AE"/>
                </a:solidFill>
                <a:latin typeface="Pretendard Variable"/>
              </a:rPr>
              <a:t>09 · 기능 상세 ⑤ — AI 종합 진단 + PREMIUM PDF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18295" y="431800"/>
            <a:ext cx="2463800" cy="279400"/>
          </a:xfrm>
          <a:prstGeom prst="roundRect">
            <a:avLst>
              <a:gd name="adj" fmla="val 18000"/>
            </a:avLst>
          </a:prstGeom>
          <a:solidFill>
            <a:srgbClr val="1B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18295" y="431800"/>
            <a:ext cx="24638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latin typeface="Pretendard Variable"/>
              </a:rPr>
              <a:t>기능 상세 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00100"/>
            <a:ext cx="5613400" cy="76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>
                <a:solidFill>
                  <a:srgbClr val="0B1A33"/>
                </a:solidFill>
                <a:latin typeface="Pretendard Variable"/>
              </a:rPr>
              <a:t>가게 전체를 종합 진단하고, </a:t>
            </a:r>
            <a:r>
              <a:rPr sz="2600" b="1">
                <a:solidFill>
                  <a:srgbClr val="0F4C92"/>
                </a:solidFill>
                <a:latin typeface="Pretendard Variable"/>
              </a:rPr>
              <a:t>"이번 주 1가지"</a:t>
            </a:r>
            <a:r>
              <a:rPr sz="2600" b="1">
                <a:solidFill>
                  <a:srgbClr val="0B1A33"/>
                </a:solidFill>
                <a:latin typeface="Pretendard Variable"/>
              </a:rPr>
              <a:t>를 정해줍니다. PDF 진단서도.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778000"/>
            <a:ext cx="56134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50" b="0">
                <a:solidFill>
                  <a:srgbClr val="4A5878"/>
                </a:solidFill>
                <a:latin typeface="Pretendard Variable"/>
              </a:rPr>
              <a:t>여러 데이터를 결합한 종합 리포트 — 추정치는 모두 amber "AI 추정" 라벨.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9600" y="2273300"/>
            <a:ext cx="2711450" cy="201929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600" y="2362199"/>
            <a:ext cx="38100" cy="18415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2800" y="2374899"/>
            <a:ext cx="2343150" cy="26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B1A33"/>
                </a:solidFill>
                <a:latin typeface="Pretendard Variable"/>
              </a:rPr>
              <a:t>무엇을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2800" y="2654300"/>
            <a:ext cx="2343150" cy="153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4A5878"/>
                </a:solidFill>
                <a:latin typeface="Pretendard Variable"/>
              </a:rPr>
              <a:t>집중분석의 "AI 종합 진단" — 위험·입지·경쟁·마케팅을 한 번에 요약 + 이번 주 우선순위 1가지. PREMIUM 은 PDF 진단서 다운로드.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11550" y="2273300"/>
            <a:ext cx="2711450" cy="201929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11550" y="2362199"/>
            <a:ext cx="38100" cy="1841500"/>
          </a:xfrm>
          <a:prstGeom prst="rect">
            <a:avLst/>
          </a:prstGeom>
          <a:solidFill>
            <a:srgbClr val="1E6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14750" y="2374899"/>
            <a:ext cx="2343150" cy="26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B1A33"/>
                </a:solidFill>
                <a:latin typeface="Pretendard Variable"/>
              </a:rPr>
              <a:t>어떤 서울 데이터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14750" y="2654300"/>
            <a:ext cx="2343150" cy="153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4A5878"/>
                </a:solidFill>
                <a:latin typeface="Pretendard Variable"/>
              </a:rPr>
              <a:t>위 기능들의 결과(위험 점수·5차원·경쟁 비교·매출 추이)를 결합. 추가 호출 없이 캐시된 분기 데이터 재사용.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9600" y="4445000"/>
            <a:ext cx="2711450" cy="201929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9600" y="4533900"/>
            <a:ext cx="38100" cy="1841500"/>
          </a:xfrm>
          <a:prstGeom prst="rect">
            <a:avLst/>
          </a:prstGeom>
          <a:solidFill>
            <a:srgbClr val="0F4C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2800" y="4546600"/>
            <a:ext cx="2343150" cy="26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B1A33"/>
                </a:solidFill>
                <a:latin typeface="Pretendard Variable"/>
              </a:rPr>
              <a:t>어떤 AI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800" y="4826000"/>
            <a:ext cx="2343150" cy="153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4A5878"/>
                </a:solidFill>
                <a:latin typeface="Pretendard Variable"/>
              </a:rPr>
              <a:t>GPT-4o (deep-report 프롬프트). 업종 분기 + 사장님 화법. "이번 주 1가지"로 우선순위를 좁힘. 추정 매출·효과는 amber "AI 추정" 라벨 의무.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11550" y="4445000"/>
            <a:ext cx="2711450" cy="201929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511550" y="4533900"/>
            <a:ext cx="38100" cy="1841500"/>
          </a:xfrm>
          <a:prstGeom prst="rect">
            <a:avLst/>
          </a:prstGeom>
          <a:solidFill>
            <a:srgbClr val="1B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714750" y="4546600"/>
            <a:ext cx="2343150" cy="26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B1A33"/>
                </a:solidFill>
                <a:latin typeface="Pretendard Variable"/>
              </a:rPr>
              <a:t>동작 흐름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14750" y="4826000"/>
            <a:ext cx="2343150" cy="153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4A5878"/>
                </a:solidFill>
                <a:latin typeface="Pretendard Variable"/>
              </a:rPr>
              <a:t>집중분석 탭 → AI 종합 진단 카드 → 이번 주 1가지 → PREMIUM REPORT → report_generator 가 PDF 렌더 → 다운로드/공유(CSV·JSON 내보내기도).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23248" y="1860550"/>
            <a:ext cx="1729167" cy="3644899"/>
          </a:xfrm>
          <a:prstGeom prst="roundRect">
            <a:avLst>
              <a:gd name="adj" fmla="val 7000"/>
            </a:avLst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KakaoTalk_Photo_2026-05-11-16-37-00 0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7698" y="1904999"/>
            <a:ext cx="1640267" cy="3556000"/>
          </a:xfrm>
          <a:prstGeom prst="rect">
            <a:avLst/>
          </a:prstGeom>
        </p:spPr>
      </p:pic>
      <p:sp>
        <p:nvSpPr>
          <p:cNvPr id="26" name="Rounded Rectangle 25"/>
          <p:cNvSpPr/>
          <p:nvPr/>
        </p:nvSpPr>
        <p:spPr>
          <a:xfrm>
            <a:off x="8165116" y="1860550"/>
            <a:ext cx="1729167" cy="3644899"/>
          </a:xfrm>
          <a:prstGeom prst="roundRect">
            <a:avLst>
              <a:gd name="adj" fmla="val 7000"/>
            </a:avLst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KakaoTalk_Photo_2026-05-11-16-36-59 0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09566" y="1904999"/>
            <a:ext cx="1640267" cy="3556000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9906983" y="1860550"/>
            <a:ext cx="1729167" cy="3644899"/>
          </a:xfrm>
          <a:prstGeom prst="roundRect">
            <a:avLst>
              <a:gd name="adj" fmla="val 7000"/>
            </a:avLst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KakaoTalk_Photo_2026-05-11-19-43-37 00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51433" y="1904999"/>
            <a:ext cx="1640267" cy="35560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477000" y="6248400"/>
            <a:ext cx="51054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</a:pPr>
            <a:r>
              <a:rPr sz="1100" b="0">
                <a:solidFill>
                  <a:srgbClr val="8A95AE"/>
                </a:solidFill>
                <a:latin typeface="Pretendard Variable"/>
              </a:rPr>
              <a:t>집중분석 — AI 종합 진단·이번 주 1가지(좌) · 홈 — PREMIUM 진단서 진입(중) · 다운로드된 PDF 진단서 — 67점·등급 C·카테고리별 평가표(우)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09600" y="6464299"/>
            <a:ext cx="10972800" cy="0"/>
          </a:xfrm>
          <a:prstGeom prst="line">
            <a:avLst/>
          </a:prstGeom>
          <a:ln w="12700">
            <a:solidFill>
              <a:srgbClr val="DD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09600" y="6540500"/>
            <a:ext cx="8254999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8A95AE"/>
                </a:solidFill>
                <a:latin typeface="Pretendard Variable"/>
              </a:rPr>
              <a:t>insights.py · report_generator.py — PDF 생성 / 추정치 amber 라벨 일관 적용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42399" y="6540500"/>
            <a:ext cx="254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8A95AE"/>
                </a:solidFill>
                <a:latin typeface="Pretendard Variable"/>
              </a:rPr>
              <a:t>팀 SSGI  ·  12 / 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457200"/>
            <a:ext cx="6349999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8A95AE"/>
                </a:solidFill>
                <a:latin typeface="Pretendard Variable"/>
              </a:rPr>
              <a:t>10 · 기능 상세 ⑥ — 마케팅 진단: 채널·카피·객단가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18295" y="431800"/>
            <a:ext cx="2463800" cy="279400"/>
          </a:xfrm>
          <a:prstGeom prst="roundRect">
            <a:avLst>
              <a:gd name="adj" fmla="val 18000"/>
            </a:avLst>
          </a:prstGeom>
          <a:solidFill>
            <a:srgbClr val="1B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18295" y="431800"/>
            <a:ext cx="24638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latin typeface="Pretendard Variable"/>
              </a:rPr>
              <a:t>기능 상세 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00100"/>
            <a:ext cx="5613400" cy="76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>
                <a:solidFill>
                  <a:srgbClr val="0B1A33"/>
                </a:solidFill>
                <a:latin typeface="Pretendard Variable"/>
              </a:rPr>
              <a:t>예산 0원이면 0원대로, 5만원이면 5만원대로 — </a:t>
            </a:r>
            <a:r>
              <a:rPr sz="2600" b="1">
                <a:solidFill>
                  <a:srgbClr val="0F4C92"/>
                </a:solidFill>
                <a:latin typeface="Pretendard Variable"/>
              </a:rPr>
              <a:t>시나리오별로</a:t>
            </a:r>
            <a:r>
              <a:rPr sz="2600" b="1">
                <a:solidFill>
                  <a:srgbClr val="0B1A33"/>
                </a:solidFill>
                <a:latin typeface="Pretendard Variable"/>
              </a:rPr>
              <a:t> 알려줍니다.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778000"/>
            <a:ext cx="56134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50" b="0">
                <a:solidFill>
                  <a:srgbClr val="4A5878"/>
                </a:solidFill>
                <a:latin typeface="Pretendard Variable"/>
              </a:rPr>
              <a:t>유동인구 데이터로 "언제·누구에게"를 정하고, 카피 3종(신뢰·친근·긴급)까지 써줍니다.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9600" y="2273300"/>
            <a:ext cx="2711450" cy="201929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600" y="2362199"/>
            <a:ext cx="38100" cy="18415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2800" y="2374899"/>
            <a:ext cx="2343150" cy="26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B1A33"/>
                </a:solidFill>
                <a:latin typeface="Pretendard Variable"/>
              </a:rPr>
              <a:t>무엇을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2800" y="2654300"/>
            <a:ext cx="2343150" cy="153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4A5878"/>
                </a:solidFill>
                <a:latin typeface="Pretendard Variable"/>
              </a:rPr>
              <a:t>예산별 시나리오(0원/5만원) · 채널 우선순위 + ROI(가설) · 카피 3종(신뢰·친근·긴급형: 단골 SMS·매장 POP·SNS·배달앱) · 객단가 끌어올리기.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11550" y="2273300"/>
            <a:ext cx="2711450" cy="201929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11550" y="2362199"/>
            <a:ext cx="38100" cy="1841500"/>
          </a:xfrm>
          <a:prstGeom prst="rect">
            <a:avLst/>
          </a:prstGeom>
          <a:solidFill>
            <a:srgbClr val="1E6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14750" y="2374899"/>
            <a:ext cx="2343150" cy="26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B1A33"/>
                </a:solidFill>
                <a:latin typeface="Pretendard Variable"/>
              </a:rPr>
              <a:t>어떤 서울 데이터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14750" y="2654300"/>
            <a:ext cx="2343150" cy="153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4A5878"/>
                </a:solidFill>
                <a:latin typeface="Pretendard Variable"/>
              </a:rPr>
              <a:t>상권 유동인구(VwsmTrdarFlpopQq — 시간대·요일·성·연령 → 피크 타임/타깃) · 우리마을가게 추정매출(객단가 비교).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9600" y="4445000"/>
            <a:ext cx="2711450" cy="201929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9600" y="4533900"/>
            <a:ext cx="38100" cy="1841500"/>
          </a:xfrm>
          <a:prstGeom prst="rect">
            <a:avLst/>
          </a:prstGeom>
          <a:solidFill>
            <a:srgbClr val="0F4C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2800" y="4546600"/>
            <a:ext cx="2343150" cy="26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B1A33"/>
                </a:solidFill>
                <a:latin typeface="Pretendard Variable"/>
              </a:rPr>
              <a:t>어떤 AI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800" y="4826000"/>
            <a:ext cx="2343150" cy="153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4A5878"/>
                </a:solidFill>
                <a:latin typeface="Pretendard Variable"/>
              </a:rPr>
              <a:t>GPT-4o (marketing-strategy 프롬프트). 업종별 채널 매트릭스(배민·인스타·네이버·카카오 단골) — 업종 안 맞는 헛조언 차단. ROI 수치는 "가설" 라벨, 결제 데이터 아님.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11550" y="4445000"/>
            <a:ext cx="2711450" cy="201929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511550" y="4533900"/>
            <a:ext cx="38100" cy="1841500"/>
          </a:xfrm>
          <a:prstGeom prst="rect">
            <a:avLst/>
          </a:prstGeom>
          <a:solidFill>
            <a:srgbClr val="1B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714750" y="4546600"/>
            <a:ext cx="2343150" cy="26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B1A33"/>
                </a:solidFill>
                <a:latin typeface="Pretendard Variable"/>
              </a:rPr>
              <a:t>동작 흐름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14750" y="4826000"/>
            <a:ext cx="2343150" cy="153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4A5878"/>
                </a:solidFill>
                <a:latin typeface="Pretendard Variable"/>
              </a:rPr>
              <a:t>인사이트 마케팅 탭 → 마케팅 진단 → 유동인구 피크 분석 → 채널 우선순위 + 카피 생성 → "오늘 당장" 1가지로 연결.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23248" y="1860550"/>
            <a:ext cx="1729167" cy="3644899"/>
          </a:xfrm>
          <a:prstGeom prst="roundRect">
            <a:avLst>
              <a:gd name="adj" fmla="val 7000"/>
            </a:avLst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KakaoTalk_Photo_2026-05-11-16-37-00 0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7698" y="1904999"/>
            <a:ext cx="1640267" cy="3556000"/>
          </a:xfrm>
          <a:prstGeom prst="rect">
            <a:avLst/>
          </a:prstGeom>
        </p:spPr>
      </p:pic>
      <p:sp>
        <p:nvSpPr>
          <p:cNvPr id="26" name="Rounded Rectangle 25"/>
          <p:cNvSpPr/>
          <p:nvPr/>
        </p:nvSpPr>
        <p:spPr>
          <a:xfrm>
            <a:off x="8165116" y="1860550"/>
            <a:ext cx="1729167" cy="3644899"/>
          </a:xfrm>
          <a:prstGeom prst="roundRect">
            <a:avLst>
              <a:gd name="adj" fmla="val 7000"/>
            </a:avLst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KakaoTalk_Photo_2026-05-11-16-37-00 0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09566" y="1904999"/>
            <a:ext cx="1640267" cy="3556000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9906983" y="1860550"/>
            <a:ext cx="1729167" cy="3644899"/>
          </a:xfrm>
          <a:prstGeom prst="roundRect">
            <a:avLst>
              <a:gd name="adj" fmla="val 7000"/>
            </a:avLst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KakaoTalk_Photo_2026-05-11-16-37-00 01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51433" y="1904999"/>
            <a:ext cx="1640267" cy="35560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477000" y="6248400"/>
            <a:ext cx="51054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</a:pPr>
            <a:r>
              <a:rPr sz="1100" b="0">
                <a:solidFill>
                  <a:srgbClr val="8A95AE"/>
                </a:solidFill>
                <a:latin typeface="Pretendard Variable"/>
              </a:rPr>
              <a:t>예산별 시나리오 0원/5만원(좌) · 채널 우선순위 SMS ROI 150%·전단지 100%(중) · 카피 3종 신뢰·친근·긴급형(우)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09600" y="6464299"/>
            <a:ext cx="10972800" cy="0"/>
          </a:xfrm>
          <a:prstGeom prst="line">
            <a:avLst/>
          </a:prstGeom>
          <a:ln w="12700">
            <a:solidFill>
              <a:srgbClr val="DD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09600" y="6540500"/>
            <a:ext cx="8254999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8A95AE"/>
                </a:solidFill>
                <a:latin typeface="Pretendard Variable"/>
              </a:rPr>
              <a:t>insights.py(marketing-strategy) · marketing_audit.py / ROI 는 가설 라벨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42399" y="6540500"/>
            <a:ext cx="254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8A95AE"/>
                </a:solidFill>
                <a:latin typeface="Pretendard Variable"/>
              </a:rPr>
              <a:t>팀 SSGI  ·  13 / 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457200"/>
            <a:ext cx="6349999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8A95AE"/>
                </a:solidFill>
                <a:latin typeface="Pretendard Variable"/>
              </a:rPr>
              <a:t>11 · 기능 상세 ⑦ — 메뉴 전략: 갭·시즌·차별화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18295" y="431800"/>
            <a:ext cx="2463800" cy="279400"/>
          </a:xfrm>
          <a:prstGeom prst="roundRect">
            <a:avLst>
              <a:gd name="adj" fmla="val 18000"/>
            </a:avLst>
          </a:prstGeom>
          <a:solidFill>
            <a:srgbClr val="1B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18295" y="431800"/>
            <a:ext cx="24638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latin typeface="Pretendard Variable"/>
              </a:rPr>
              <a:t>기능 상세 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00100"/>
            <a:ext cx="5613400" cy="76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>
                <a:solidFill>
                  <a:srgbClr val="0B1A33"/>
                </a:solidFill>
                <a:latin typeface="Pretendard Variable"/>
              </a:rPr>
              <a:t>옆 가게엔 있고 우리 가게엔 없는 메뉴 — </a:t>
            </a:r>
            <a:r>
              <a:rPr sz="2600" b="1">
                <a:solidFill>
                  <a:srgbClr val="0F4C92"/>
                </a:solidFill>
                <a:latin typeface="Pretendard Variable"/>
              </a:rPr>
              <a:t>4주 캘린더</a:t>
            </a:r>
            <a:r>
              <a:rPr sz="2600" b="1">
                <a:solidFill>
                  <a:srgbClr val="0B1A33"/>
                </a:solidFill>
                <a:latin typeface="Pretendard Variable"/>
              </a:rPr>
              <a:t>로 만들어줍니다.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778000"/>
            <a:ext cx="56134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50" b="0">
                <a:solidFill>
                  <a:srgbClr val="4A5878"/>
                </a:solidFill>
                <a:latin typeface="Pretendard Variable"/>
              </a:rPr>
              <a:t>상권 업종 구성과 서울 문화행사·계절을 엮어 "이번 달 뭘 추가할지"를 제시.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9600" y="2273300"/>
            <a:ext cx="2711450" cy="201929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600" y="2362199"/>
            <a:ext cx="38100" cy="18415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2800" y="2374899"/>
            <a:ext cx="2343150" cy="26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B1A33"/>
                </a:solidFill>
                <a:latin typeface="Pretendard Variable"/>
              </a:rPr>
              <a:t>무엇을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2800" y="2654300"/>
            <a:ext cx="2343150" cy="153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4A5878"/>
                </a:solidFill>
                <a:latin typeface="Pretendard Variable"/>
              </a:rPr>
              <a:t>메뉴 갭 분석(상권엔 있는데 우리 가게엔 없는 카테고리) · 시즌 캘린더 4주(주차별 테마·연계 채널) · 차별화 한 수(경쟁사가 안 하는 1가지).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11550" y="2273300"/>
            <a:ext cx="2711450" cy="201929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11550" y="2362199"/>
            <a:ext cx="38100" cy="1841500"/>
          </a:xfrm>
          <a:prstGeom prst="rect">
            <a:avLst/>
          </a:prstGeom>
          <a:solidFill>
            <a:srgbClr val="1E6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14750" y="2374899"/>
            <a:ext cx="2343150" cy="26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B1A33"/>
                </a:solidFill>
                <a:latin typeface="Pretendard Variable"/>
              </a:rPr>
              <a:t>어떤 서울 데이터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14750" y="2654300"/>
            <a:ext cx="2343150" cy="153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4A5878"/>
                </a:solidFill>
                <a:latin typeface="Pretendard Variable"/>
              </a:rPr>
              <a:t>상권 업종 구성(다양성지수 — 우리마을가게 상권분석 기반) · 서울 문화행사(culturalEventInfo) · 계절·학사 일정.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9600" y="4445000"/>
            <a:ext cx="2711450" cy="201929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9600" y="4533900"/>
            <a:ext cx="38100" cy="1841500"/>
          </a:xfrm>
          <a:prstGeom prst="rect">
            <a:avLst/>
          </a:prstGeom>
          <a:solidFill>
            <a:srgbClr val="0F4C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2800" y="4546600"/>
            <a:ext cx="2343150" cy="26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B1A33"/>
                </a:solidFill>
                <a:latin typeface="Pretendard Variable"/>
              </a:rPr>
              <a:t>어떤 AI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800" y="4826000"/>
            <a:ext cx="2343150" cy="153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4A5878"/>
                </a:solidFill>
                <a:latin typeface="Pretendard Variable"/>
              </a:rPr>
              <a:t>GPT-4o (menu-strategy 프롬프트). 업종 미등록이면 "업종 등록 필요" 안내로 정확도 보호. 도입 비용·난이도도 함께 표기해 사장님이 고를 수 있게.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11550" y="4445000"/>
            <a:ext cx="2711450" cy="201929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511550" y="4533900"/>
            <a:ext cx="38100" cy="1841500"/>
          </a:xfrm>
          <a:prstGeom prst="rect">
            <a:avLst/>
          </a:prstGeom>
          <a:solidFill>
            <a:srgbClr val="1B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714750" y="4546600"/>
            <a:ext cx="2343150" cy="26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B1A33"/>
                </a:solidFill>
                <a:latin typeface="Pretendard Variable"/>
              </a:rPr>
              <a:t>동작 흐름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14750" y="4826000"/>
            <a:ext cx="2343150" cy="153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4A5878"/>
                </a:solidFill>
                <a:latin typeface="Pretendard Variable"/>
              </a:rPr>
              <a:t>인사이트 메뉴 탭 → 메뉴 전략 → 갭/시즌/차별화 3 섹션 → 각 항목 "도입 비용·기간" → 단골 SMS·POP·SNS·배달앱 연계 제안.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23248" y="1860550"/>
            <a:ext cx="1729167" cy="3644899"/>
          </a:xfrm>
          <a:prstGeom prst="roundRect">
            <a:avLst>
              <a:gd name="adj" fmla="val 7000"/>
            </a:avLst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KakaoTalk_Photo_2026-05-11-16-37-01 0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7698" y="1904999"/>
            <a:ext cx="1640267" cy="3556000"/>
          </a:xfrm>
          <a:prstGeom prst="rect">
            <a:avLst/>
          </a:prstGeom>
        </p:spPr>
      </p:pic>
      <p:sp>
        <p:nvSpPr>
          <p:cNvPr id="26" name="Rounded Rectangle 25"/>
          <p:cNvSpPr/>
          <p:nvPr/>
        </p:nvSpPr>
        <p:spPr>
          <a:xfrm>
            <a:off x="8165116" y="1860550"/>
            <a:ext cx="1729167" cy="3644899"/>
          </a:xfrm>
          <a:prstGeom prst="roundRect">
            <a:avLst>
              <a:gd name="adj" fmla="val 7000"/>
            </a:avLst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KakaoTalk_Photo_2026-05-11-16-37-01 0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09566" y="1904999"/>
            <a:ext cx="1640267" cy="3556000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9906983" y="1860550"/>
            <a:ext cx="1729167" cy="3644899"/>
          </a:xfrm>
          <a:prstGeom prst="roundRect">
            <a:avLst>
              <a:gd name="adj" fmla="val 7000"/>
            </a:avLst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KakaoTalk_Photo_2026-05-11-16-37-01 01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51433" y="1904999"/>
            <a:ext cx="1640267" cy="35560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477000" y="6248400"/>
            <a:ext cx="51054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</a:pPr>
            <a:r>
              <a:rPr sz="1100" b="0">
                <a:solidFill>
                  <a:srgbClr val="8A95AE"/>
                </a:solidFill>
                <a:latin typeface="Pretendard Variable"/>
              </a:rPr>
              <a:t>갭 분석 — 음악·코딩·창의융합 교육(좌) · 시즌 캘린더 4주 5/13~6/7(중) · 차별화 한 수 — 자녀 맞춤 상담(우)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09600" y="6464299"/>
            <a:ext cx="10972800" cy="0"/>
          </a:xfrm>
          <a:prstGeom prst="line">
            <a:avLst/>
          </a:prstGeom>
          <a:ln w="12700">
            <a:solidFill>
              <a:srgbClr val="DD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09600" y="6540500"/>
            <a:ext cx="8254999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8A95AE"/>
                </a:solidFill>
                <a:latin typeface="Pretendard Variable"/>
              </a:rPr>
              <a:t>insights.py(menu-strategy) / 업종 미등록 시 정확도 가드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42399" y="6540500"/>
            <a:ext cx="254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8A95AE"/>
                </a:solidFill>
                <a:latin typeface="Pretendard Variable"/>
              </a:rPr>
              <a:t>팀 SSGI  ·  14 / 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457200"/>
            <a:ext cx="6349999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8A95AE"/>
                </a:solidFill>
                <a:latin typeface="Pretendard Variable"/>
              </a:rPr>
              <a:t>12 · 기능 상세 ⑧ — 음성 질문 + 서울 문화행사 알림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18295" y="431800"/>
            <a:ext cx="2463800" cy="279400"/>
          </a:xfrm>
          <a:prstGeom prst="roundRect">
            <a:avLst>
              <a:gd name="adj" fmla="val 18000"/>
            </a:avLst>
          </a:prstGeom>
          <a:solidFill>
            <a:srgbClr val="1B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18295" y="431800"/>
            <a:ext cx="24638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latin typeface="Pretendard Variable"/>
              </a:rPr>
              <a:t>기능 상세 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00100"/>
            <a:ext cx="6629400" cy="76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>
                <a:solidFill>
                  <a:srgbClr val="0B1A33"/>
                </a:solidFill>
                <a:latin typeface="Pretendard Variable"/>
              </a:rPr>
              <a:t>마이크 한 번 누르고 "지원금 알려줘" — </a:t>
            </a:r>
            <a:r>
              <a:rPr sz="2600" b="1">
                <a:solidFill>
                  <a:srgbClr val="0F4C92"/>
                </a:solidFill>
                <a:latin typeface="Pretendard Variable"/>
              </a:rPr>
              <a:t>AI 가 답하고 그 화면으로</a:t>
            </a:r>
            <a:r>
              <a:rPr sz="2600" b="1">
                <a:solidFill>
                  <a:srgbClr val="0B1A33"/>
                </a:solidFill>
                <a:latin typeface="Pretendard Variable"/>
              </a:rPr>
              <a:t> 데려갑니다.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778000"/>
            <a:ext cx="66294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50" b="0">
                <a:solidFill>
                  <a:srgbClr val="4A5878"/>
                </a:solidFill>
                <a:latin typeface="Pretendard Variable"/>
              </a:rPr>
              <a:t>키보드가 불편한 사장님을 위한 입력. 그리고 동네 행사 = 손님 늘릴 기회로 알림.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9600" y="2273300"/>
            <a:ext cx="3219449" cy="201929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600" y="2362199"/>
            <a:ext cx="38100" cy="18415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2800" y="2374899"/>
            <a:ext cx="2851150" cy="26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B1A33"/>
                </a:solidFill>
                <a:latin typeface="Pretendard Variable"/>
              </a:rPr>
              <a:t>무엇을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2800" y="2654300"/>
            <a:ext cx="2851150" cy="153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4A5878"/>
                </a:solidFill>
                <a:latin typeface="Pretendard Variable"/>
              </a:rPr>
              <a:t>음성 질문: 플로팅 마이크 → 말하면 → AI 답변 + 의도에 맞는 화면 자동 이동. 문화행사 알림: 우리 자치구 행사를 "이날 손님 늘 수 있어요"로 변환.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19549" y="2273300"/>
            <a:ext cx="3219449" cy="201929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019549" y="2362199"/>
            <a:ext cx="38100" cy="1841500"/>
          </a:xfrm>
          <a:prstGeom prst="rect">
            <a:avLst/>
          </a:prstGeom>
          <a:solidFill>
            <a:srgbClr val="1E6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22750" y="2374899"/>
            <a:ext cx="2851150" cy="26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B1A33"/>
                </a:solidFill>
                <a:latin typeface="Pretendard Variable"/>
              </a:rPr>
              <a:t>어떤 서울 데이터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2750" y="2654300"/>
            <a:ext cx="2851150" cy="153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4A5878"/>
                </a:solidFill>
                <a:latin typeface="Pretendard Variable"/>
              </a:rPr>
              <a:t>서울 문화행사 정보(culturalEventInfo — 자치구 필터).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9600" y="4445000"/>
            <a:ext cx="3219449" cy="201929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9600" y="4533900"/>
            <a:ext cx="38100" cy="1841500"/>
          </a:xfrm>
          <a:prstGeom prst="rect">
            <a:avLst/>
          </a:prstGeom>
          <a:solidFill>
            <a:srgbClr val="0F4C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2800" y="4546600"/>
            <a:ext cx="2851150" cy="26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B1A33"/>
                </a:solidFill>
                <a:latin typeface="Pretendard Variable"/>
              </a:rPr>
              <a:t>어떤 AI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800" y="4826000"/>
            <a:ext cx="2851150" cy="153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4A5878"/>
                </a:solidFill>
                <a:latin typeface="Pretendard Variable"/>
              </a:rPr>
              <a:t>GPT-4o + 브라우저 Web Speech API(STT, 한국어). 발화 → 의도 분류(지원금·마케팅·경쟁·집중분석·이벤트·매출·홈) → 답변 + 해당 화면 라우팅. 답을 모르면 모른다고.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019549" y="4445000"/>
            <a:ext cx="3219449" cy="201929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019549" y="4533900"/>
            <a:ext cx="38100" cy="1841500"/>
          </a:xfrm>
          <a:prstGeom prst="rect">
            <a:avLst/>
          </a:prstGeom>
          <a:solidFill>
            <a:srgbClr val="1B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22750" y="4546600"/>
            <a:ext cx="2851150" cy="26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B1A33"/>
                </a:solidFill>
                <a:latin typeface="Pretendard Variable"/>
              </a:rPr>
              <a:t>동작 흐름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2750" y="4826000"/>
            <a:ext cx="2851150" cy="153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4A5878"/>
                </a:solidFill>
                <a:latin typeface="Pretendard Variable"/>
              </a:rPr>
              <a:t>대시보드 플로팅 마이크 → 음성 인식(종료 시 자동 전송) → POST /voice/query → 의도 분류 → 답변 카드 + 후속 질문 칩 + 화면 이동.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40570" y="1733550"/>
            <a:ext cx="1846329" cy="3898899"/>
          </a:xfrm>
          <a:prstGeom prst="roundRect">
            <a:avLst>
              <a:gd name="adj" fmla="val 7000"/>
            </a:avLst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KakaoTalk_Photo_2026-05-11-19-43-4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5020" y="1778000"/>
            <a:ext cx="1757429" cy="3809999"/>
          </a:xfrm>
          <a:prstGeom prst="rect">
            <a:avLst/>
          </a:prstGeom>
        </p:spPr>
      </p:pic>
      <p:sp>
        <p:nvSpPr>
          <p:cNvPr id="26" name="Rounded Rectangle 25"/>
          <p:cNvSpPr/>
          <p:nvPr/>
        </p:nvSpPr>
        <p:spPr>
          <a:xfrm>
            <a:off x="9588500" y="1733550"/>
            <a:ext cx="1846329" cy="3898899"/>
          </a:xfrm>
          <a:prstGeom prst="roundRect">
            <a:avLst>
              <a:gd name="adj" fmla="val 7000"/>
            </a:avLst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KakaoTalk_Photo_2026-05-11-16-36-59 0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32950" y="1778000"/>
            <a:ext cx="1757429" cy="3809999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7493000" y="6248400"/>
            <a:ext cx="40894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</a:pPr>
            <a:r>
              <a:rPr sz="1100" b="0">
                <a:solidFill>
                  <a:srgbClr val="8A95AE"/>
                </a:solidFill>
                <a:latin typeface="Pretendard Variable"/>
              </a:rPr>
              <a:t>홈 — AI 음성 질문 "마케팅" 발화 → 답 찾는 중(마이크 우하단 상주)(좌) · 홈 — 서울시 문화행사 카드 + PREMIUM 진단서(우)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09600" y="6464299"/>
            <a:ext cx="10972800" cy="0"/>
          </a:xfrm>
          <a:prstGeom prst="line">
            <a:avLst/>
          </a:prstGeom>
          <a:ln w="12700">
            <a:solidFill>
              <a:srgbClr val="DD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09600" y="6540500"/>
            <a:ext cx="8254999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8A95AE"/>
                </a:solidFill>
                <a:latin typeface="Pretendard Variable"/>
              </a:rPr>
              <a:t>voice.py — intent 분류·라우팅 / useSTT.ts — Web Speech API(Chrome·Edge)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42399" y="6540500"/>
            <a:ext cx="254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8A95AE"/>
                </a:solidFill>
                <a:latin typeface="Pretendard Variable"/>
              </a:rPr>
              <a:t>팀 SSGI  ·  15 / 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457200"/>
            <a:ext cx="6349999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8A95AE"/>
                </a:solidFill>
                <a:latin typeface="Pretendard Variable"/>
              </a:rPr>
              <a:t>13 · 기능 상세 ⑨ — 카카오페이 결제 + Pro 업그레이드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18295" y="431800"/>
            <a:ext cx="2463800" cy="279400"/>
          </a:xfrm>
          <a:prstGeom prst="roundRect">
            <a:avLst>
              <a:gd name="adj" fmla="val 18000"/>
            </a:avLst>
          </a:prstGeom>
          <a:solidFill>
            <a:srgbClr val="1B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18295" y="431800"/>
            <a:ext cx="24638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latin typeface="Pretendard Variable"/>
              </a:rPr>
              <a:t>기능 상세 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00100"/>
            <a:ext cx="5613400" cy="76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>
                <a:solidFill>
                  <a:srgbClr val="0B1A33"/>
                </a:solidFill>
                <a:latin typeface="Pretendard Variable"/>
              </a:rPr>
              <a:t>가치를 느끼면 </a:t>
            </a:r>
            <a:r>
              <a:rPr sz="2600" b="1">
                <a:solidFill>
                  <a:srgbClr val="0F4C92"/>
                </a:solidFill>
                <a:latin typeface="Pretendard Variable"/>
              </a:rPr>
              <a:t>월 9,900원 — 하루 330원</a:t>
            </a:r>
            <a:r>
              <a:rPr sz="2600" b="1">
                <a:solidFill>
                  <a:srgbClr val="0B1A33"/>
                </a:solidFill>
                <a:latin typeface="Pretendard Variable"/>
              </a:rPr>
              <a:t>으로 잡기. 카카오페이 결제.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778000"/>
            <a:ext cx="56134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50" b="0">
                <a:solidFill>
                  <a:srgbClr val="4A5878"/>
                </a:solidFill>
                <a:latin typeface="Pretendard Variable"/>
              </a:rPr>
              <a:t>결제 모듈은 연동 완료·테스트 환경. 정식 결제는 사업자 가맹 후 2026 Q3 — 지금도 테스트 결제로 전 흐름이 동작합니다.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9600" y="2273300"/>
            <a:ext cx="2711450" cy="201929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600" y="2362199"/>
            <a:ext cx="38100" cy="1841500"/>
          </a:xfrm>
          <a:prstGeom prst="rect">
            <a:avLst/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2800" y="2374899"/>
            <a:ext cx="2343150" cy="26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B1A33"/>
                </a:solidFill>
                <a:latin typeface="Pretendard Variable"/>
              </a:rPr>
              <a:t>무엇을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2800" y="2654300"/>
            <a:ext cx="2343150" cy="153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4A5878"/>
                </a:solidFill>
                <a:latin typeface="Pretendard Variable"/>
              </a:rPr>
              <a:t>Free 로 충분히 쓰다가, Pro 전용 기능(쿠폰 무제한·인사이트 4탭·AI 사업계획서 초안·PDF 내보내기)에서 페이월 → SSGI Pro 9,900원/월. "미신청 보조금 평균 240만원 → Pro 1년 12만원으로 회수" 손실 프레이밍.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11550" y="2273300"/>
            <a:ext cx="2711450" cy="201929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11550" y="2362199"/>
            <a:ext cx="38100" cy="1841500"/>
          </a:xfrm>
          <a:prstGeom prst="rect">
            <a:avLst/>
          </a:prstGeom>
          <a:solidFill>
            <a:srgbClr val="1E6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14750" y="2374899"/>
            <a:ext cx="2343150" cy="26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B1A33"/>
                </a:solidFill>
                <a:latin typeface="Pretendard Variable"/>
              </a:rPr>
              <a:t>어떤 서울 데이터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14750" y="2654300"/>
            <a:ext cx="2343150" cy="153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4A5878"/>
                </a:solidFill>
                <a:latin typeface="Pretendard Variable"/>
              </a:rPr>
              <a:t>결제 자체엔 공공데이터 미사용. 단, 페이월 카피의 "미신청 보조금 N건·평균 ○○만원"은 RAG 매칭 결과 + 지원사업 공고 데이터에서 산출.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9600" y="4445000"/>
            <a:ext cx="2711450" cy="201929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9600" y="4533900"/>
            <a:ext cx="38100" cy="1841500"/>
          </a:xfrm>
          <a:prstGeom prst="rect">
            <a:avLst/>
          </a:prstGeom>
          <a:solidFill>
            <a:srgbClr val="0F4C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2800" y="4546600"/>
            <a:ext cx="2343150" cy="26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B1A33"/>
                </a:solidFill>
                <a:latin typeface="Pretendard Variable"/>
              </a:rPr>
              <a:t>어떤 AI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800" y="4826000"/>
            <a:ext cx="2343150" cy="153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4A5878"/>
                </a:solidFill>
                <a:latin typeface="Pretendard Variable"/>
              </a:rPr>
              <a:t>GPT 미사용 — 결정론 결제 플로우. 카카오페이 단건결제 API(ready → 카카오페이 화면 리다이렉트 → approve). 결제 성공 시 DB 에 Pro 만료일(+1개월) 기록 → 페이월 자동 해제, 만료 시 자동 복귀.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11550" y="4445000"/>
            <a:ext cx="2711450" cy="201929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511550" y="4533900"/>
            <a:ext cx="38100" cy="1841500"/>
          </a:xfrm>
          <a:prstGeom prst="rect">
            <a:avLst/>
          </a:prstGeom>
          <a:solidFill>
            <a:srgbClr val="1B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714750" y="4546600"/>
            <a:ext cx="2343150" cy="26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B1A33"/>
                </a:solidFill>
                <a:latin typeface="Pretendard Variable"/>
              </a:rPr>
              <a:t>동작 흐름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14750" y="4826000"/>
            <a:ext cx="2343150" cy="153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4A5878"/>
                </a:solidFill>
                <a:latin typeface="Pretendard Variable"/>
              </a:rPr>
              <a:t>Pro 전용 기능 클릭(페이월) → /upgrade → "카카오페이로 결제(테스트)" → 카카오페이 화면 → 승인 → 결제 완료(만료일·테스트 안내) → "Pro 로 대시보드 가기".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23248" y="1860550"/>
            <a:ext cx="1729167" cy="3644899"/>
          </a:xfrm>
          <a:prstGeom prst="roundRect">
            <a:avLst>
              <a:gd name="adj" fmla="val 7000"/>
            </a:avLst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KakaoTalk_Photo_2026-05-11-19-43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7698" y="1904999"/>
            <a:ext cx="1640267" cy="3556000"/>
          </a:xfrm>
          <a:prstGeom prst="rect">
            <a:avLst/>
          </a:prstGeom>
        </p:spPr>
      </p:pic>
      <p:sp>
        <p:nvSpPr>
          <p:cNvPr id="26" name="Rounded Rectangle 25"/>
          <p:cNvSpPr/>
          <p:nvPr/>
        </p:nvSpPr>
        <p:spPr>
          <a:xfrm>
            <a:off x="8165116" y="1860550"/>
            <a:ext cx="1729167" cy="3644899"/>
          </a:xfrm>
          <a:prstGeom prst="roundRect">
            <a:avLst>
              <a:gd name="adj" fmla="val 7000"/>
            </a:avLst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KakaoTalk_Photo_2026-05-11-19-43-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09566" y="1904999"/>
            <a:ext cx="1640267" cy="3556000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9906983" y="1860550"/>
            <a:ext cx="1729167" cy="3644899"/>
          </a:xfrm>
          <a:prstGeom prst="roundRect">
            <a:avLst>
              <a:gd name="adj" fmla="val 7000"/>
            </a:avLst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KakaoTalk_Photo_2026-05-11-19-43-1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51433" y="1904999"/>
            <a:ext cx="1640267" cy="35560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477000" y="6248400"/>
            <a:ext cx="51054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</a:pPr>
            <a:r>
              <a:rPr sz="1100" b="0">
                <a:solidFill>
                  <a:srgbClr val="8A95AE"/>
                </a:solidFill>
                <a:latin typeface="Pretendard Variable"/>
              </a:rPr>
              <a:t>페이월 — 메뉴 전략 Pro 전용(좌) · SSGI Pro 업그레이드 — 혜택 5종·9,900원·테스트 안내(중) · 결제 완료 — 만료일 표시·실제 청구 없음(우)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09600" y="6464299"/>
            <a:ext cx="10972800" cy="0"/>
          </a:xfrm>
          <a:prstGeom prst="line">
            <a:avLst/>
          </a:prstGeom>
          <a:ln w="12700">
            <a:solidFill>
              <a:srgbClr val="DD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09600" y="6540500"/>
            <a:ext cx="8254999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8A95AE"/>
                </a:solidFill>
                <a:latin typeface="Pretendard Variable"/>
              </a:rPr>
              <a:t>kakao_pay_service.py · routers/payments.py — TC0ONETIME 테스트 cid / frontend/src/app/upgrade · 페이월 트리거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42399" y="6540500"/>
            <a:ext cx="254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8A95AE"/>
                </a:solidFill>
                <a:latin typeface="Pretendard Variable"/>
              </a:rPr>
              <a:t>팀 SSGI  ·  16 / 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457200"/>
            <a:ext cx="6349999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8A95AE"/>
                </a:solidFill>
                <a:latin typeface="Pretendard Variable"/>
              </a:rPr>
              <a:t>14 · 화면 흐름도 — 메인 → 세부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18295" y="431800"/>
            <a:ext cx="2463800" cy="279400"/>
          </a:xfrm>
          <a:prstGeom prst="roundRect">
            <a:avLst>
              <a:gd name="adj" fmla="val 18000"/>
            </a:avLst>
          </a:prstGeom>
          <a:solidFill>
            <a:srgbClr val="1B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18295" y="431800"/>
            <a:ext cx="24638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latin typeface="Pretendard Variable"/>
              </a:rPr>
              <a:t>화면 구동 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12800"/>
            <a:ext cx="10795000" cy="76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>
                <a:solidFill>
                  <a:srgbClr val="0B1A33"/>
                </a:solidFill>
                <a:latin typeface="Pretendard Variable"/>
              </a:rPr>
              <a:t>메인 4탭 → 인사이트 4탭 — </a:t>
            </a:r>
            <a:r>
              <a:rPr sz="2800" b="1">
                <a:solidFill>
                  <a:srgbClr val="0F4C92"/>
                </a:solidFill>
                <a:latin typeface="Pretendard Variable"/>
              </a:rPr>
              <a:t>3번 안에</a:t>
            </a:r>
            <a:r>
              <a:rPr sz="2800" b="1">
                <a:solidFill>
                  <a:srgbClr val="0B1A33"/>
                </a:solidFill>
                <a:latin typeface="Pretendard Variable"/>
              </a:rPr>
              <a:t> 답에 닿습니다.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447800"/>
            <a:ext cx="9398000" cy="380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4A5878"/>
                </a:solidFill>
                <a:latin typeface="Pretendard Variable"/>
              </a:rPr>
              <a:t>온보딩(가게 검색·등록) 후 하단 탭 4개. 인사이트 안에 다시 4개 탭.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1943100"/>
            <a:ext cx="9525000" cy="1904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B1A33"/>
                </a:solidFill>
                <a:latin typeface="Pretendard Variable"/>
              </a:rPr>
              <a:t>① 메인 — 하단 탭 4종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9600" y="2197100"/>
            <a:ext cx="2628900" cy="129539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9600" y="2286000"/>
            <a:ext cx="38100" cy="1117600"/>
          </a:xfrm>
          <a:prstGeom prst="rect">
            <a:avLst/>
          </a:prstGeom>
          <a:solidFill>
            <a:srgbClr val="1B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2800" y="2298700"/>
            <a:ext cx="2260599" cy="26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B1A33"/>
                </a:solidFill>
                <a:latin typeface="Pretendard Variable"/>
              </a:rPr>
              <a:t>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2800" y="2578100"/>
            <a:ext cx="2260599" cy="81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150" b="0">
                <a:solidFill>
                  <a:srgbClr val="4A5878"/>
                </a:solidFill>
                <a:latin typeface="Pretendard Variable"/>
              </a:rPr>
              <a:t>위험도 · 오늘의 액션 · 매칭 지원금 3건 · 문화행사 · PREMIUM PDF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78200" y="2197100"/>
            <a:ext cx="2628900" cy="129539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78200" y="2286000"/>
            <a:ext cx="38100" cy="1117600"/>
          </a:xfrm>
          <a:prstGeom prst="rect">
            <a:avLst/>
          </a:prstGeom>
          <a:solidFill>
            <a:srgbClr val="1E6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81400" y="2298700"/>
            <a:ext cx="2260599" cy="26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B1A33"/>
                </a:solidFill>
                <a:latin typeface="Pretendard Variable"/>
              </a:rPr>
              <a:t>지원사업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81400" y="2578100"/>
            <a:ext cx="2260599" cy="81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150" b="0">
                <a:solidFill>
                  <a:srgbClr val="4A5878"/>
                </a:solidFill>
                <a:latin typeface="Pretendard Variable"/>
              </a:rPr>
              <a:t>매칭 리스트 · 자격 사유 · 신청하기 · 초안 받기 (최대 ○○만원)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46799" y="2197100"/>
            <a:ext cx="2628900" cy="129539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46799" y="2286000"/>
            <a:ext cx="38100" cy="1117600"/>
          </a:xfrm>
          <a:prstGeom prst="rect">
            <a:avLst/>
          </a:prstGeom>
          <a:solidFill>
            <a:srgbClr val="0F4C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49999" y="2298700"/>
            <a:ext cx="2260599" cy="26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B1A33"/>
                </a:solidFill>
                <a:latin typeface="Pretendard Variable"/>
              </a:rPr>
              <a:t>인사이트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9999" y="2578100"/>
            <a:ext cx="2260599" cy="81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150" b="0">
                <a:solidFill>
                  <a:srgbClr val="4A5878"/>
                </a:solidFill>
                <a:latin typeface="Pretendard Variable"/>
              </a:rPr>
              <a:t>경쟁 · 집중분석 · 마케팅 · 메뉴 — 4개 세부 탭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15400" y="2197100"/>
            <a:ext cx="2628900" cy="129539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915400" y="2286000"/>
            <a:ext cx="38100" cy="1117600"/>
          </a:xfrm>
          <a:prstGeom prst="rect">
            <a:avLst/>
          </a:prstGeom>
          <a:solidFill>
            <a:srgbClr val="8B6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18600" y="2298700"/>
            <a:ext cx="2260599" cy="26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B1A33"/>
                </a:solidFill>
                <a:latin typeface="Pretendard Variable"/>
              </a:rPr>
              <a:t>쿠폰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18600" y="2578100"/>
            <a:ext cx="2260599" cy="81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150" b="0">
                <a:solidFill>
                  <a:srgbClr val="4A5878"/>
                </a:solidFill>
                <a:latin typeface="Pretendard Variable"/>
              </a:rPr>
              <a:t>쿠폰 발행 · 피크 타임 타게팅 · 단골 관리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9600" y="3708400"/>
            <a:ext cx="10795000" cy="1904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B1A33"/>
                </a:solidFill>
                <a:latin typeface="Pretendard Variable"/>
              </a:rPr>
              <a:t>② 인사이트 세부 — 탭 4종 (각 탭에서 AI 진단 + 실행 액션)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9600" y="3949700"/>
            <a:ext cx="2628900" cy="147319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09600" y="4038599"/>
            <a:ext cx="38100" cy="1295399"/>
          </a:xfrm>
          <a:prstGeom prst="rect">
            <a:avLst/>
          </a:prstGeom>
          <a:solidFill>
            <a:srgbClr val="0F4C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2800" y="4051300"/>
            <a:ext cx="2260599" cy="26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B1A33"/>
                </a:solidFill>
                <a:latin typeface="Pretendard Variable"/>
              </a:rPr>
              <a:t>경쟁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2800" y="4330700"/>
            <a:ext cx="2260599" cy="990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100" b="0">
                <a:solidFill>
                  <a:srgbClr val="4A5878"/>
                </a:solidFill>
                <a:latin typeface="Pretendard Variable"/>
              </a:rPr>
              <a:t>같은 동네·같은 업종 매출·점포수 비교 + 데이터 출처 명시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378200" y="3949700"/>
            <a:ext cx="2628900" cy="147319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378200" y="4038599"/>
            <a:ext cx="38100" cy="1295399"/>
          </a:xfrm>
          <a:prstGeom prst="rect">
            <a:avLst/>
          </a:prstGeom>
          <a:solidFill>
            <a:srgbClr val="0F4C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581400" y="4051300"/>
            <a:ext cx="2260599" cy="26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B1A33"/>
                </a:solidFill>
                <a:latin typeface="Pretendard Variable"/>
              </a:rPr>
              <a:t>집중분석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81400" y="4330700"/>
            <a:ext cx="2260599" cy="990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100" b="0">
                <a:solidFill>
                  <a:srgbClr val="4A5878"/>
                </a:solidFill>
                <a:latin typeface="Pretendard Variable"/>
              </a:rPr>
              <a:t>5차원 입지 + 강점/약점/우리 가게 자리 + AI 종합진단 + 이번 주 1가지 + PREMIUM PDF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46799" y="3949700"/>
            <a:ext cx="2628900" cy="147319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46799" y="4038599"/>
            <a:ext cx="38100" cy="1295399"/>
          </a:xfrm>
          <a:prstGeom prst="rect">
            <a:avLst/>
          </a:prstGeom>
          <a:solidFill>
            <a:srgbClr val="0F4C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49999" y="4051300"/>
            <a:ext cx="2260599" cy="26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B1A33"/>
                </a:solidFill>
                <a:latin typeface="Pretendard Variable"/>
              </a:rPr>
              <a:t>마케팅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49999" y="4330700"/>
            <a:ext cx="2260599" cy="990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100" b="0">
                <a:solidFill>
                  <a:srgbClr val="4A5878"/>
                </a:solidFill>
                <a:latin typeface="Pretendard Variable"/>
              </a:rPr>
              <a:t>예산 시나리오 0원/5만원 + 채널 우선순위·ROI + 카피 3종 + 객단가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915400" y="3949700"/>
            <a:ext cx="2628900" cy="147319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915400" y="4038599"/>
            <a:ext cx="38100" cy="1295399"/>
          </a:xfrm>
          <a:prstGeom prst="rect">
            <a:avLst/>
          </a:prstGeom>
          <a:solidFill>
            <a:srgbClr val="0F4C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18600" y="4051300"/>
            <a:ext cx="2260599" cy="26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B1A33"/>
                </a:solidFill>
                <a:latin typeface="Pretendard Variable"/>
              </a:rPr>
              <a:t>메뉴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18600" y="4330700"/>
            <a:ext cx="2260599" cy="990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100" b="0">
                <a:solidFill>
                  <a:srgbClr val="4A5878"/>
                </a:solidFill>
                <a:latin typeface="Pretendard Variable"/>
              </a:rPr>
              <a:t>갭 분석 + 시즌 캘린더 4주 + 차별화 한 수 + 도입 비용·기간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09600" y="5575300"/>
            <a:ext cx="10972800" cy="520700"/>
          </a:xfrm>
          <a:prstGeom prst="roundRect">
            <a:avLst>
              <a:gd name="adj" fmla="val 4000"/>
            </a:avLst>
          </a:prstGeom>
          <a:solidFill>
            <a:srgbClr val="E8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87400" y="5702300"/>
            <a:ext cx="10617200" cy="29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0F4C92"/>
                </a:solidFill>
                <a:latin typeface="Pretendard Variable"/>
              </a:rPr>
              <a:t>+ 대시보드 어디서나 음성 질문(플로팅 마이크) → 답변 + 해당 화면으로 자동 이동.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609600" y="6464299"/>
            <a:ext cx="10972800" cy="0"/>
          </a:xfrm>
          <a:prstGeom prst="line">
            <a:avLst/>
          </a:prstGeom>
          <a:ln w="12700">
            <a:solidFill>
              <a:srgbClr val="DD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609600" y="6540500"/>
            <a:ext cx="8254999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8A95AE"/>
                </a:solidFill>
                <a:latin typeface="Pretendard Variable"/>
              </a:rPr>
              <a:t>frontend/src/app — 메인 4 라우트 + insights 4탭 + onboarding / 라이브 시연 가능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042399" y="6540500"/>
            <a:ext cx="254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8A95AE"/>
                </a:solidFill>
                <a:latin typeface="Pretendard Variable"/>
              </a:rPr>
              <a:t>팀 SSGI  ·  17 / 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457200"/>
            <a:ext cx="6349999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8A95AE"/>
                </a:solidFill>
                <a:latin typeface="Pretendard Variable"/>
              </a:rPr>
              <a:t>14 · 화면 흐름도 — 실제 캡처 모음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18295" y="431800"/>
            <a:ext cx="2463800" cy="279400"/>
          </a:xfrm>
          <a:prstGeom prst="roundRect">
            <a:avLst>
              <a:gd name="adj" fmla="val 18000"/>
            </a:avLst>
          </a:prstGeom>
          <a:solidFill>
            <a:srgbClr val="1B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18295" y="431800"/>
            <a:ext cx="24638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latin typeface="Pretendard Variable"/>
              </a:rPr>
              <a:t>화면 구동 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12800"/>
            <a:ext cx="10795000" cy="76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>
                <a:solidFill>
                  <a:srgbClr val="0B1A33"/>
                </a:solidFill>
                <a:latin typeface="Pretendard Variable"/>
              </a:rPr>
              <a:t>앱은 </a:t>
            </a:r>
            <a:r>
              <a:rPr sz="2800" b="1">
                <a:solidFill>
                  <a:srgbClr val="0F4C92"/>
                </a:solidFill>
                <a:latin typeface="Pretendard Variable"/>
              </a:rPr>
              <a:t>"설명용 목업"이 아니라 지금 도는 화면</a:t>
            </a:r>
            <a:r>
              <a:rPr sz="2800" b="1">
                <a:solidFill>
                  <a:srgbClr val="0B1A33"/>
                </a:solidFill>
                <a:latin typeface="Pretendard Variable"/>
              </a:rPr>
              <a:t>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447800"/>
            <a:ext cx="9398000" cy="380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4A5878"/>
                </a:solidFill>
                <a:latin typeface="Pretendard Variable"/>
              </a:rPr>
              <a:t>ssgi-ai-coach.vercel.app — 시뮬 계정(의정부LC·금오동 학원)으로 실제 캡처. 모두 라이브.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17895" y="2241550"/>
            <a:ext cx="926608" cy="1904999"/>
          </a:xfrm>
          <a:prstGeom prst="roundRect">
            <a:avLst>
              <a:gd name="adj" fmla="val 7000"/>
            </a:avLst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KakaoTalk_Photo_2026-05-11-16-36-58 0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2345" y="2286000"/>
            <a:ext cx="837708" cy="181609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7699" y="4178299"/>
            <a:ext cx="2667000" cy="1904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8A95AE"/>
                </a:solidFill>
                <a:latin typeface="Pretendard Variable"/>
              </a:rPr>
              <a:t>홈 — 폐업 위험도 + 오늘의 액션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61095" y="2241550"/>
            <a:ext cx="926608" cy="1904999"/>
          </a:xfrm>
          <a:prstGeom prst="roundRect">
            <a:avLst>
              <a:gd name="adj" fmla="val 7000"/>
            </a:avLst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KakaoTalk_Photo_2026-05-11-16-36-59 0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05545" y="2286000"/>
            <a:ext cx="837708" cy="181609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90899" y="4178299"/>
            <a:ext cx="2667000" cy="1904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8A95AE"/>
                </a:solidFill>
                <a:latin typeface="Pretendard Variable"/>
              </a:rPr>
              <a:t>홈 — 매칭 지원사업 3건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004295" y="2241550"/>
            <a:ext cx="926608" cy="1904999"/>
          </a:xfrm>
          <a:prstGeom prst="roundRect">
            <a:avLst>
              <a:gd name="adj" fmla="val 7000"/>
            </a:avLst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KakaoTalk_Photo_2026-05-11-19-43-37 0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8745" y="2286000"/>
            <a:ext cx="837708" cy="181609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134100" y="4178299"/>
            <a:ext cx="2667000" cy="1904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8A95AE"/>
                </a:solidFill>
                <a:latin typeface="Pretendard Variable"/>
              </a:rPr>
              <a:t>지원사업 — AI 사업계획서 초안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747495" y="2241550"/>
            <a:ext cx="926608" cy="1904999"/>
          </a:xfrm>
          <a:prstGeom prst="roundRect">
            <a:avLst>
              <a:gd name="adj" fmla="val 7000"/>
            </a:avLst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KakaoTalk_Photo_2026-05-11-19-43-4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91945" y="2286000"/>
            <a:ext cx="837708" cy="1816099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877299" y="4178299"/>
            <a:ext cx="2667000" cy="1904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8A95AE"/>
                </a:solidFill>
                <a:latin typeface="Pretendard Variable"/>
              </a:rPr>
              <a:t>홈 — AI 음성 질문 처리 중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517895" y="4260850"/>
            <a:ext cx="926608" cy="1904999"/>
          </a:xfrm>
          <a:prstGeom prst="roundRect">
            <a:avLst>
              <a:gd name="adj" fmla="val 7000"/>
            </a:avLst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KakaoTalk_Photo_2026-05-11-16-37-00 00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62345" y="4305300"/>
            <a:ext cx="837708" cy="1816099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47699" y="6197600"/>
            <a:ext cx="2667000" cy="1904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8A95AE"/>
                </a:solidFill>
                <a:latin typeface="Pretendard Variable"/>
              </a:rPr>
              <a:t>인사이트&gt;집중분석 — 이번 주 1가지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61095" y="4260850"/>
            <a:ext cx="926608" cy="1904999"/>
          </a:xfrm>
          <a:prstGeom prst="roundRect">
            <a:avLst>
              <a:gd name="adj" fmla="val 7000"/>
            </a:avLst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KakaoTalk_Photo_2026-05-11-19-43-37 00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05545" y="4305300"/>
            <a:ext cx="837708" cy="1816099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3390899" y="6197600"/>
            <a:ext cx="2667000" cy="1904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8A95AE"/>
                </a:solidFill>
                <a:latin typeface="Pretendard Variable"/>
              </a:rPr>
              <a:t>PREMIUM PDF 진단서 — 67점·등급 C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004295" y="4260850"/>
            <a:ext cx="926608" cy="1904999"/>
          </a:xfrm>
          <a:prstGeom prst="roundRect">
            <a:avLst>
              <a:gd name="adj" fmla="val 7000"/>
            </a:avLst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KakaoTalk_Photo_2026-05-11-16-37-01 014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48745" y="4305300"/>
            <a:ext cx="837708" cy="1816099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134100" y="6197600"/>
            <a:ext cx="2667000" cy="1904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8A95AE"/>
                </a:solidFill>
                <a:latin typeface="Pretendard Variable"/>
              </a:rPr>
              <a:t>인사이트&gt;메뉴 — 메뉴 전략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747495" y="4260850"/>
            <a:ext cx="926608" cy="1904999"/>
          </a:xfrm>
          <a:prstGeom prst="roundRect">
            <a:avLst>
              <a:gd name="adj" fmla="val 7000"/>
            </a:avLst>
          </a:prstGeom>
          <a:solidFill>
            <a:srgbClr val="0B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KakaoTalk_Photo_2026-05-11-19-43-19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791945" y="4305300"/>
            <a:ext cx="837708" cy="1816099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8877299" y="6197600"/>
            <a:ext cx="2667000" cy="1904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8A95AE"/>
                </a:solidFill>
                <a:latin typeface="Pretendard Variable"/>
              </a:rPr>
              <a:t>결제 완료 — SSGI Pro(테스트)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09600" y="6464299"/>
            <a:ext cx="10972800" cy="0"/>
          </a:xfrm>
          <a:prstGeom prst="line">
            <a:avLst/>
          </a:prstGeom>
          <a:ln w="12700">
            <a:solidFill>
              <a:srgbClr val="DD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09600" y="6540500"/>
            <a:ext cx="8254999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8A95AE"/>
                </a:solidFill>
                <a:latin typeface="Pretendard Variable"/>
              </a:rPr>
              <a:t>전 화면 라이브 호출 — 백엔드 31개 API 라우트 / 시연 시 실물 데모 가능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42399" y="6540500"/>
            <a:ext cx="254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8A95AE"/>
                </a:solidFill>
                <a:latin typeface="Pretendard Variable"/>
              </a:rPr>
              <a:t>팀 SSGI  ·  18 / 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457200"/>
            <a:ext cx="6349999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8A95AE"/>
                </a:solidFill>
                <a:latin typeface="Pretendard Variable"/>
              </a:rPr>
              <a:t>15 · UI/UX 완성도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18295" y="431800"/>
            <a:ext cx="2463800" cy="279400"/>
          </a:xfrm>
          <a:prstGeom prst="roundRect">
            <a:avLst>
              <a:gd name="adj" fmla="val 18000"/>
            </a:avLst>
          </a:prstGeom>
          <a:solidFill>
            <a:srgbClr val="1B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18295" y="431800"/>
            <a:ext cx="24638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latin typeface="Pretendard Variable"/>
              </a:rPr>
              <a:t>UI/UX 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12800"/>
            <a:ext cx="10795000" cy="76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>
                <a:solidFill>
                  <a:srgbClr val="0B1A33"/>
                </a:solidFill>
                <a:latin typeface="Pretendard Variable"/>
              </a:rPr>
              <a:t>4050 사장님이 </a:t>
            </a:r>
            <a:r>
              <a:rPr sz="2800" b="1">
                <a:solidFill>
                  <a:srgbClr val="0F4C92"/>
                </a:solidFill>
                <a:latin typeface="Pretendard Variable"/>
              </a:rPr>
              <a:t>"한 번에 알아보게"</a:t>
            </a:r>
            <a:r>
              <a:rPr sz="2800" b="1">
                <a:solidFill>
                  <a:srgbClr val="0B1A33"/>
                </a:solidFill>
                <a:latin typeface="Pretendard Variable"/>
              </a:rPr>
              <a:t> — 큰 글씨·1색 강조·3번 클릭.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447800"/>
            <a:ext cx="9398000" cy="380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4A5878"/>
                </a:solidFill>
                <a:latin typeface="Pretendard Variable"/>
              </a:rPr>
              <a:t>PWA(설치형 웹) · 카카오 로그인 15초 · 손실 프레이밍 카피 일관.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9600" y="2108200"/>
            <a:ext cx="3568700" cy="18415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600" y="2197100"/>
            <a:ext cx="38100" cy="1663700"/>
          </a:xfrm>
          <a:prstGeom prst="rect">
            <a:avLst/>
          </a:prstGeom>
          <a:solidFill>
            <a:srgbClr val="1B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2800" y="2209800"/>
            <a:ext cx="3200400" cy="26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B1A33"/>
                </a:solidFill>
                <a:latin typeface="Pretendard Variable"/>
              </a:rPr>
              <a:t>시니어 친화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2800" y="2489199"/>
            <a:ext cx="3200400" cy="1358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4A5878"/>
                </a:solidFill>
                <a:latin typeface="Pretendard Variable"/>
              </a:rPr>
              <a:t>본문 큰 글씨 · 한 화면 한 메시지 · 카드형 레이아웃 · 강조색 1개(나머지 회색). 한자 0건 검수.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11650" y="2108200"/>
            <a:ext cx="3568700" cy="18415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11650" y="2197100"/>
            <a:ext cx="38100" cy="1663700"/>
          </a:xfrm>
          <a:prstGeom prst="rect">
            <a:avLst/>
          </a:prstGeom>
          <a:solidFill>
            <a:srgbClr val="1E6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14850" y="2209800"/>
            <a:ext cx="3200400" cy="26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B1A33"/>
                </a:solidFill>
                <a:latin typeface="Pretendard Variable"/>
              </a:rPr>
              <a:t>3-클릭 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4850" y="2489199"/>
            <a:ext cx="3200400" cy="1358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4A5878"/>
                </a:solidFill>
                <a:latin typeface="Pretendard Variable"/>
              </a:rPr>
              <a:t>어떤 답이든 3번 안에. 하단 탭 4 → 세부 탭 → 액션. 음성으로는 1번에 점프.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13700" y="2108200"/>
            <a:ext cx="3568700" cy="18415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13700" y="2197100"/>
            <a:ext cx="38100" cy="1663700"/>
          </a:xfrm>
          <a:prstGeom prst="rect">
            <a:avLst/>
          </a:prstGeom>
          <a:solidFill>
            <a:srgbClr val="0F4C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16900" y="2209800"/>
            <a:ext cx="3200400" cy="26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B1A33"/>
                </a:solidFill>
                <a:latin typeface="Pretendard Variable"/>
              </a:rPr>
              <a:t>마찰 최소화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16900" y="2489199"/>
            <a:ext cx="3200400" cy="1358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4A5878"/>
                </a:solidFill>
                <a:latin typeface="Pretendard Variable"/>
              </a:rPr>
              <a:t>카카오 OAuth 15초 가입 · 추가 앱 설치 없이 PWA · 알림은 카카오톡으로(도달률 최고).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9600" y="4102099"/>
            <a:ext cx="3568700" cy="18415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9600" y="4190999"/>
            <a:ext cx="38100" cy="1663700"/>
          </a:xfrm>
          <a:prstGeom prst="rect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2800" y="4203700"/>
            <a:ext cx="3200400" cy="26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B1A33"/>
                </a:solidFill>
                <a:latin typeface="Pretendard Variable"/>
              </a:rPr>
              <a:t>손실 프레이밍 UX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2800" y="4483100"/>
            <a:ext cx="3200400" cy="1358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4A5878"/>
                </a:solidFill>
                <a:latin typeface="Pretendard Variable"/>
              </a:rPr>
              <a:t>"추천"이 아니라 "놓치고 있어요". 마감 D-카운트 · 같은 동네 ○명(k≥10) · 금액 강조 — 행동을 끌어내는 화면 어법.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11650" y="4102099"/>
            <a:ext cx="3568700" cy="18415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11650" y="4190999"/>
            <a:ext cx="38100" cy="1663700"/>
          </a:xfrm>
          <a:prstGeom prst="rect">
            <a:avLst/>
          </a:prstGeom>
          <a:solidFill>
            <a:srgbClr val="8B6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14850" y="4203700"/>
            <a:ext cx="3200400" cy="26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B1A33"/>
                </a:solidFill>
                <a:latin typeface="Pretendard Variable"/>
              </a:rPr>
              <a:t>정직한 화면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14850" y="4483100"/>
            <a:ext cx="3200400" cy="1358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4A5878"/>
                </a:solidFill>
                <a:latin typeface="Pretendard Variable"/>
              </a:rPr>
              <a:t>추정치는 amber "AI 추정" 칩 · 데이터 출처는 화면에 노출 · 결제 0건은 그대로 표기. 과장 없는 UI.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13700" y="4102099"/>
            <a:ext cx="3568700" cy="18415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13700" y="4190999"/>
            <a:ext cx="38100" cy="16637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16900" y="4203700"/>
            <a:ext cx="3200400" cy="266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B1A33"/>
                </a:solidFill>
                <a:latin typeface="Pretendard Variable"/>
              </a:rPr>
              <a:t>반응형·접근성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16900" y="4483100"/>
            <a:ext cx="3200400" cy="1358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4A5878"/>
                </a:solidFill>
                <a:latin typeface="Pretendard Variable"/>
              </a:rPr>
              <a:t>모바일 우선 · 에러 메시지는 사장님 말투로("마이크 권한이 막혀 있어요") · 로딩/빈 화면 카피까지 설계.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09600" y="6464299"/>
            <a:ext cx="10972800" cy="0"/>
          </a:xfrm>
          <a:prstGeom prst="line">
            <a:avLst/>
          </a:prstGeom>
          <a:ln w="12700">
            <a:solidFill>
              <a:srgbClr val="DD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09600" y="6540500"/>
            <a:ext cx="8254999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8A95AE"/>
                </a:solidFill>
                <a:latin typeface="Pretendard Variable"/>
              </a:rPr>
              <a:t>Next.js 14 App Router · next-pwa · Tailwind / 라이브: ssgi-ai-coach.vercel.app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42399" y="6540500"/>
            <a:ext cx="254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8A95AE"/>
                </a:solidFill>
                <a:latin typeface="Pretendard Variable"/>
              </a:rPr>
              <a:t>팀 SSGI  ·  19 / 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457200"/>
            <a:ext cx="6349999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8A95AE"/>
                </a:solidFill>
                <a:latin typeface="Pretendard Variable"/>
              </a:rPr>
              <a:t>B · 백업 — 시장·로드맵·팀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812800"/>
            <a:ext cx="10795000" cy="76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>
                <a:solidFill>
                  <a:srgbClr val="0B1A33"/>
                </a:solidFill>
                <a:latin typeface="Pretendard Variable"/>
              </a:rPr>
              <a:t>참고 — 사업화 관점 (1차는 상세기획서 중심, 아래는 2차 발표 때 펼칩니다).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968500"/>
            <a:ext cx="3556000" cy="1904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B1A33"/>
                </a:solidFill>
                <a:latin typeface="Pretendard Variable"/>
              </a:rPr>
              <a:t>시장 (bottom-up)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9600" y="2222500"/>
            <a:ext cx="3556000" cy="25654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2800" y="2400300"/>
            <a:ext cx="3174999" cy="2235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4A5878"/>
                </a:solidFill>
                <a:latin typeface="Pretendard Variable"/>
              </a:rPr>
              <a:t>소상공인 약 730만 사업자
× 디지털 수용 약 30%
× 월 9,900원 × 12개월
= 약 2,604억 (SAM, 가설)
SOM: 서울·수도권 우선,
1년차 1,000 MAU 도전 목표.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45000" y="1968500"/>
            <a:ext cx="3556000" cy="1904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B1A33"/>
                </a:solidFill>
                <a:latin typeface="Pretendard Variable"/>
              </a:rPr>
              <a:t>1년 로드맵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45000" y="2222500"/>
            <a:ext cx="3556000" cy="25654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35499" y="2451100"/>
            <a:ext cx="469899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F4C92"/>
                </a:solidFill>
                <a:latin typeface="Pretendard Variable"/>
              </a:rPr>
              <a:t>Q1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68900" y="2463800"/>
            <a:ext cx="2692400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4A5878"/>
                </a:solidFill>
                <a:latin typeface="Pretendard Variable"/>
              </a:rPr>
              <a:t>결제 모듈 안정화 · 카카오페이 정기결제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5499" y="3035300"/>
            <a:ext cx="469899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F4C92"/>
                </a:solidFill>
                <a:latin typeface="Pretendard Variable"/>
              </a:rPr>
              <a:t>Q2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68900" y="3047999"/>
            <a:ext cx="2692400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4A5878"/>
                </a:solidFill>
                <a:latin typeface="Pretendard Variable"/>
              </a:rPr>
              <a:t>MAU 확대 · D7 리텐션 25%+ 도전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5499" y="3619499"/>
            <a:ext cx="469899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F4C92"/>
                </a:solidFill>
                <a:latin typeface="Pretendard Variable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68900" y="3632199"/>
            <a:ext cx="2692400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4A5878"/>
                </a:solidFill>
                <a:latin typeface="Pretendard Variable"/>
              </a:rPr>
              <a:t>지원사업 DB 자동 수집 · 업종 확장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5499" y="4203700"/>
            <a:ext cx="469899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F4C92"/>
                </a:solidFill>
                <a:latin typeface="Pretendard Variable"/>
              </a:rPr>
              <a:t>Q4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68900" y="4216400"/>
            <a:ext cx="2692400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4A5878"/>
                </a:solidFill>
                <a:latin typeface="Pretendard Variable"/>
              </a:rPr>
              <a:t>1,000 MAU · Pre-A 라운드 검토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80400" y="1968500"/>
            <a:ext cx="3301999" cy="1904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0B1A33"/>
                </a:solidFill>
                <a:latin typeface="Pretendard Variable"/>
              </a:rPr>
              <a:t>팀 SSGI (4인)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80400" y="2222500"/>
            <a:ext cx="3301999" cy="25654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83600" y="2400300"/>
            <a:ext cx="2921000" cy="2235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4A5878"/>
                </a:solidFill>
                <a:latin typeface="Pretendard Variable"/>
              </a:rPr>
              <a:t>PM·데이터 / 백엔드 / 프론트엔드 / AI — 4인 분업.
* 공고 규정상 개인정보(실명) 미기재.
  팀 구성·역할만 표기.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9600" y="4952999"/>
            <a:ext cx="10972800" cy="1117600"/>
          </a:xfrm>
          <a:prstGeom prst="roundRect">
            <a:avLst>
              <a:gd name="adj" fmla="val 4000"/>
            </a:avLst>
          </a:prstGeom>
          <a:solidFill>
            <a:srgbClr val="E8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2800" y="5080000"/>
            <a:ext cx="10566400" cy="88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b="1">
                <a:solidFill>
                  <a:srgbClr val="0B1A33"/>
                </a:solidFill>
                <a:latin typeface="Pretendard Variable"/>
              </a:rPr>
              <a:t>정직성 — 결제 0건 · 트랙션은 시뮬/베타 단계. LTV/CAC 등은 결제 데이터 확보 후 코호트로 갱신 예정.
VC·데모데이 재활용 시: Ask 슬라이드(모집 금액·사용처)와 트랙션 추이를 추가합니다.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09600" y="6464299"/>
            <a:ext cx="10972800" cy="0"/>
          </a:xfrm>
          <a:prstGeom prst="line">
            <a:avLst/>
          </a:prstGeom>
          <a:ln w="12700">
            <a:solidFill>
              <a:srgbClr val="DD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09600" y="6540500"/>
            <a:ext cx="8254999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8A95AE"/>
                </a:solidFill>
                <a:latin typeface="Pretendard Variable"/>
              </a:rPr>
              <a:t>TAM/SAM/SOM·로드맵·팀은 2차 발표(사업화 심사)에서 상세 전개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42399" y="6540500"/>
            <a:ext cx="254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8A95AE"/>
                </a:solidFill>
                <a:latin typeface="Pretendard Variable"/>
              </a:rPr>
              <a:t>팀 SSGI  ·  20 / 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